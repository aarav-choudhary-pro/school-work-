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88152" cy="66294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0" y="0"/>
            <a:ext cx="548640" cy="6629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AIR LIQUIDE  •  INDUSTRIAL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INDUSTRIAL ELECTRICAL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0" i="0">
                <a:solidFill>
                  <a:srgbClr val="CBD5E0"/>
                </a:solidFill>
                <a:latin typeface="Calibri"/>
              </a:defRPr>
            </a:pPr>
            <a:r>
              <a:t>&amp; INSTRUMENTATION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394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Cable Tray</a:t>
            </a:r>
            <a:br/>
            <a:r>
              <a:t>Routing &amp; Raceway</a:t>
            </a:r>
            <a:br/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0" i="0">
                <a:solidFill>
                  <a:srgbClr val="CBD5E0"/>
                </a:solidFill>
                <a:latin typeface="Calibri"/>
              </a:defRPr>
            </a:pPr>
            <a:r>
              <a:t>Design standards, fill factors, structural supports,</a:t>
            </a:r>
            <a:br/>
            <a:r>
              <a:t>clearances, covers, and underground trenches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A1931"/>
                </a:solidFill>
                <a:latin typeface="Calibri"/>
              </a:defRPr>
            </a:pPr>
            <a:r>
              <a:t>NEC 392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A1931"/>
                </a:solidFill>
                <a:latin typeface="Calibri"/>
              </a:defRPr>
            </a:pPr>
            <a:r>
              <a:t>NEMA VE 1 / VE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A1931"/>
                </a:solidFill>
                <a:latin typeface="Calibri"/>
              </a:defRPr>
            </a:pPr>
            <a:r>
              <a:t>IEEE 525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A1931"/>
                </a:solidFill>
                <a:latin typeface="Calibri"/>
              </a:defRPr>
            </a:pPr>
            <a:r>
              <a:t>IEC 61537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6B35"/>
                </a:solidFill>
                <a:latin typeface="Calibri"/>
              </a:defRPr>
            </a:pPr>
            <a:r>
              <a:t>Lead Trainer  •  Electrical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Hans Raj  •  Air Liquide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29 Oct 2026  •  Classroom Training  •  90 mins + Q&amp;A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51206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623560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A202C"/>
                </a:solidFill>
                <a:latin typeface="Calibri"/>
              </a:defRPr>
            </a:pPr>
            <a:r>
              <a:t>OCT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914400"/>
            <a:ext cx="4389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188720"/>
            <a:ext cx="4023360" cy="3200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200400"/>
            <a:ext cx="4023360" cy="3200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0" y="1600200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0" y="1856232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0" y="2112264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0" y="2368296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2624328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0" y="2880360"/>
            <a:ext cx="3657600" cy="73152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137160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1508760"/>
            <a:ext cx="347472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1645920"/>
            <a:ext cx="34747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1783080"/>
            <a:ext cx="347472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0" y="420624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279392"/>
            <a:ext cx="2651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LADDER TRAY  •  600mm  •  HDG STEEL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462272"/>
            <a:ext cx="2651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0" i="0">
                <a:solidFill>
                  <a:srgbClr val="CBD5E0"/>
                </a:solidFill>
                <a:latin typeface="Calibri"/>
              </a:defRPr>
            </a:pPr>
            <a:r>
              <a:t>Typical overhead rack  •  Power &amp; control segregation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60350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0" i="0">
                <a:solidFill>
                  <a:srgbClr val="FFFFFF"/>
                </a:solidFill>
                <a:latin typeface="Calibri"/>
              </a:defRPr>
            </a:pPr>
            <a:r>
              <a:t>Industrial best practices  •  Real plant case studies  •  100% editable deck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01 / 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TRAINING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Training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0" i="0">
                <a:solidFill>
                  <a:srgbClr val="CBD5E0"/>
                </a:solidFill>
                <a:latin typeface="Calibri"/>
              </a:defRPr>
            </a:pPr>
            <a:r>
              <a:t>Follow industry codes to avoid construction rework and thermal hazards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 CORE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514600" y="1691640"/>
            <a:ext cx="411480" cy="41148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6B35"/>
                </a:solidFill>
                <a:latin typeface="Calibri"/>
              </a:defRPr>
            </a:pPr>
            <a:r>
              <a:t>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Hardware &amp;</a:t>
            </a:r>
            <a:br/>
            <a: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4A5568"/>
                </a:solidFill>
                <a:latin typeface="Calibri"/>
              </a:defRPr>
            </a:pPr>
            <a:r>
              <a:t>Ladder, solid bottom,</a:t>
            </a:r>
            <a:br/>
            <a:r>
              <a:t>channel, and wire mesh</a:t>
            </a:r>
            <a:br/>
            <a:r>
              <a:t>configurations.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73152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FF6B35"/>
                </a:solidFill>
                <a:latin typeface="Calibri"/>
              </a:defRPr>
            </a:pPr>
            <a:r>
              <a:t>60 mins  •  Deep dive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1463040"/>
            <a:ext cx="265176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463040"/>
            <a:ext cx="265176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76472" y="1737360"/>
            <a:ext cx="502920" cy="50292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422392" y="1691640"/>
            <a:ext cx="411480" cy="41148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4365E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3774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NEC Fill</a:t>
            </a:r>
            <a:br/>
            <a:r>
              <a:t>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9718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4A5568"/>
                </a:solidFill>
                <a:latin typeface="Calibri"/>
              </a:defRPr>
            </a:pPr>
            <a:r>
              <a:t>Cross-section limits,</a:t>
            </a:r>
            <a:br/>
            <a:r>
              <a:t>derating, and future</a:t>
            </a:r>
            <a:br/>
            <a:r>
              <a:t>reserve space.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0752" y="4434840"/>
            <a:ext cx="731520" cy="18288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4498848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14365E"/>
                </a:solidFill>
                <a:latin typeface="Calibri"/>
              </a:defRPr>
            </a:pPr>
            <a:r>
              <a:t>60 mins  •  Deep dive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1463040"/>
            <a:ext cx="265176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64224" y="1463040"/>
            <a:ext cx="265176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84264" y="1737360"/>
            <a:ext cx="502920" cy="50292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8330184" y="1691640"/>
            <a:ext cx="411480" cy="41148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A8B5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23774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Segregation</a:t>
            </a:r>
            <a:br/>
            <a:r>
              <a:t>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29718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4A5568"/>
                </a:solidFill>
                <a:latin typeface="Calibri"/>
              </a:defRPr>
            </a:pPr>
            <a:r>
              <a:t>EMI separation between</a:t>
            </a:r>
            <a:br/>
            <a:r>
              <a:t>HV, LV, and instrument</a:t>
            </a:r>
            <a:br/>
            <a:r>
              <a:t>signals.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38544" y="4434840"/>
            <a:ext cx="731520" cy="18288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4498848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00A8B5"/>
                </a:solidFill>
                <a:latin typeface="Calibri"/>
              </a:defRPr>
            </a:pPr>
            <a:r>
              <a:t>60 mins  •  Deep dive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72016" y="1463040"/>
            <a:ext cx="265176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72016" y="1463040"/>
            <a:ext cx="2651760" cy="54864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92056" y="1737360"/>
            <a:ext cx="502920" cy="50292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11237976" y="1691640"/>
            <a:ext cx="411480" cy="41148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A1931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23774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NEMA Support</a:t>
            </a:r>
            <a:br/>
            <a:r>
              <a:t>Spans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297180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4A5568"/>
                </a:solidFill>
                <a:latin typeface="Calibri"/>
              </a:defRPr>
            </a:pPr>
            <a:r>
              <a:t>Structural load classes</a:t>
            </a:r>
            <a:br/>
            <a:r>
              <a:t>and fitting support</a:t>
            </a:r>
            <a:br/>
            <a:r>
              <a:t>rules.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46336" y="4434840"/>
            <a:ext cx="731520" cy="18288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46336" y="4498848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0A1931"/>
                </a:solidFill>
                <a:latin typeface="Calibri"/>
              </a:defRPr>
            </a:pPr>
            <a:r>
              <a:t>60 mins  •  Deep dive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03520"/>
            <a:ext cx="11091672" cy="640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303520"/>
            <a:ext cx="731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240" y="548640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4406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0" i="0">
                <a:solidFill>
                  <a:srgbClr val="1A202C"/>
                </a:solidFill>
                <a:latin typeface="Calibri"/>
              </a:defRPr>
            </a:pPr>
            <a:r>
              <a:t>Outcome: Participants will be able to size, route, and support cable trays per NEC 392 &amp; NEMA VE 1/VE 2 — ready for IFC drawings without rework.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02 /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med" advOnClk="1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COMPONENT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Tray Geometry &amp; Industrial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Specify hot-dip galvanized steel, marine-grade 6063 aluminum, or FRP for corrosive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0A1931"/>
                </a:solidFill>
                <a:latin typeface="Calibri"/>
              </a:defRPr>
            </a:pPr>
            <a:r>
              <a:t>HDG STEEL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0A1931"/>
                </a:solidFill>
                <a:latin typeface="Calibri"/>
              </a:defRPr>
            </a:pPr>
            <a:r>
              <a:t>ALUM 6063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4572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0A1931"/>
                </a:solidFill>
                <a:latin typeface="Calibri"/>
              </a:defRPr>
            </a:pPr>
            <a:r>
              <a:t>FRP / GRP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6002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1737360"/>
            <a:ext cx="1828800" cy="1828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1828800" cy="1828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1920240"/>
            <a:ext cx="73152" cy="36576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08760" y="1920240"/>
            <a:ext cx="73152" cy="36576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0240" y="1920240"/>
            <a:ext cx="73152" cy="36576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1920240"/>
            <a:ext cx="73152" cy="36576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LADDER TRAY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35808"/>
            <a:ext cx="54864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9-inch or 12-inch rung spacing.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576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6B35"/>
                </a:solidFill>
                <a:latin typeface="Calibri"/>
              </a:defRPr>
            </a:pPr>
            <a:r>
              <a:t>Application:</a:t>
            </a:r>
          </a:p>
          <a:p>
            <a:pPr algn="l">
              <a:lnSpc>
                <a:spcPts val="840"/>
              </a:lnSpc>
              <a:spcBef>
                <a:spcPts val="200"/>
              </a:spcBef>
              <a:spcAft>
                <a:spcPts val="200"/>
              </a:spcAft>
              <a:defRPr sz="700" b="0" i="0">
                <a:solidFill>
                  <a:srgbClr val="1A202C"/>
                </a:solidFill>
                <a:latin typeface="Calibri"/>
              </a:defRPr>
            </a:pPr>
            <a:r>
              <a:t>Heavy power cables with maximum ventilation.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262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600mm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2628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4A5568"/>
                </a:solidFill>
                <a:latin typeface="Calibri"/>
              </a:defRPr>
            </a:pPr>
            <a:r>
              <a:t>HDG  •  OUTDOOR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137160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6432" y="1371600"/>
            <a:ext cx="265176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85032" y="16002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67912" y="1737360"/>
            <a:ext cx="1828800" cy="731520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22192" y="1874520"/>
            <a:ext cx="54864" cy="4572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05272" y="1874520"/>
            <a:ext cx="54864" cy="4572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2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SOLID BOTTOM / TROUGH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5032" y="3035808"/>
            <a:ext cx="548640" cy="27432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Continuous metallic base protection.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85032" y="36576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14365E"/>
                </a:solidFill>
                <a:latin typeface="Calibri"/>
              </a:defRPr>
            </a:pPr>
            <a:r>
              <a:t>Application:</a:t>
            </a:r>
          </a:p>
          <a:p>
            <a:pPr algn="l">
              <a:lnSpc>
                <a:spcPts val="840"/>
              </a:lnSpc>
              <a:spcBef>
                <a:spcPts val="200"/>
              </a:spcBef>
              <a:spcAft>
                <a:spcPts val="200"/>
              </a:spcAft>
              <a:defRPr sz="700" b="0" i="0">
                <a:solidFill>
                  <a:srgbClr val="1A202C"/>
                </a:solidFill>
                <a:latin typeface="Calibri"/>
              </a:defRPr>
            </a:pPr>
            <a:r>
              <a:t>Sensitive instrumentation and EMI shield lines.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85032" y="45262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300mm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52628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4A5568"/>
                </a:solidFill>
                <a:latin typeface="Calibri"/>
              </a:defRPr>
            </a:pPr>
            <a:r>
              <a:t>ALU  •  INDOOR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4224" y="137160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4224" y="1371600"/>
            <a:ext cx="265176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92824" y="16002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75704" y="178308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4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75704" y="1920240"/>
            <a:ext cx="1828800" cy="18288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75704" y="2103120"/>
            <a:ext cx="1828800" cy="18288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75704" y="2286000"/>
            <a:ext cx="1828800" cy="18288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12864" y="1783080"/>
            <a:ext cx="18288" cy="6400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78624" y="1783080"/>
            <a:ext cx="18288" cy="6400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44384" y="1783080"/>
            <a:ext cx="18288" cy="6400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10144" y="1783080"/>
            <a:ext cx="18288" cy="6400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75904" y="1783080"/>
            <a:ext cx="18288" cy="6400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WIRE MESH (BASKET)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92824" y="3035808"/>
            <a:ext cx="548640" cy="2743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92824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Field-adaptable lightweight grid.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92824" y="36576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00A8B5"/>
                </a:solidFill>
                <a:latin typeface="Calibri"/>
              </a:defRPr>
            </a:pPr>
            <a:r>
              <a:t>Application:</a:t>
            </a:r>
          </a:p>
          <a:p>
            <a:pPr algn="l">
              <a:lnSpc>
                <a:spcPts val="840"/>
              </a:lnSpc>
              <a:spcBef>
                <a:spcPts val="200"/>
              </a:spcBef>
              <a:spcAft>
                <a:spcPts val="200"/>
              </a:spcAft>
              <a:defRPr sz="700" b="0" i="0">
                <a:solidFill>
                  <a:srgbClr val="1A202C"/>
                </a:solidFill>
                <a:latin typeface="Calibri"/>
              </a:defRPr>
            </a:pPr>
            <a:r>
              <a:t>Cat6 / Fiber telecom, data center overhead drops.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92824" y="45262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400mm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07224" y="452628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4A5568"/>
                </a:solidFill>
                <a:latin typeface="Calibri"/>
              </a:defRPr>
            </a:pPr>
            <a:r>
              <a:t>FRP  •  OUTDOOR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72016" y="1371600"/>
            <a:ext cx="26517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72016" y="1371600"/>
            <a:ext cx="2651760" cy="54864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00616" y="16002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49256" y="1828800"/>
            <a:ext cx="1097280" cy="5486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03536" y="1828800"/>
            <a:ext cx="73152" cy="54864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146536" y="1828800"/>
            <a:ext cx="73152" cy="54864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0616" y="278892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CHANNEL TRAY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0616" y="3035808"/>
            <a:ext cx="548640" cy="27432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0616" y="3154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3 to 6-inch narrow single-run track.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0616" y="36576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0A1931"/>
                </a:solidFill>
                <a:latin typeface="Calibri"/>
              </a:defRPr>
            </a:pPr>
            <a:r>
              <a:t>Application:</a:t>
            </a:r>
          </a:p>
          <a:p>
            <a:pPr algn="l">
              <a:lnSpc>
                <a:spcPts val="840"/>
              </a:lnSpc>
              <a:spcBef>
                <a:spcPts val="200"/>
              </a:spcBef>
              <a:spcAft>
                <a:spcPts val="200"/>
              </a:spcAft>
              <a:defRPr sz="700" b="0" i="0">
                <a:solidFill>
                  <a:srgbClr val="1A202C"/>
                </a:solidFill>
                <a:latin typeface="Calibri"/>
              </a:defRPr>
            </a:pPr>
            <a:r>
              <a:t>Single equipment branch drops from main rack.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0616" y="45262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150mm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15016" y="452628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1" i="0">
                <a:solidFill>
                  <a:srgbClr val="4A5568"/>
                </a:solidFill>
                <a:latin typeface="Calibri"/>
              </a:defRPr>
            </a:pPr>
            <a:r>
              <a:t>HDG  •  INDOOR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03 / 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NEC 392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Tray Fill &amp; Cross-Section Calculations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NEC 392.22 governs maximum usable area — never compromise on heat dissipation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286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6B35"/>
                </a:solidFill>
                <a:latin typeface="Calibri"/>
              </a:defRPr>
            </a:pPr>
            <a:r>
              <a:t>FORMULA</a:t>
            </a:r>
          </a:p>
          <a:p>
            <a:pPr algn="ctr">
              <a:spcBef>
                <a:spcPts val="400"/>
              </a:spcBef>
              <a:defRPr sz="700" b="1">
                <a:solidFill>
                  <a:srgbClr val="0A1931"/>
                </a:solidFill>
                <a:latin typeface="Calibri"/>
              </a:defRPr>
            </a:pPr>
            <a:r>
              <a:t>Tray Width ≥ [∑(Cable OD)² × 1.25] ÷ Usable Depth</a:t>
            </a:r>
          </a:p>
          <a:p>
            <a:pPr algn="ctr">
              <a:defRPr sz="600" i="1">
                <a:solidFill>
                  <a:srgbClr val="4A5568"/>
                </a:solidFill>
                <a:latin typeface="Calibri"/>
              </a:defRPr>
            </a:pPr>
            <a:r>
              <a:t>Guarantee single-layer spacing when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91640"/>
            <a:ext cx="1005840" cy="10058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1874519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FF6B35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6916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Power Cable</a:t>
            </a:r>
            <a:br/>
            <a:r>
              <a:t>Fill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2402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Maximum allowable cross-sectional</a:t>
            </a:r>
            <a:br/>
            <a:r>
              <a:t>fill for multi-conductor power</a:t>
            </a:r>
            <a:br/>
            <a:r>
              <a:t>under NEC 392.22(A).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31920"/>
            <a:ext cx="3017520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FF6B35"/>
                </a:solidFill>
                <a:latin typeface="Calibri"/>
              </a:defRPr>
            </a:pPr>
            <a:r>
              <a:t>40% of tray interior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30175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Ladder / ventilated trough: 40%  •  Solid bottom: 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41732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417320"/>
            <a:ext cx="365760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0" y="1691640"/>
            <a:ext cx="1005840" cy="10058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92040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60" y="1874519"/>
            <a:ext cx="640080" cy="64008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A8B5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01168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00A8B5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6916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Control &amp; Signal</a:t>
            </a:r>
            <a:br/>
            <a:r>
              <a:t>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2402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Maximum usable area for</a:t>
            </a:r>
            <a:br/>
            <a:r>
              <a:t>non-heat generating control</a:t>
            </a:r>
            <a:br/>
            <a:r>
              <a:t>and instrumentation lines.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931920"/>
            <a:ext cx="3017520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959352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00A8B5"/>
                </a:solidFill>
                <a:latin typeface="Calibri"/>
              </a:defRPr>
            </a:pPr>
            <a:r>
              <a:t>50% of tray interior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41732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417320"/>
            <a:ext cx="365760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1080" y="1691640"/>
            <a:ext cx="1005840" cy="10058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0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23960" y="1874519"/>
            <a:ext cx="640080" cy="64008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65E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01168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14365E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6916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64"/>
              </a:lnSpc>
              <a:defRPr sz="1100" b="1" i="0">
                <a:solidFill>
                  <a:srgbClr val="0A1931"/>
                </a:solidFill>
                <a:latin typeface="Calibri"/>
              </a:defRPr>
            </a:pPr>
            <a:r>
              <a:t>Future Reserve</a:t>
            </a:r>
            <a:br/>
            <a:r>
              <a:t>Margin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2402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Mandatory spare width reserved</a:t>
            </a:r>
            <a:br/>
            <a:r>
              <a:t>for upcoming plant expansions</a:t>
            </a:r>
            <a:br/>
            <a:r>
              <a:t>and revamps.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3931920"/>
            <a:ext cx="3017520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959352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14365E"/>
                </a:solidFill>
                <a:latin typeface="Calibri"/>
              </a:defRPr>
            </a:pPr>
            <a:r>
              <a:t>Spare capacity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8463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846320"/>
            <a:ext cx="73152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5029200"/>
            <a:ext cx="320040" cy="32004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983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Design tip: Always layer power cables flat in a single layer to promote heat dissipation. Never exceed 40% — trapped heat risks insulation damage and fire.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029200"/>
            <a:ext cx="5120640" cy="3200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CHECK:  Total cable area ÷ Tray interior area × 100 ≤ Limit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04 / 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INSTALLATION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Laying Arrangement: 1-Core vs Multi-Core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Single-layer, trefoil &amp; flat configurations per IEEE 525 and site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41148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⚠  CRITICAL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669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669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91056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SINGLE-CORE CABLES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591056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747"/>
              </a:lnSpc>
              <a:defRPr sz="650" b="0" i="0">
                <a:solidFill>
                  <a:srgbClr val="4A5568"/>
                </a:solidFill>
                <a:latin typeface="Calibri"/>
              </a:defRPr>
            </a:pPr>
            <a:r>
              <a:t>Heavy Power Feeders  •  Trefoil + Single-Layer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116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23160" y="2148840"/>
            <a:ext cx="365760" cy="36576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5" name="Oval 14"/>
          <p:cNvSpPr/>
          <p:nvPr/>
        </p:nvSpPr>
        <p:spPr>
          <a:xfrm>
            <a:off x="2697480" y="2514600"/>
            <a:ext cx="365760" cy="36576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Oval 15"/>
          <p:cNvSpPr/>
          <p:nvPr/>
        </p:nvSpPr>
        <p:spPr>
          <a:xfrm>
            <a:off x="2148840" y="2514600"/>
            <a:ext cx="365760" cy="36576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2860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FF6B35"/>
                </a:solidFill>
                <a:latin typeface="Calibri"/>
              </a:defRPr>
            </a:pPr>
            <a:r>
              <a:t>TREFOIL</a:t>
            </a:r>
            <a:br/>
            <a:r>
              <a:t>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94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Grouped trefoils balance induced magnetic</a:t>
            </a:r>
            <a:br/>
            <a:r>
              <a:t>fields — prevents circulating currents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154680"/>
            <a:ext cx="292608" cy="2926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5468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TREFOIL 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1927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Route in grouped trefoils to balance induced magnetic fields.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11880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721608"/>
            <a:ext cx="292608" cy="2926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721608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SINGLE-LAYER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Strictly no multi-layer stacking; space groups by 2 × Cable Diameter.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178808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288536"/>
            <a:ext cx="292608" cy="2926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288536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SHORT-CIRCUIT CLEATING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453128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Rated cleats every 1.5 m to withstand dynamic electromagnetic burst.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745736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4855464"/>
            <a:ext cx="292608" cy="2926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855464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NON-MAGNETIC CLAMPS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2005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Stainless steel or aluminum hardware to stop eddy heating.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37160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29400" y="1554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1591056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MULTI-CORE CABLES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1591056"/>
            <a:ext cx="2651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747"/>
              </a:lnSpc>
              <a:defRPr sz="650" b="0" i="0">
                <a:solidFill>
                  <a:srgbClr val="4A5568"/>
                </a:solidFill>
                <a:latin typeface="Calibri"/>
              </a:defRPr>
            </a:pPr>
            <a:r>
              <a:t>LV &amp; Control  •  Flat &amp; Anchored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201168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95160" y="2331720"/>
            <a:ext cx="640080" cy="274320"/>
          </a:xfrm>
          <a:prstGeom prst="rect">
            <a:avLst/>
          </a:prstGeom>
          <a:solidFill>
            <a:srgbClr val="00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2331720"/>
            <a:ext cx="640080" cy="274320"/>
          </a:xfrm>
          <a:prstGeom prst="rect">
            <a:avLst/>
          </a:prstGeom>
          <a:solidFill>
            <a:srgbClr val="00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41080" y="2331720"/>
            <a:ext cx="640080" cy="274320"/>
          </a:xfrm>
          <a:prstGeom prst="rect">
            <a:avLst/>
          </a:prstGeom>
          <a:solidFill>
            <a:srgbClr val="00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64040" y="2331720"/>
            <a:ext cx="640080" cy="274320"/>
          </a:xfrm>
          <a:prstGeom prst="rect">
            <a:avLst/>
          </a:prstGeom>
          <a:solidFill>
            <a:srgbClr val="00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22402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1" i="0">
                <a:solidFill>
                  <a:srgbClr val="00A8B5"/>
                </a:solidFill>
                <a:latin typeface="Calibri"/>
              </a:defRPr>
            </a:pPr>
            <a:r>
              <a:t>FLAT</a:t>
            </a:r>
            <a:br/>
            <a:r>
              <a:t>SIDE-BY-SIDE</a:t>
            </a:r>
          </a:p>
        </p:txBody>
      </p:sp>
      <p:sp>
        <p:nvSpPr>
          <p:cNvPr id="45" name="Oval 44"/>
          <p:cNvSpPr/>
          <p:nvPr/>
        </p:nvSpPr>
        <p:spPr>
          <a:xfrm>
            <a:off x="6629400" y="3154680"/>
            <a:ext cx="292608" cy="29260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15468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FLAT SIDE-BY-SIDE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319272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Low-voltage power placed touching or spaced by 1 × Cable Diameter.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3611880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29400" y="3721608"/>
            <a:ext cx="292608" cy="29260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721608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THERMAL STACKING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3886200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Avoid multi-layer stacking unless ampacity derating is applied.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4178808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29400" y="4288536"/>
            <a:ext cx="292608" cy="29260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4288536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DIRECT TIE FASTENING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4453128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UV-resistant heavy nylon or coated steel ties on rungs.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4745736"/>
            <a:ext cx="18288" cy="10972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629400" y="4855464"/>
            <a:ext cx="292608" cy="29260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4855464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VERTICAL RUNG ANCHORING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5020056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Support multi-core every 450 mm on vertical risers.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5925312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9C4210"/>
                </a:solidFill>
                <a:latin typeface="Calibri"/>
              </a:defRPr>
            </a:pPr>
            <a:r>
              <a:t>⚠  Incorrect single-core bundling creates hazardous circulating currents and severe tray overheating — never mix 1-core and multi-core without segregation.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05 / 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ELECTROMAGNETIC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Voltage Segregation &amp; Separation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Per IEEE 525 &amp; NEC 300.3(C)  •  Maintain 90° right-angle crossovers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1828800"/>
                <a:gridCol w="1828800"/>
              </a:tblGrid>
              <a:tr h="621792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Tray Level / Class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Voltage Level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 Separation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Divider Rule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Top Tier (Tier 1)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High Voltage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(&gt;1 kV to 33 kV)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Top position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Separate tray;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no shared services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Tier 2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Low Voltage Power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(&lt;1 kV)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300 mm from HV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Solid metallic barrier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if in same tray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Tier 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Control &amp; Interlocking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(110V / 230V)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250 mm from LV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Perforated barrier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minimum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Bottom Tier (Tier 4)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Analog &amp; Fieldbus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(&lt;50V / 4-20mA)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450 mm from Power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Dedicated solid bottom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tray or conduit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052560" y="141732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60" y="1417320"/>
            <a:ext cx="2606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554480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0A1931"/>
                </a:solidFill>
                <a:latin typeface="Calibri"/>
              </a:defRPr>
            </a:pPr>
            <a:r>
              <a:t>VERTICAL TIER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737360"/>
            <a:ext cx="2194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Top = HV  →  Bottom = Sensitive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011680"/>
            <a:ext cx="20574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2057400"/>
            <a:ext cx="1874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TIER 1  HV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240280"/>
            <a:ext cx="1874519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&gt;1kV–33kV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468880"/>
            <a:ext cx="36576" cy="1371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487168"/>
            <a:ext cx="914400" cy="91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32"/>
              </a:lnSpc>
              <a:defRPr sz="550" b="1" i="0">
                <a:solidFill>
                  <a:srgbClr val="4A5568"/>
                </a:solidFill>
                <a:latin typeface="Calibri"/>
              </a:defRPr>
            </a:pPr>
            <a:r>
              <a:t>300mm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606040"/>
            <a:ext cx="2057400" cy="457200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651760"/>
            <a:ext cx="1874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TIER 2  LV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834640"/>
            <a:ext cx="1874519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&lt;1kV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3063240"/>
            <a:ext cx="36576" cy="1371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3081528"/>
            <a:ext cx="914400" cy="91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32"/>
              </a:lnSpc>
              <a:defRPr sz="550" b="1" i="0">
                <a:solidFill>
                  <a:srgbClr val="4A5568"/>
                </a:solidFill>
                <a:latin typeface="Calibri"/>
              </a:defRPr>
            </a:pPr>
            <a:r>
              <a:t>250mm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200400"/>
            <a:ext cx="2057400" cy="4572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246120"/>
            <a:ext cx="1874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TIER 3 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29000"/>
            <a:ext cx="1874519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110/230V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3657600"/>
            <a:ext cx="36576" cy="13716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3675888"/>
            <a:ext cx="914400" cy="91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32"/>
              </a:lnSpc>
              <a:defRPr sz="550" b="1" i="0">
                <a:solidFill>
                  <a:srgbClr val="4A5568"/>
                </a:solidFill>
                <a:latin typeface="Calibri"/>
              </a:defRPr>
            </a:pPr>
            <a:r>
              <a:t>450mm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794760"/>
            <a:ext cx="2057400" cy="4572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840480"/>
            <a:ext cx="187451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TIER 4  INSTRUMENT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023360"/>
            <a:ext cx="1874519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&lt;50V  4-20mA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66344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709160"/>
            <a:ext cx="2148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0A1931"/>
                </a:solidFill>
                <a:latin typeface="Calibri"/>
              </a:defRPr>
            </a:pPr>
            <a:r>
              <a:t>⚡ HV on TOP  •  Sensitive at BOTTOM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73152" cy="54864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Maintain minimum 90° right-angle crossovers when signal trays must intersect power routes — never run in parallel without barriers.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86400"/>
            <a:ext cx="45720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Divider: Steel ≥1.6mm or Aluminum ≥2.0mm, full tray depth, bonded both ends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06 /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STRUCTURAL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NEMA VE 1 / VE 2 Support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Safety factor 1.5  •  200 lb concentrated load  •  Tested per NEMA VE 1 §5.2 / §5.4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NEMA Load Class Ratings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12C  /  20C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Class 12C (100 lbs/ft @ 12ft)</a:t>
            </a:r>
            <a:br/>
            <a:r>
              <a:t>or 20C (100 lbs/ft @ 20ft).</a:t>
            </a:r>
            <a:br/>
            <a:r>
              <a:t>Factor wind, ice, and 200 lb</a:t>
            </a:r>
            <a:br/>
            <a:r>
              <a:t>concentrated worker 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3108960" cy="5943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4297680"/>
            <a:ext cx="73152" cy="2286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4297680"/>
            <a:ext cx="73152" cy="2286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4297680"/>
            <a:ext cx="2514600" cy="73152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SPAN 12ft → 100 lbs/ft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310896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Support span in feet + load letter: A=50, B=75, C=100 lbs/ft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41732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417320"/>
            <a:ext cx="365760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600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Splice Joint Location</a:t>
            </a:r>
            <a:br/>
            <a:r>
              <a:t>(0.25 L Rule)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1488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0.25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69748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Locate splice connectors at</a:t>
            </a:r>
            <a:br/>
            <a:r>
              <a:t>1/4 span distance from</a:t>
            </a:r>
            <a:br/>
            <a:r>
              <a:t>support beam. Never place</a:t>
            </a:r>
            <a:br/>
            <a:r>
              <a:t>splices at mid-span.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023360"/>
            <a:ext cx="3108960" cy="5943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2040" y="4297680"/>
            <a:ext cx="73152" cy="2286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4297680"/>
            <a:ext cx="73152" cy="2286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4297680"/>
            <a:ext cx="2514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32120" y="4261104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069080"/>
            <a:ext cx="9144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FF6B35"/>
                </a:solidFill>
                <a:latin typeface="Calibri"/>
              </a:defRPr>
            </a:pPr>
            <a:r>
              <a:t>SPLICE @ 0.25L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754880"/>
            <a:ext cx="3108960" cy="18288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8006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Most vulnerable point — never mid-span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1732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417320"/>
            <a:ext cx="365760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1600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NEMA VE 2 Fitting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21488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 ft  /  600mm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69748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Support within 2 feet</a:t>
            </a:r>
            <a:br/>
            <a:r>
              <a:t>(600 mm) of each horizontal</a:t>
            </a:r>
            <a:br/>
            <a:r>
              <a:t>bend, tee, cross, or vertical</a:t>
            </a:r>
            <a:br/>
            <a:r>
              <a:t>reducer fitting.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023360"/>
            <a:ext cx="3108960" cy="5943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4206240"/>
            <a:ext cx="914400" cy="320040"/>
          </a:xfrm>
          <a:prstGeom prst="rect">
            <a:avLst/>
          </a:prstGeom>
          <a:solidFill>
            <a:srgbClr val="00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4206240"/>
            <a:ext cx="914400" cy="32004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4251960"/>
            <a:ext cx="73152" cy="2286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4069080"/>
            <a:ext cx="2194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0A8B5"/>
                </a:solidFill>
                <a:latin typeface="Calibri"/>
              </a:defRPr>
            </a:pPr>
            <a:r>
              <a:t>TEE / BEND ≤ 600mm to support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4754880"/>
            <a:ext cx="3108960" cy="18288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8006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All fittings need adjacent support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3492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4406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💡  Thermal expansion guide: Install expansion splice plates every 30 m on straight outdoor aluminum runs — aluminum expands ~2× steel.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07 / 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med" advOnClk="1">
    <p:push dir="l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INSTALLABILITY &amp;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Substation &amp; Switchgear Room Clearances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OSHA 1910 + ergonomic pull — keep walkways clear and panels accessible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45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Top Headroom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659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defRPr sz="1400" b="1" i="0">
                <a:solidFill>
                  <a:srgbClr val="FF6B35"/>
                </a:solidFill>
                <a:latin typeface="Calibri"/>
              </a:defRPr>
            </a:pPr>
            <a:r>
              <a:t>300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0574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(12 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Required overhead clearance</a:t>
            </a:r>
            <a:br/>
            <a:r>
              <a:t>above tray side rail for cable</a:t>
            </a:r>
            <a:br/>
            <a:r>
              <a:t>pulling and roller guides.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7472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749039"/>
            <a:ext cx="2560320" cy="1828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023360"/>
            <a:ext cx="2560320" cy="7315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5603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FF6B35"/>
                </a:solidFill>
                <a:latin typeface="Calibri"/>
              </a:defRPr>
            </a:pPr>
            <a:r>
              <a:t>↑ 300mm pull 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4173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417320"/>
            <a:ext cx="365760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1691640"/>
            <a:ext cx="502920" cy="50292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645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Side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9659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9"/>
              </a:lnSpc>
              <a:defRPr sz="1400" b="1" i="0">
                <a:solidFill>
                  <a:srgbClr val="00A8B5"/>
                </a:solidFill>
                <a:latin typeface="Calibri"/>
              </a:defRPr>
            </a:pPr>
            <a:r>
              <a:t>600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574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(24 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688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Clear pathway between tray</a:t>
            </a:r>
            <a:br/>
            <a:r>
              <a:t>edge and building wall or</a:t>
            </a:r>
            <a:br/>
            <a:r>
              <a:t>structural columns.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47472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3657600"/>
            <a:ext cx="274320" cy="5486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3657600"/>
            <a:ext cx="274320" cy="548640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8404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0A8B5"/>
                </a:solidFill>
                <a:latin typeface="Calibri"/>
              </a:defRPr>
            </a:pPr>
            <a:r>
              <a:t>← 600mm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4173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417320"/>
            <a:ext cx="365760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1080" y="1691640"/>
            <a:ext cx="502920" cy="50292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1645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1" i="0">
                <a:solidFill>
                  <a:srgbClr val="0A1931"/>
                </a:solidFill>
                <a:latin typeface="Calibri"/>
              </a:defRPr>
            </a:pPr>
            <a:r>
              <a:t>Switchgear Dropping Corridor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65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14365E"/>
                </a:solidFill>
                <a:latin typeface="Calibri"/>
              </a:defRPr>
            </a:pPr>
            <a:r>
              <a:t>Align with panel top-entry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4688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Align overhead trays directly</a:t>
            </a:r>
            <a:br/>
            <a:r>
              <a:t>with panel top-entry plates</a:t>
            </a:r>
            <a:br/>
            <a:r>
              <a:t>to avoid sharp s-bends.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47472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3611880"/>
            <a:ext cx="365760" cy="5486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92640" y="3611880"/>
            <a:ext cx="731520" cy="54864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92640" y="3840480"/>
            <a:ext cx="18288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4206240"/>
            <a:ext cx="25603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A1931"/>
                </a:solidFill>
                <a:latin typeface="Calibri"/>
              </a:defRPr>
            </a:pPr>
            <a:r>
              <a:t>Straight drop — no S-bend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07492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074920"/>
            <a:ext cx="73152" cy="5943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93792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OSHA 1910.28 &amp; 1910.303: Comply with headroom and maintain 2.1 m clear walkway below bottom rack at all times — tag obstructions during MC walkdown.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08 /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PULLING STRESS &amp; FITTINGS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Cable Minimum Bending Radius (MBR)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Tray fitting radius must never be tighter than the thickest cable — protects insulation &amp; fiber glass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65760"/>
            <a:ext cx="33832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A1931"/>
                </a:solidFill>
                <a:latin typeface="Calibri"/>
              </a:defRPr>
            </a:pPr>
            <a:r>
              <a:t>R fitting  ≥  MBR max</a:t>
            </a:r>
          </a:p>
          <a:p>
            <a:pPr algn="ctr">
              <a:defRPr sz="600">
                <a:solidFill>
                  <a:srgbClr val="4A5568"/>
                </a:solidFill>
                <a:latin typeface="Calibri"/>
              </a:defRPr>
            </a:pPr>
            <a:r>
              <a:t>Specify radius matching largest OD • Use 450–900 mm for MV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804672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194560"/>
                <a:gridCol w="2194560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Cable Type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MBR (× OD)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b="1" sz="7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Fitting Radius Selection</a:t>
                      </a:r>
                    </a:p>
                  </a:txBody>
                  <a:tcPr anchor="ctr" marL="73152" marR="73152" marT="36576" marB="36576">
                    <a:solidFill>
                      <a:srgbClr val="0A19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CLASS 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Control / Signal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Unarmored instrument pairs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 × OD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Select 300 mm fitting radius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CLASS 2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LV Power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Armored &amp; unarmored LV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8–12 × OD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Select 450 mm fitting radius</a:t>
                      </a:r>
                    </a:p>
                  </a:txBody>
                  <a:tcPr anchor="ctr" marL="73152" marR="73152" marT="36576" marB="36576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CLASS 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MV / HV Shielded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Medium voltage tape shield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12–15 × OD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Specify 600–900 mm fitting radius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CLASS 4</a:t>
                      </a:r>
                    </a:p>
                  </a:txBody>
                  <a:tcPr anchor="ctr" marL="73152" marR="73152" marT="36576" marB="36576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Optical Fiber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Glass micro-fracture risk</a:t>
                      </a:r>
                    </a:p>
                  </a:txBody>
                  <a:tcPr anchor="ctr" marL="73152" marR="73152" marT="36576" marB="36576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 × OD</a:t>
                      </a:r>
                    </a:p>
                  </a:txBody>
                  <a:tcPr anchor="ctr" marL="73152" marR="73152" marT="36576" marB="36576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Dynamic pulling limit —</a:t>
                      </a:r>
                    </a:p>
                    <a:p>
                      <a:pPr algn="l">
                        <a:lnSpc>
                          <a:spcPts val="800"/>
                        </a:lnSpc>
                        <a:defRPr sz="7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static 10 × OD</a:t>
                      </a:r>
                    </a:p>
                  </a:txBody>
                  <a:tcPr anchor="ctr" marL="73152" marR="73152" marT="36576" marB="36576">
                    <a:solidFill>
                      <a:srgbClr val="FFF3E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052560" y="141732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52560" y="1417320"/>
            <a:ext cx="2606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600200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6B35"/>
                </a:solidFill>
                <a:latin typeface="Calibri"/>
              </a:defRPr>
            </a:pPr>
            <a:r>
              <a:t>HOW TO CHOOSE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874519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2103120"/>
            <a:ext cx="914400" cy="73152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41280" y="2103120"/>
            <a:ext cx="73152" cy="9144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10972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FF6B35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6517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Inner edge never &lt; MBR</a:t>
            </a:r>
            <a:br/>
            <a:r>
              <a:t>Measure to cable centerline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3832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0" i="0">
                <a:solidFill>
                  <a:srgbClr val="1A202C"/>
                </a:solidFill>
                <a:latin typeface="Calibri"/>
              </a:defRPr>
            </a:pPr>
            <a:r>
              <a:t>Tighter bend = higher stress</a:t>
            </a:r>
            <a:br/>
            <a:r>
              <a:t>Always upsize the fitting, never downsize the cable spec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9319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CHECK: Verify against</a:t>
            </a:r>
            <a:br/>
            <a:r>
              <a:t>manufacturer datasheet before IFC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09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ENVIRONMENTAL &amp; THERMAL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Cable Tray Cover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Ventilation vs protection — choose per location, not by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20040"/>
            <a:ext cx="28346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38404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0" i="0">
                <a:solidFill>
                  <a:srgbClr val="0A1931"/>
                </a:solidFill>
                <a:latin typeface="Calibri"/>
              </a:defRPr>
            </a:pPr>
            <a:r>
              <a:t>Specify heavy-duty stainless steel cover hold-down clamps rated for local design wind velocities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916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0A1931"/>
                </a:solidFill>
                <a:latin typeface="Calibri"/>
              </a:defRPr>
            </a:pPr>
            <a:r>
              <a:t>PEAKED / FLANGED</a:t>
            </a:r>
            <a:br/>
            <a:r>
              <a:t>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Pitched profile sheds</a:t>
            </a:r>
            <a:br/>
            <a:r>
              <a:t>rainwater, snow, and</a:t>
            </a:r>
            <a:br/>
            <a:r>
              <a:t>chemical process deposits</a:t>
            </a:r>
            <a:br/>
            <a:r>
              <a:t>outdoors.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290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6B35"/>
                </a:solidFill>
                <a:latin typeface="Calibri"/>
              </a:defRPr>
            </a:pPr>
            <a:r>
              <a:t>Use: Outdoor racks</a:t>
            </a:r>
            <a:br/>
            <a:r>
              <a:t>&amp; pipe bridges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1480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4297680"/>
            <a:ext cx="1371600" cy="914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425196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FF6B35"/>
                </a:solidFill>
                <a:latin typeface="Calibri"/>
              </a:defRPr>
            </a:pPr>
            <a:r>
              <a:t>Pitched sheds water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146304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6432" y="1463040"/>
            <a:ext cx="265176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76472" y="1691640"/>
            <a:ext cx="457200" cy="45720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6916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0A1931"/>
                </a:solidFill>
                <a:latin typeface="Calibri"/>
              </a:defRPr>
            </a:pPr>
            <a:r>
              <a:t>MECHANICAL</a:t>
            </a:r>
            <a:br/>
            <a:r>
              <a:t>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33172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Solid covers mandatory</a:t>
            </a:r>
            <a:br/>
            <a:r>
              <a:t>within 1.8 m of platforms,</a:t>
            </a:r>
            <a:br/>
            <a:r>
              <a:t>stairs, and crane lift</a:t>
            </a:r>
            <a:br/>
            <a:r>
              <a:t>corridors.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6472" y="34290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14365E"/>
                </a:solidFill>
                <a:latin typeface="Calibri"/>
              </a:defRPr>
            </a:pPr>
            <a:r>
              <a:t>Use: Falling tool</a:t>
            </a:r>
            <a:br/>
            <a:r>
              <a:t>&amp; slag zones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76472" y="411480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96512" y="4251960"/>
            <a:ext cx="1371600" cy="137160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96512" y="4389120"/>
            <a:ext cx="73152" cy="18288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4251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Solid within 1.8m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146304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64224" y="1463040"/>
            <a:ext cx="265176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84264" y="1691640"/>
            <a:ext cx="457200" cy="45720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4" y="16916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0A1931"/>
                </a:solidFill>
                <a:latin typeface="Calibri"/>
              </a:defRPr>
            </a:pPr>
            <a:r>
              <a:t>AMPACITY</a:t>
            </a:r>
            <a:br/>
            <a:r>
              <a:t>DERATING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233172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Solid unventilated covers</a:t>
            </a:r>
            <a:br/>
            <a:r>
              <a:t>trap heat, penalizing cable</a:t>
            </a:r>
            <a:br/>
            <a:r>
              <a:t>ampacity by 10% to 15%.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84264" y="34290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00A8B5"/>
                </a:solidFill>
                <a:latin typeface="Calibri"/>
              </a:defRPr>
            </a:pPr>
            <a:r>
              <a:t>Derating: 0.85–0.90</a:t>
            </a:r>
            <a:br/>
            <a:r>
              <a:t>factor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4264" y="411480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04304" y="4297680"/>
            <a:ext cx="1371600" cy="1828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41464" y="4480560"/>
            <a:ext cx="109728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4264" y="4251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0A8B5"/>
                </a:solidFill>
                <a:latin typeface="Calibri"/>
              </a:defRPr>
            </a:pPr>
            <a:r>
              <a:t>Heat trap → 10-15% loss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72016" y="146304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6" y="1463040"/>
            <a:ext cx="2651760" cy="54864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92056" y="1691640"/>
            <a:ext cx="457200" cy="45720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16916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0A1931"/>
                </a:solidFill>
                <a:latin typeface="Calibri"/>
              </a:defRPr>
            </a:pPr>
            <a:r>
              <a:t>RAISED STANDOFF</a:t>
            </a:r>
            <a:br/>
            <a:r>
              <a:t>SPACERS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233172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25–50 mm raised cover</a:t>
            </a:r>
            <a:br/>
            <a:r>
              <a:t>brackets restore convective</a:t>
            </a:r>
            <a:br/>
            <a:r>
              <a:t>airflow while blocking</a:t>
            </a:r>
            <a:br/>
            <a:r>
              <a:t>sunlight.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92056" y="34290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0A1931"/>
                </a:solidFill>
                <a:latin typeface="Calibri"/>
              </a:defRPr>
            </a:pPr>
            <a:r>
              <a:t>Fix: Avoid thermal</a:t>
            </a:r>
            <a:br/>
            <a:r>
              <a:t>choke points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92056" y="411480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12096" y="4297680"/>
            <a:ext cx="1371600" cy="9144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57816" y="4434840"/>
            <a:ext cx="18288" cy="1371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92256" y="4434840"/>
            <a:ext cx="18288" cy="1371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92056" y="42519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A1931"/>
                </a:solidFill>
                <a:latin typeface="Calibri"/>
              </a:defRPr>
            </a:pPr>
            <a:r>
              <a:t>25-50mm standoff airflow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492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THERMAL RULE: Without standoff, unventilated cover = 0.85 derating. Always re-check ampacity tables from manufacturer after covering — document on cable sizing sheet.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CIVIL &amp; SUBSTATION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Underground Cable Trench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Drain, rack, seal — trench is civil + electrical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657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Segregate MV vs Control on opposing 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74903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PRECAST TRENCH &amp;</a:t>
            </a:r>
            <a:br/>
            <a:r>
              <a:t>1:100 BED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Reinforced concrete with</a:t>
            </a:r>
            <a:br/>
            <a:r>
              <a:t>continuous longitudinal</a:t>
            </a:r>
            <a:br/>
            <a:r>
              <a:t>slope towards sumps to</a:t>
            </a:r>
            <a:br/>
            <a:r>
              <a:t>eliminate standing water.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31089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657600"/>
            <a:ext cx="2560320" cy="3657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611880"/>
            <a:ext cx="2377440" cy="73152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25603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FF6B35"/>
                </a:solidFill>
                <a:latin typeface="Calibri"/>
              </a:defRPr>
            </a:pPr>
            <a:r>
              <a:t>Slope → sump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8912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SLOPE 1:100 → SUMP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417320"/>
            <a:ext cx="374903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417320"/>
            <a:ext cx="365760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1645920"/>
            <a:ext cx="411480" cy="41148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WALL-MOUNTED</a:t>
            </a:r>
            <a:br/>
            <a:r>
              <a:t>CABLE 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860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Unistrut cantilever brackets</a:t>
            </a:r>
            <a:br/>
            <a:r>
              <a:t>along walls; bottom cable level</a:t>
            </a:r>
            <a:br/>
            <a:r>
              <a:t>raised ≥ 100 mm off</a:t>
            </a:r>
            <a:br/>
            <a:r>
              <a:t>trench floor.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383280"/>
            <a:ext cx="31089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3566160"/>
            <a:ext cx="73152" cy="4572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3611880"/>
            <a:ext cx="54864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749039"/>
            <a:ext cx="54864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4114800"/>
            <a:ext cx="25603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Cantilever rack ≥100mm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38912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≥100mm off floor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417320"/>
            <a:ext cx="374903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417320"/>
            <a:ext cx="365760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1080" y="1645920"/>
            <a:ext cx="411480" cy="41148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COVER CLASS &amp;</a:t>
            </a:r>
            <a:br/>
            <a:r>
              <a:t>ENTRY SEALS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2860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Heavy RCC / chequered covers</a:t>
            </a:r>
            <a:br/>
            <a:r>
              <a:t>for roads; fire-rated gas-tight</a:t>
            </a:r>
            <a:br/>
            <a:r>
              <a:t>transits at building</a:t>
            </a:r>
            <a:br/>
            <a:r>
              <a:t>entry walls.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3383280"/>
            <a:ext cx="31089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3566160"/>
            <a:ext cx="2560320" cy="73152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3611880"/>
            <a:ext cx="73152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4114800"/>
            <a:ext cx="25603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00A8B5"/>
                </a:solidFill>
                <a:latin typeface="Calibri"/>
              </a:defRPr>
            </a:pPr>
            <a:r>
              <a:t>RCC cover + fire transit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438912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FIRE / GAS SEAL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med" advOnClk="1">
    <p:push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DIGITAL ENGINEERING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BIM / 3D Clash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Clash-free before fabrication — Navisworks / Revit MEP coordination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657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0A1931"/>
                </a:solidFill>
                <a:latin typeface="Calibri"/>
              </a:defRPr>
            </a:pPr>
            <a:r>
              <a:t>TOLERANCE  0mm steel  •  25mm piping</a:t>
            </a:r>
          </a:p>
        </p:txBody>
      </p:sp>
      <p:pic>
        <p:nvPicPr>
          <p:cNvPr id="8" name="Picture 7" descr="slide12_img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120640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417320"/>
            <a:ext cx="5120640" cy="3611880"/>
          </a:xfrm>
          <a:prstGeom prst="rect">
            <a:avLst/>
          </a:prstGeom>
          <a:noFill/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120640" cy="320040"/>
          </a:xfrm>
          <a:prstGeom prst="roundRect">
            <a:avLst>
              <a:gd name="adj" fmla="val 8000"/>
            </a:avLst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93792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0" i="0">
                <a:solidFill>
                  <a:srgbClr val="FFFFFF"/>
                </a:solidFill>
                <a:latin typeface="Calibri"/>
              </a:defRPr>
            </a:pPr>
            <a:r>
              <a:t>Conduct clash tests at tolerance 0 mm for structural steel and 25 mm for insulated piping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5577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3640" y="160020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0020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Piping Right-of-Way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Always route cable trays ABOVE steam,</a:t>
            </a:r>
            <a:br/>
            <a:r>
              <a:t>hydrocarbon, and slurry pipes to eliminate</a:t>
            </a:r>
            <a:br/>
            <a:r>
              <a:t>leak dripping hazards.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69164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ABOVE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69748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697480"/>
            <a:ext cx="557784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3640" y="2880360"/>
            <a:ext cx="411480" cy="41148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80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HVAC Duct Clearances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Maintain 150 mm minimum separation</a:t>
            </a:r>
            <a:br/>
            <a:r>
              <a:t>from chilled air ducts to stop surface</a:t>
            </a:r>
            <a:br/>
            <a:r>
              <a:t>thermal condensation.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29718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150 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977639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3977639"/>
            <a:ext cx="557784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3640" y="4160519"/>
            <a:ext cx="411480" cy="41148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60519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Zero Soft Clashes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19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Model cable pull envelopes and maintenance</a:t>
            </a:r>
            <a:br/>
            <a:r>
              <a:t>zones directly in Revit / Navisworks models.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4251959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ENVELOPE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SAFETY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Earthing, Bonding &amp; Grounding (NEC 250)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Tray must remain electrically continuous — low resistance fault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65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NEC 250  •  IEEE 525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5603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169164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Bonding</a:t>
            </a:r>
            <a:br/>
            <a:r>
              <a:t>Jumpers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Flexible copper braid</a:t>
            </a:r>
            <a:br/>
            <a:r>
              <a:t>jumpers across every</a:t>
            </a:r>
            <a:br/>
            <a:r>
              <a:t>expansion joint, swivel,</a:t>
            </a:r>
            <a:br/>
            <a:r>
              <a:t>and reducer.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4114800"/>
            <a:ext cx="320040" cy="3200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6B3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2194560"/>
            <a:ext cx="25603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6432" y="146304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463040"/>
            <a:ext cx="2651760" cy="54864"/>
          </a:xfrm>
          <a:prstGeom prst="rect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07992" y="1691640"/>
            <a:ext cx="548640" cy="54864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23774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Main Grid</a:t>
            </a:r>
            <a:br/>
            <a:r>
              <a:t>Taps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88036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Connect tray spine to main</a:t>
            </a:r>
            <a:br/>
            <a:r>
              <a:t>earthing ring at 20 m</a:t>
            </a:r>
            <a:br/>
            <a:r>
              <a:t>intervals using 70 mm²</a:t>
            </a:r>
            <a:br/>
            <a:r>
              <a:t>bare copper.</a:t>
            </a:r>
          </a:p>
        </p:txBody>
      </p:sp>
      <p:sp>
        <p:nvSpPr>
          <p:cNvPr id="21" name="Oval 20"/>
          <p:cNvSpPr/>
          <p:nvPr/>
        </p:nvSpPr>
        <p:spPr>
          <a:xfrm>
            <a:off x="4553712" y="4114800"/>
            <a:ext cx="320040" cy="3200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436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2194560"/>
            <a:ext cx="256032" cy="3657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46304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463040"/>
            <a:ext cx="2651760" cy="54864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15784" y="1691640"/>
            <a:ext cx="548640" cy="54864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3774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Low Resistance</a:t>
            </a:r>
            <a:br/>
            <a:r>
              <a:t>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288036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Measure end-to-end path</a:t>
            </a:r>
            <a:br/>
            <a:r>
              <a:t>resistance; must not exceed</a:t>
            </a:r>
            <a:br/>
            <a:r>
              <a:t>0.1 Ω per IEEE 525.</a:t>
            </a:r>
          </a:p>
        </p:txBody>
      </p:sp>
      <p:sp>
        <p:nvSpPr>
          <p:cNvPr id="28" name="Oval 27"/>
          <p:cNvSpPr/>
          <p:nvPr/>
        </p:nvSpPr>
        <p:spPr>
          <a:xfrm>
            <a:off x="7461504" y="4114800"/>
            <a:ext cx="320040" cy="3200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A8B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146304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1463040"/>
            <a:ext cx="2651760" cy="54864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3576" y="1691640"/>
            <a:ext cx="548640" cy="54864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237744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0A1931"/>
                </a:solidFill>
                <a:latin typeface="Calibri"/>
              </a:defRPr>
            </a:pPr>
            <a:r>
              <a:t>Equipment</a:t>
            </a:r>
            <a:br/>
            <a:r>
              <a:t>Grounding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288036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Tray cannot substitute for</a:t>
            </a:r>
            <a:br/>
            <a:r>
              <a:t>dedicated EGC green wire</a:t>
            </a:r>
            <a:br/>
            <a:r>
              <a:t>in branch circuits.</a:t>
            </a:r>
          </a:p>
        </p:txBody>
      </p:sp>
      <p:sp>
        <p:nvSpPr>
          <p:cNvPr id="34" name="Oval 33"/>
          <p:cNvSpPr/>
          <p:nvPr/>
        </p:nvSpPr>
        <p:spPr>
          <a:xfrm>
            <a:off x="10369296" y="4114800"/>
            <a:ext cx="320040" cy="320040"/>
          </a:xfrm>
          <a:prstGeom prst="ellipse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93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9C4210"/>
                </a:solidFill>
                <a:latin typeface="Calibri"/>
              </a:defRPr>
            </a:pPr>
            <a:r>
              <a:t>Remove paint, anodized coating, and lacquer completely at all bonding contact lugs — bare metal to bare metal. Treat joints with antioxidant compound for aluminum.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med" advOnClk="1">
    <p:push dir="l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5440"/>
            <a:ext cx="3556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1" i="0">
                <a:solidFill>
                  <a:srgbClr val="FF6B35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60"/>
              </a:lnSpc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Design Review &amp; QA/QC Gate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CBD5E0"/>
                </a:solidFill>
                <a:latin typeface="Calibri"/>
              </a:defRPr>
            </a:pPr>
            <a:r>
              <a:t>Gate check before IFC — every item must be ticked by Lead Electrical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2004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SIGN-OFF REQUIRED</a:t>
            </a:r>
          </a:p>
          <a:p>
            <a:pPr algn="ctr">
              <a:defRPr sz="600">
                <a:solidFill>
                  <a:srgbClr val="FFFFFF"/>
                </a:solidFill>
                <a:latin typeface="Calibri"/>
              </a:defRPr>
            </a:pPr>
            <a:r>
              <a:t>Lead Electrical 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916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Fill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2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Cross-sectional fill verified ≤ 40% (power) and 50% (control) with 20% spare.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783080"/>
            <a:ext cx="274320" cy="274320"/>
          </a:xfrm>
          <a:prstGeom prst="rect">
            <a:avLst/>
          </a:prstGeom>
          <a:noFill/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1691640"/>
            <a:ext cx="411480" cy="41148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0020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Fitting Radius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87452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Tray bend radii ≥ minimum bending radius of the thickest cable.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67160" y="1783080"/>
            <a:ext cx="274320" cy="274320"/>
          </a:xfrm>
          <a:prstGeom prst="rect">
            <a:avLst/>
          </a:prstGeom>
          <a:noFill/>
          <a:ln w="19050">
            <a:solidFill>
              <a:srgbClr val="14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3464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Segregation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1089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HV, LV, and instrumentation lines placed on correct vertical tiers.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17520"/>
            <a:ext cx="274320" cy="274320"/>
          </a:xfrm>
          <a:prstGeom prst="rect">
            <a:avLst/>
          </a:prstGeom>
          <a:noFill/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265176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0840" y="2926080"/>
            <a:ext cx="411480" cy="41148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3464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Support Calculations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089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Structural spans validated under NEMA VE 1 with 0.25 L splice rule.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67160" y="3017520"/>
            <a:ext cx="274320" cy="274320"/>
          </a:xfrm>
          <a:prstGeom prst="rect">
            <a:avLst/>
          </a:prstGeom>
          <a:noFill/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06908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Cover &amp; Trench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34340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Outdoor peaked covers, ampacity derating, and trench drains checked.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251960"/>
            <a:ext cx="274320" cy="274320"/>
          </a:xfrm>
          <a:prstGeom prst="rect">
            <a:avLst/>
          </a:prstGeom>
          <a:noFill/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6520" y="388620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0840" y="4160520"/>
            <a:ext cx="411480" cy="411480"/>
          </a:xfrm>
          <a:prstGeom prst="ellipse">
            <a:avLst/>
          </a:prstGeom>
          <a:solidFill>
            <a:srgbClr val="14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06908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77"/>
              </a:lnSpc>
              <a:defRPr sz="850" b="1" i="0">
                <a:solidFill>
                  <a:srgbClr val="0A1931"/>
                </a:solidFill>
                <a:latin typeface="Calibri"/>
              </a:defRPr>
            </a:pPr>
            <a:r>
              <a:t>Penetration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34340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4A5568"/>
                </a:solidFill>
                <a:latin typeface="Calibri"/>
              </a:defRPr>
            </a:pPr>
            <a:r>
              <a:t>2-hour UL-listed firestops and gas barrier seals scheduled on MTO.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567160" y="4251960"/>
            <a:ext cx="274320" cy="274320"/>
          </a:xfrm>
          <a:prstGeom prst="rect">
            <a:avLst/>
          </a:prstGeom>
          <a:noFill/>
          <a:ln w="19050">
            <a:solidFill>
              <a:srgbClr val="14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53492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349240"/>
            <a:ext cx="731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406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Complete sign-off by Lead Electrical Engineer prior to issuing drawings for construction (IFC).  Keep signed checklist on record for audit.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54406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APPROVED  •  IFC READY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0" y="0"/>
            <a:ext cx="548640" cy="6629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6294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1097280"/>
            <a:ext cx="38404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1325880"/>
            <a:ext cx="3657600" cy="457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920240"/>
            <a:ext cx="38404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2148840"/>
            <a:ext cx="3657600" cy="457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2743200"/>
            <a:ext cx="38404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2971800"/>
            <a:ext cx="3657600" cy="457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566160"/>
            <a:ext cx="38404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794760"/>
            <a:ext cx="3657600" cy="457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4389120"/>
            <a:ext cx="38404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4617720"/>
            <a:ext cx="3657600" cy="457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7315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ENGINEERING TRAINING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70"/>
              </a:lnSpc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Thanks &amp;</a:t>
            </a:r>
            <a:br/>
            <a:r>
              <a:t>Discussion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86000"/>
            <a:ext cx="10972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defRPr sz="1000" b="0" i="0">
                <a:solidFill>
                  <a:srgbClr val="CBD5E0"/>
                </a:solidFill>
                <a:latin typeface="Calibri"/>
              </a:defRPr>
            </a:pPr>
            <a:r>
              <a:t>Safe raceway design balances electrical segregation,</a:t>
            </a:r>
            <a:br/>
            <a:r>
              <a:t>structural loading, thermal derating, and constructability</a:t>
            </a:r>
            <a:br/>
            <a:r>
              <a:t>in field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0A1931"/>
                </a:solidFill>
                <a:latin typeface="Calibri"/>
              </a:defRPr>
            </a:pPr>
            <a:r>
              <a:t>REFERENCE STANDARDS: NEC 392  •  NEMA VE 1/VE 2  •  IEEE 525  •  IEC 61537  •  OSHA 1910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73152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1" i="0">
                <a:solidFill>
                  <a:srgbClr val="FF6B35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62"/>
              </a:lnSpc>
              <a:defRPr sz="750" b="0" i="0">
                <a:solidFill>
                  <a:srgbClr val="1A202C"/>
                </a:solidFill>
                <a:latin typeface="Calibri"/>
              </a:defRPr>
            </a:pPr>
            <a:r>
              <a:t>Open floor for site-specific questions  •  Distribute QA checklist  •  Issue IFC drawings after sign-off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0" y="438912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CBD5E0"/>
                </a:solidFill>
                <a:latin typeface="Calibri"/>
              </a:defRPr>
            </a:pPr>
            <a:r>
              <a:t>Contact: Hans Raj  •  hansraj.al@airliquide.com  •  Lead Electrical Design</a:t>
            </a:r>
            <a:br/>
            <a:r>
              <a:t>Air Liquide  •  Confidential  •  29 Oct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303520"/>
            <a:ext cx="38404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539496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47"/>
              </a:lnSpc>
              <a:defRPr sz="650" b="1" i="0">
                <a:solidFill>
                  <a:srgbClr val="0A1931"/>
                </a:solidFill>
                <a:latin typeface="Calibri"/>
              </a:defRPr>
            </a:pPr>
            <a:r>
              <a:t>Designed for field execution  •  Editable master  •  Ready to present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slow" advOnClk="1">
    <p:fade thruBlk="1"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35"/>
              </a:lnSpc>
              <a:defRPr sz="900" b="1" i="0">
                <a:solidFill>
                  <a:srgbClr val="FF6B35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9"/>
              </a:lnSpc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Image Sources &amp;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54864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4A5568"/>
                </a:solidFill>
                <a:latin typeface="Calibri"/>
              </a:defRPr>
            </a:pPr>
            <a:r>
              <a:t>This deck retains 100% of the original technical content — only visual design and layout have been enhanced.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011680"/>
            <a:ext cx="320040" cy="32004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1" i="0">
                <a:solidFill>
                  <a:srgbClr val="0A1931"/>
                </a:solidFill>
                <a:latin typeface="Calibri"/>
              </a:defRPr>
            </a:pPr>
            <a:r>
              <a:t>BIM Clash Detection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14365E"/>
                </a:solidFill>
                <a:latin typeface="Calibri"/>
              </a:defRPr>
            </a:pPr>
            <a:r>
              <a:t>https://www.united-bim.com/wp-content/uploads/2019/04/Clash-detection-for-hotel-project-of-structural-and-MEP.jpg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9601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0" i="0">
                <a:solidFill>
                  <a:srgbClr val="4A5568"/>
                </a:solidFill>
                <a:latin typeface="Calibri"/>
              </a:defRPr>
            </a:pPr>
            <a:r>
              <a:t>Source: www.united-bim.com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017520"/>
            <a:ext cx="320040" cy="32004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1" i="0">
                <a:solidFill>
                  <a:srgbClr val="0A1931"/>
                </a:solidFill>
                <a:latin typeface="Calibri"/>
              </a:defRPr>
            </a:pPr>
            <a:r>
              <a:t>NEC 392, NEMA VE1/VE2, IEEE 525, IEC 61537, OSHA 1910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14365E"/>
                </a:solidFill>
                <a:latin typeface="Calibri"/>
              </a:defRPr>
            </a:pPr>
            <a:r>
              <a:t>Official standards publications — refer to latest editions for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9601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0" i="0">
                <a:solidFill>
                  <a:srgbClr val="4A5568"/>
                </a:solidFill>
                <a:latin typeface="Calibri"/>
              </a:defRPr>
            </a:pPr>
            <a:r>
              <a:t>For detailed fill calculations and load tables, consult manufacturer data sheets (Atkore, Legrand, Schneider)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23360"/>
            <a:ext cx="320040" cy="320040"/>
          </a:xfrm>
          <a:prstGeom prst="ellipse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2336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1" i="0">
                <a:solidFill>
                  <a:srgbClr val="0A1931"/>
                </a:solidFill>
                <a:latin typeface="Calibri"/>
              </a:defRPr>
            </a:pPr>
            <a:r>
              <a:t>Original cable tray photos &amp; icons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4"/>
              </a:lnSpc>
              <a:defRPr sz="700" b="0" i="0">
                <a:solidFill>
                  <a:srgbClr val="14365E"/>
                </a:solidFill>
                <a:latin typeface="Calibri"/>
              </a:defRPr>
            </a:pPr>
            <a:r>
              <a:t>Gemini-generated placeholders replaced with vector illustrations — all text remains editable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9601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747"/>
              </a:lnSpc>
              <a:defRPr sz="650" b="0" i="0">
                <a:solidFill>
                  <a:srgbClr val="4A5568"/>
                </a:solidFill>
                <a:latin typeface="Calibri"/>
              </a:defRPr>
            </a:pPr>
            <a:r>
              <a:t>Designed in PowerPoint  •  Editable master  •  No embedded images for core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12080"/>
            <a:ext cx="10607040" cy="320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4A5568"/>
                </a:solidFill>
                <a:latin typeface="Calibri"/>
              </a:defRPr>
            </a:pPr>
            <a:r>
              <a:t>Redesigned by Aarav's AI  •  29 Oct 2026  •  Designer-grade industrial training deck  •  All tables &amp; text editable  •  Built with 2025 premium design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0" y="6693408"/>
            <a:ext cx="548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804"/>
              </a:lnSpc>
              <a:defRPr sz="700" b="0" i="0">
                <a:solidFill>
                  <a:srgbClr val="4A5568"/>
                </a:solidFill>
                <a:latin typeface="Calibri"/>
              </a:defRPr>
            </a:pPr>
            <a:r>
              <a:t>16 /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693408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90"/>
              </a:lnSpc>
              <a:defRPr sz="600" b="0" i="0">
                <a:solidFill>
                  <a:srgbClr val="4A5568"/>
                </a:solidFill>
                <a:latin typeface="Calibri"/>
              </a:defRPr>
            </a:pPr>
            <a:r>
              <a:t>AIR LIQUIDE  •  CONFIDENTIAL  •  TRAINING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693408"/>
            <a:ext cx="1371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90"/>
              </a:lnSpc>
              <a:defRPr sz="600" b="1" i="0">
                <a:solidFill>
                  <a:srgbClr val="14365E"/>
                </a:solidFill>
                <a:latin typeface="Calibri"/>
              </a:defRPr>
            </a:pPr>
            <a:r>
              <a:t>CABLE TRAY  •  NEC 392</a:t>
            </a:r>
          </a:p>
        </p:txBody>
      </p:sp>
    </p:spTree>
  </p:cSld>
  <p:transition spd="fast" advOnClk="1">
    <p:fade thruBlk="1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