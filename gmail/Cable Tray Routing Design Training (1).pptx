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lus Jakarta Sans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3DD279-B019-4AFA-AF81-D67B1C3DEB85}">
  <a:tblStyle styleId="{F53DD279-B019-4AFA-AF81-D67B1C3DEB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10" Type="http://schemas.openxmlformats.org/officeDocument/2006/relationships/image" Target="../media/image15.png"/><Relationship Id="rId9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787205"/>
            <a:ext cx="6096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966019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INDUSTRIAL ELECTRICAL &amp; INSTRUMENTATION DESIGN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56544"/>
            <a:ext cx="9701212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Cable Tray Routing &amp; Raceway Engineering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68030"/>
            <a:ext cx="7334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standards, fill factors, structural supports, clearances, covers, and underground trenches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76400" y="4720530"/>
            <a:ext cx="466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NEC 392 • NEMA VE 1 / VE 2 • IEEE 525 • IEC 61537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6200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48615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210300" y="2828925"/>
            <a:ext cx="2495550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934450" y="2828925"/>
            <a:ext cx="2495550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30527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305276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31432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31432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Follow industry codes to avoid construction rework and thermal hazards.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SCOPE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Design Modules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&amp; Selection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Ladder, solid bottom, channel, and wire mesh configurations.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72427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NEC Fill Capacity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72427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Cross-section limits, derating, and future reserve space.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48425" y="3562350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Segregation Rules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48425" y="3857625"/>
            <a:ext cx="2114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 separation between HV, LV, and instrument signals.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72575" y="3562350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NEMA Support Spans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72575" y="3857625"/>
            <a:ext cx="2114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Structural load classes and fitting support rules.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762000" y="2714625"/>
            <a:ext cx="2495550" cy="1933575"/>
          </a:xfrm>
          <a:prstGeom prst="roundRect">
            <a:avLst>
              <a:gd fmla="val 59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486150" y="2595562"/>
            <a:ext cx="2495550" cy="21717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10300" y="2714625"/>
            <a:ext cx="2495550" cy="1933575"/>
          </a:xfrm>
          <a:prstGeom prst="roundRect">
            <a:avLst>
              <a:gd fmla="val 59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934450" y="2714625"/>
            <a:ext cx="2495550" cy="1933575"/>
          </a:xfrm>
          <a:prstGeom prst="roundRect">
            <a:avLst>
              <a:gd fmla="val 59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Specify hot-dip galvanized steel, marine-grade 6063 aluminum, or FRP for corrosive environments.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 SELECTION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Tray Geometry &amp; Industrial Service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76325" y="3028950"/>
            <a:ext cx="24503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Ladder Tray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76325" y="3343275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9-inch or 12-inch rung spacing.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76325" y="3819525"/>
            <a:ext cx="1962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Application: Heavy power cables with maximum ventilation.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800475" y="2909887"/>
            <a:ext cx="206025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Solid Bottom / Trough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800475" y="3462337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metallic base protection.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800475" y="3938587"/>
            <a:ext cx="1962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Application: Sensitive instrumentation and EMI shield lines.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24625" y="3028950"/>
            <a:ext cx="24503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 Mesh (Basket)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24625" y="3343275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Field-adaptable lightweight grid.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24625" y="3819525"/>
            <a:ext cx="1962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Application: Cat6/Fiber telecom, data center overhead drops.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248775" y="3028950"/>
            <a:ext cx="24503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Channel Tray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248775" y="3343275"/>
            <a:ext cx="1962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to 6-inch narrow single-run track.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248775" y="3819525"/>
            <a:ext cx="1962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Application: Single equipment branch drops from main rack.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762000" y="2647950"/>
            <a:ext cx="3352800" cy="2066925"/>
          </a:xfrm>
          <a:prstGeom prst="roundRect">
            <a:avLst>
              <a:gd fmla="val 5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419600" y="2562225"/>
            <a:ext cx="3352800" cy="2238375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077200" y="2647950"/>
            <a:ext cx="3352800" cy="2066925"/>
          </a:xfrm>
          <a:prstGeom prst="roundRect">
            <a:avLst>
              <a:gd fmla="val 5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Formula: Tray Width ≥ [∑(Cable OD)² × 1.25] / Usable Depth to guarantee single-layer spacing when required.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NEC 392 COMPLIANCE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Tray Fill &amp; Cross-Section Calculations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35806" y="3038475"/>
            <a:ext cx="3405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40%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35806" y="3724275"/>
            <a:ext cx="3405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Cable Fill Limit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35806" y="3981450"/>
            <a:ext cx="34051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Maximum allowable cross-sectional fill for multi-conductor power under NEC 392.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393406" y="2952750"/>
            <a:ext cx="3405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50%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393406" y="3638550"/>
            <a:ext cx="3405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&amp; Signal Limit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393406" y="3895725"/>
            <a:ext cx="34051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Maximum usable area for non-heat generating control and instrumentation lines.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051006" y="3038475"/>
            <a:ext cx="3405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20%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51006" y="3724275"/>
            <a:ext cx="3405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Reserve Margin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51006" y="3981450"/>
            <a:ext cx="34051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Mandatory spare width reserved for upcoming plant expansions and revamps.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762000" y="1871662"/>
            <a:ext cx="51816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248400" y="1871662"/>
            <a:ext cx="51816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22145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21456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Incorrect single-core bundling creates hazardous circulating currents and severe tray overheating.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INSTALLATION GEOMETRY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Laying Arrangement: 1-Core vs Multi-Core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400175" y="2185987"/>
            <a:ext cx="26253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Single-Core Cables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76325" y="260508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Trefoil Formation: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Route in grouped trefoils to balance induced magnetic fields.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76325" y="308133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Single-Layer Rule: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Strictly no multi-layer stacking; space groups by 2 × Cable Diameter.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76325" y="355758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Short-Circuit Cleating: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Rated cleats every 1.5 m to withstand dynamic electromagnetic burst.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76325" y="4033837"/>
            <a:ext cx="4648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Non-Magnetic Clamps: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Stainless steel or aluminum hardware to stop eddy heating.</a:t>
            </a:r>
            <a:endParaRPr sz="112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915150" y="2185987"/>
            <a:ext cx="24753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Multi-Core Cables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562725" y="260508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 Side-by-Side: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Low-voltage power placed touching or spaced by 1 × Cable Diameter.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562725" y="308133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Thermal Stacking: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Avoid multi-layer stacking unless ampacity derating is applied.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562725" y="355758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Tie Fastening: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UV-resistant heavy nylon or coated steel ties on rungs.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62725" y="4033837"/>
            <a:ext cx="4648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Vertical Rung Anchoring: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Support multi-core every 450 mm on vertical risers.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762000" y="2452687"/>
            <a:ext cx="10668000" cy="24574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8"/>
          <p:cNvGraphicFramePr/>
          <p:nvPr/>
        </p:nvGraphicFramePr>
        <p:xfrm>
          <a:off x="762000" y="2452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{F53DD279-B019-4AFA-AF81-D67B1C3DEB85}</a:tableStyleId>
              </a:tblPr>
              <a:tblGrid>
                <a:gridCol w="1922700"/>
                <a:gridCol w="3215575"/>
                <a:gridCol w="2053075"/>
                <a:gridCol w="3476625"/>
              </a:tblGrid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Tray Level /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Voltage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Vertical Separation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Physical Divider Rule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Top Tier (Tier 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Voltage (&gt; 1 kV to 33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Top 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Separate tray; no shared services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 Voltage Power (&lt; 1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 mm from HV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Solid metallic barrier if in same tray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 &amp; Interlocking (110V/230V)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250 mm from LV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Perforated barrier minimum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Bottom Tier (Tier 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Analog &amp; Fieldbus (&lt; 50V / 4-20mA)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450 mm from 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Dedicated solid bottom tray or conduit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8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 minimum 90° right-angle crossovers when signal trays must intersect power routes.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ELECTROMAGNETIC COMPATIBILITY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Voltage Segregation &amp; Separation Distances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762000" y="1971675"/>
            <a:ext cx="5143500" cy="1038225"/>
          </a:xfrm>
          <a:prstGeom prst="roundRect">
            <a:avLst>
              <a:gd fmla="val 9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62000" y="3162300"/>
            <a:ext cx="5143500" cy="1038225"/>
          </a:xfrm>
          <a:prstGeom prst="roundRect">
            <a:avLst>
              <a:gd fmla="val 9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62000" y="4352925"/>
            <a:ext cx="5143500" cy="1038225"/>
          </a:xfrm>
          <a:prstGeom prst="roundRect">
            <a:avLst>
              <a:gd fmla="val 9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Thermal expansion guide: Install expansion splice plates every 30 m on straight outdoor aluminum runs.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STRUCTURAL ENGINEERING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NEMA VE 1 / VE 2 Support Standards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62025" y="2171700"/>
            <a:ext cx="622577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NEMA Load Class Ratings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62025" y="2447925"/>
            <a:ext cx="4838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12C (100 lbs/ft @ 12ft) or 20C (100 lbs/ft @ 20ft). Factor wind, ice, and 200 lb concentrated worker load.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62025" y="3362325"/>
            <a:ext cx="622577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Splice Joint Location (0.25 L Rule)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62025" y="3638550"/>
            <a:ext cx="4838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Locate splice connectors at 1/4 span distance from support beam. Never place splices at mid-span.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62025" y="4552950"/>
            <a:ext cx="622577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NEMA VE 2 Fitting Support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62025" y="4829175"/>
            <a:ext cx="4838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 within 2 feet (600 mm) of each horizontal bend, tee, cross, or vertical reducer fitting.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6286500" y="1838325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286500" y="3124200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286500" y="4410075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Comply with OSHA 1910 headroom and maintain 2.1 m clear walkway below bottom rack.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INSTALLABILITY &amp; ERGONOMICS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Substation &amp; Switchgear Room Clearances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524625" y="2076450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300 mm (12 in) Top Headroom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24625" y="235267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Required overhead clearance above tray side rail for cable pulling and roller guides.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524625" y="3362325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600 mm (24 in) Side Access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24625" y="3638550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pathway between tray edge and building wall or structural columns for personnel access.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524625" y="4648200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Switchgear Dropping Corridor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24625" y="492442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 overhead trays directly with panel top-entry plates to avoid sharp s-bends.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762000" y="2590800"/>
            <a:ext cx="2495550" cy="2181225"/>
          </a:xfrm>
          <a:prstGeom prst="roundRect">
            <a:avLst>
              <a:gd fmla="val 52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486150" y="2590800"/>
            <a:ext cx="2495550" cy="2181225"/>
          </a:xfrm>
          <a:prstGeom prst="roundRect">
            <a:avLst>
              <a:gd fmla="val 52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210300" y="2276475"/>
            <a:ext cx="2495550" cy="2809875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8934450" y="2590800"/>
            <a:ext cx="2495550" cy="2181225"/>
          </a:xfrm>
          <a:prstGeom prst="roundRect">
            <a:avLst>
              <a:gd fmla="val 52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Specify tray fitting radius matching the largest cable diameter: $R_{\text{fitting}} \ge \text{MBR}_{\text{max}}$.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PULLING STRESS &amp; FITTINGS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Cable Minimum Bending Radius (MBR)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78656" y="2895600"/>
            <a:ext cx="266223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1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3402806" y="2895600"/>
            <a:ext cx="266223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2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126956" y="2581275"/>
            <a:ext cx="2662237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3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851106" y="2895600"/>
            <a:ext cx="266223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4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84609" y="3219450"/>
            <a:ext cx="2650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/ Signal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47712" y="3581400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× OD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47712" y="4114800"/>
            <a:ext cx="252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Unarmored instrument pairs; select 300 mm fitting radius.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3408759" y="3219450"/>
            <a:ext cx="2650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LV Power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3471862" y="3581400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8–12 × OD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3471862" y="4114800"/>
            <a:ext cx="252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Armored &amp; unarmored LV; select 450 mm fitting radius.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132909" y="2905125"/>
            <a:ext cx="2650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 / HV Shielded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196012" y="3267075"/>
            <a:ext cx="2524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12–15 × OD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196012" y="4257675"/>
            <a:ext cx="2524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Medium voltage tape shield; specify 600–900 mm fitting radius.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857059" y="3219450"/>
            <a:ext cx="2650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Optical Fiber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920162" y="3581400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 × OD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920162" y="4114800"/>
            <a:ext cx="252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pulling limit to prevent internal glass micro-fractures.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762000" y="2324100"/>
            <a:ext cx="2495550" cy="2714625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486150" y="2433637"/>
            <a:ext cx="2495550" cy="2495550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210300" y="2433637"/>
            <a:ext cx="2495550" cy="2495550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8934450" y="2324100"/>
            <a:ext cx="2495550" cy="2714625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2638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27479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27479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2638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1562" y="27336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9525" y="28432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9862" y="28432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67825" y="27336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Specify heavy-duty stainless steel cover hold-down clamps rated for local design wind velocities.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ENVIRONMENTAL &amp; THERMAL DESIGN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Cable Tray Cover Philosophy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00125" y="3171825"/>
            <a:ext cx="222027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Peaked / Flanged Covers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1000125" y="3686175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Pitched profile sheds rainwater, snow, and chemical process deposits outdoors.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1000125" y="440055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Use: Outdoor racks &amp; pipe bridges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3724275" y="32813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Mechanical Protection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3724275" y="3576637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Solid covers mandatory within 1.8 m of platforms, stairs, and crane lift corridors.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3724275" y="4291012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Use: Falling tool &amp; slag zones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448425" y="32813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Ampacity Derating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448425" y="3576637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Solid unventilated covers trap heat, penalizing cable ampacity by 10% to 15%.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448425" y="4291012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Derating: Apply 0.85–0.90 factor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172575" y="3171825"/>
            <a:ext cx="222027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Raised Standoff Spacers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172575" y="3686175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25–50 mm raised cover brackets restore convective airflow while blocking sunlight.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172575" y="4400550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Fix: Avoid thermal choke points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/>
          <p:nvPr/>
        </p:nvSpPr>
        <p:spPr>
          <a:xfrm>
            <a:off x="6286500" y="2000250"/>
            <a:ext cx="514350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6286500" y="3171825"/>
            <a:ext cx="514350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6286500" y="4343400"/>
            <a:ext cx="514350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Segregate MV power on one side wall and control/instrumentation on the opposing trench wall.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CIVIL &amp; SUBSTATION INTERFACE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Underground Cable Trench Standards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486525" y="2200275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Precast Trench &amp; 1:100 Bed Slope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486525" y="2476500"/>
            <a:ext cx="483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Reinforced concrete with continuous longitudinal slope towards sumps to eliminate standing water.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486525" y="33718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Wall-Mounted Cable Racking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486525" y="3648075"/>
            <a:ext cx="483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Unistrut cantilever brackets along walls; bottom cable level raised ≥ 100 mm off trench floor.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486525" y="4543425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 Class &amp; Entry Seals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486525" y="4819650"/>
            <a:ext cx="483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Heavy RCC/chequered covers for roads; fire-rated gas-tight transits at building entry walls.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/>
          <p:nvPr/>
        </p:nvSpPr>
        <p:spPr>
          <a:xfrm>
            <a:off x="6286500" y="1838325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6286500" y="3124200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286500" y="4410075"/>
            <a:ext cx="5143500" cy="1114425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71662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 clash tests at tolerance 0 mm for structural steel and 25 mm for insulated piping.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 ENGINEERING WORKFLOW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BIM / 3D Clash Coordination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524625" y="2076450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Piping Right-of-Way Rules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524625" y="235267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Always route cable trays ABOVE steam, hydrocarbon, and slurry pipes to eliminate leak dripping hazards.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524625" y="3362325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HVAC Duct Clearances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6524625" y="3638550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 150 mm minimum separation from chilled air ducts to stop surface thermal condensation.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6524625" y="4648200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Soft Clashes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524625" y="492442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cable pull envelopes and maintenance zones directly in Revit/Navisworks models.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/>
          <p:nvPr/>
        </p:nvSpPr>
        <p:spPr>
          <a:xfrm>
            <a:off x="76200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348615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621030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8934450" y="2738437"/>
            <a:ext cx="24955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305276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305276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30527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30527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 paint, anodized coating, and lacquer completely at all bonding contact lugs.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SAFETY &amp; INTEGRITY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Earthing, Bonding &amp; Grounding (NEC 250)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00012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Bonding Jumpers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00012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Flexible copper braid jumpers across every expansion joint, swivel, and reducer.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372427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Grid Taps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372427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 tray spine to main earthing ring at 20 m intervals using 70 mm² bare copper.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644842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Resistance Limit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44842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 end-to-end path resistance; must not exceed 0.1 Ω per IEEE standard 525.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9172575" y="34718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Equipment Grounding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9172575" y="3767137"/>
            <a:ext cx="2114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Tray cannot substitute for dedicated EGC green wire in branch circuits.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762000" y="1362075"/>
            <a:ext cx="10668000" cy="4638675"/>
          </a:xfrm>
          <a:prstGeom prst="roundRect">
            <a:avLst>
              <a:gd fmla="val 24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2" name="Google Shape;3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27193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30718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34242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37766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41290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448151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6"/>
          <p:cNvSpPr txBox="1"/>
          <p:nvPr/>
        </p:nvSpPr>
        <p:spPr>
          <a:xfrm>
            <a:off x="762000" y="615315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 sign-off by Lead Electrical Engineer prior to issuing drawings for construction (IFC).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QUALITY ASSURANCE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Review &amp; QA/QC Gate Checklist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1495425" y="2700337"/>
            <a:ext cx="84032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Fill Verification: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Cross-sectional fill verified ≤ 40% (power) and 50% (control) with 20% spare.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495425" y="3052762"/>
            <a:ext cx="798648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Fitting Radius Validation: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Tray bend radii ≥ minimum bending radius of the thickest cable.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1495425" y="3405187"/>
            <a:ext cx="7572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Segregation Matrix: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HV, LV, and instrumentation lines placed on correct vertical tiers.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1495425" y="3757612"/>
            <a:ext cx="79414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 Calculations: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Structural spans validated under NEMA VE 1 with 0.25 L splice rule.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1495425" y="4110037"/>
            <a:ext cx="9144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 &amp; Trench Compliance: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Outdoor peaked covers, ampacity derating, and trench drains checked.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1495425" y="4462462"/>
            <a:ext cx="78700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Penetration Details: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2-hour UL-listed firestops and gas barrier seals scheduled on MTO.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/>
          <p:nvPr/>
        </p:nvSpPr>
        <p:spPr>
          <a:xfrm>
            <a:off x="5791200" y="4186088"/>
            <a:ext cx="6096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 txBox="1"/>
          <p:nvPr/>
        </p:nvSpPr>
        <p:spPr>
          <a:xfrm>
            <a:off x="4024312" y="2157412"/>
            <a:ext cx="4143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ENGINEERING TRAINING COMPLETE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2351782" y="2509837"/>
            <a:ext cx="748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Thanks</a:t>
            </a: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Discussion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2047875" y="3294608"/>
            <a:ext cx="809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raceway design balances electrical segregation, structural loading, thermal derating, and constructability in field execution.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2190750" y="4528988"/>
            <a:ext cx="7810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 STANDARDS: NEC 392 • NEMA VE 1 / VE 2 • IEEE 525 • IEC 61537 • OSHA 1910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1666875" y="1038225"/>
            <a:ext cx="9203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https://www.united-bim.com/wp-content/uploads/2019/04/Clash-detection-for-hotel-project-of-structural-and-MEP.jpg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1666875" y="1238250"/>
            <a:ext cx="2762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www.united-bim.com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