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 we cover the complete design workflow for cable tray and raceway systems: tray hardware selection, NEC 392 fill limits, voltage segregation, NEMA structural supports, bending radius, covers, trenches, BIM coordination, earthing and the final QA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modules: hardware selection, NEC 392 fill capacity, EMI segregation, and NEMA structural supports. Everything feeds the final QA checklist before IFC.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Ladder for heavy power and ventilation; solid bottom for instrumentation and EMI shielding; wire mesh for telecom; channel tray for single branch drops. Material per environment: HDG steel, 6063-T6 aluminum, FRP.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NEC 392.22 working limits: 40% fill for multiconductor power, 50% for control/signal, and hold 20% spare capacity for future expansion. The width formula is an area method with a 1.25 packing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Single-core AC circuits must run in trefoil with non-magnetic cleats — bundling them wrong induces circulating currents and overheating. Multi-core runs flat, single layer, derated if stacked.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Vertical tier order: HV on top, then LV power, control, and analog/fieldbus at the bottom, with the separations shown. Where trays must cross, do it at 90 degrees to minimise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NEMA class = load per foot at a given span: 12C is 100 lb/ft at 12 ft. Add wind, ice and a 200 lb worker point load. Splices go at quarter span — never mid-span where bending moment peaks. Fittings get a support within 600 mm.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clearances to defend in layout reviews: 300 mm above the rail for pulling gear, 600 mm personnel access beside the tray, and 2.1 m headroom below the bottom rack per OSHA 1910.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Minimum bending radius scales with cable construction — from 6×OD for unarmored instrument pairs up to 20×OD for optical fiber during pulling. Tray fitting radius must meet or exceed the largest cable's MBR.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Covers are a trade-off: they protect outdoors and under platforms, but solid covers cost 10–15% ampacity. Raised standoff spacers give sun/debris protection while keeping convective cooling.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Trench rules: precast RCC with a 1:100 fall to sumps, cables racked on walls at least 100 mm off the floor, MV and instrumentation on opposite walls, heavy covers at road crossings and gas-tight transits into buildings.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3D model: trays go above leak-prone piping, 150 mm off chilled ducts, and we model pull envelopes and maintenance space as objects so soft clashes are caught before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Grounding continuity: braid jumpers at every mechanical break, earthing-ring taps every 20 m with 70 mm² bare copper, verified below 0.1 ohm end-to-end, and the tray never replaces the equipment grounding conductor.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gates before IFC: fill, bending radius, segregation tiers, support spans, covers/trench, and fire-stopped penetrations — signed off by the Lead Electrical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 for questions; recap the four pillars: segregation, structure, thermal, constructability.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429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0" y="1325880"/>
            <a:ext cx="146304" cy="1920240"/>
          </a:xfrm>
          <a:prstGeom prst="rect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00816" y="1325880"/>
            <a:ext cx="146304" cy="1920240"/>
          </a:xfrm>
          <a:prstGeom prst="rect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3081527"/>
            <a:ext cx="3017520" cy="164592"/>
          </a:xfrm>
          <a:prstGeom prst="rect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87384" y="2284171"/>
            <a:ext cx="310896" cy="310896"/>
          </a:xfrm>
          <a:prstGeom prst="ellipse">
            <a:avLst/>
          </a:prstGeom>
          <a:noFill/>
          <a:ln w="254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53698" y="2551541"/>
            <a:ext cx="310896" cy="310896"/>
          </a:xfrm>
          <a:prstGeom prst="ellipse">
            <a:avLst/>
          </a:prstGeom>
          <a:noFill/>
          <a:ln w="254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21069" y="2551541"/>
            <a:ext cx="310896" cy="310896"/>
          </a:xfrm>
          <a:prstGeom prst="ellipse">
            <a:avLst/>
          </a:prstGeom>
          <a:noFill/>
          <a:ln w="254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46920" y="2284171"/>
            <a:ext cx="310896" cy="31089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13234" y="2551541"/>
            <a:ext cx="310896" cy="31089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80605" y="2551541"/>
            <a:ext cx="310896" cy="31089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42448" y="2770632"/>
            <a:ext cx="219456" cy="21945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80192" y="2770632"/>
            <a:ext cx="219456" cy="21945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17936" y="2770632"/>
            <a:ext cx="219456" cy="219456"/>
          </a:xfrm>
          <a:prstGeom prst="ellipse">
            <a:avLst/>
          </a:prstGeom>
          <a:noFill/>
          <a:ln w="22860">
            <a:solidFill>
              <a:srgbClr val="2E5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229600" y="1033271"/>
            <a:ext cx="3017520" cy="0"/>
          </a:xfrm>
          <a:prstGeom prst="line">
            <a:avLst/>
          </a:prstGeom>
          <a:ln w="15240">
            <a:solidFill>
              <a:srgbClr val="2444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0" y="941832"/>
            <a:ext cx="0" cy="182880"/>
          </a:xfrm>
          <a:prstGeom prst="line">
            <a:avLst/>
          </a:prstGeom>
          <a:ln w="15240">
            <a:solidFill>
              <a:srgbClr val="2444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247120" y="941832"/>
            <a:ext cx="0" cy="182880"/>
          </a:xfrm>
          <a:prstGeom prst="line">
            <a:avLst/>
          </a:prstGeom>
          <a:ln w="15240">
            <a:solidFill>
              <a:srgbClr val="2444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0" y="704087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E5073"/>
                </a:solidFill>
                <a:latin typeface="Calibri"/>
                <a:ea typeface="Calibri"/>
              </a:rPr>
              <a:t>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3566160"/>
            <a:ext cx="3566161" cy="0"/>
          </a:xfrm>
          <a:prstGeom prst="line">
            <a:avLst/>
          </a:prstGeom>
          <a:ln w="12700">
            <a:solidFill>
              <a:srgbClr val="24446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555480" y="4572000"/>
            <a:ext cx="2423160" cy="2423160"/>
          </a:xfrm>
          <a:prstGeom prst="ellipse">
            <a:avLst/>
          </a:prstGeom>
          <a:noFill/>
          <a:ln w="15240">
            <a:solidFill>
              <a:srgbClr val="1E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6928" y="1389888"/>
            <a:ext cx="1371600" cy="0"/>
          </a:xfrm>
          <a:prstGeom prst="line">
            <a:avLst/>
          </a:prstGeom>
          <a:ln w="3810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157276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36A9E0"/>
                </a:solidFill>
                <a:latin typeface="Calibri"/>
                <a:ea typeface="Calibri"/>
              </a:rPr>
              <a:t>INDUSTRIAL ELECTRICAL &amp; INSTRUMENTATION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1993392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</a:rPr>
              <a:t>Cable Tray Routing &amp;</a:t>
            </a:r>
          </a:p>
          <a:p>
            <a:pPr algn="l">
              <a:lnSpc>
                <a:spcPct val="102000"/>
              </a:lnSpc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</a:rPr>
              <a:t>Raceway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79476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B9CDDE"/>
                </a:solidFill>
                <a:latin typeface="Calibri"/>
                <a:ea typeface="Calibri"/>
              </a:rPr>
              <a:t>Design standards, fill factors, structural supports, clearances, covers, and underground trenches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526280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526280"/>
            <a:ext cx="1143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NEC 392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11095" y="4526280"/>
            <a:ext cx="182880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11095" y="452628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NEMA VE 1 / VE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41064" y="4526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41064" y="45262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IEEE Std 525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05272" y="452628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452628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IEC 61537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86600" y="4526280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86600" y="4526280"/>
            <a:ext cx="13258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OSHA 1910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5577840"/>
            <a:ext cx="4187952" cy="0"/>
          </a:xfrm>
          <a:prstGeom prst="line">
            <a:avLst/>
          </a:prstGeom>
          <a:ln w="12700">
            <a:solidFill>
              <a:srgbClr val="2A4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Hans Raj</a:t>
            </a:r>
            <a:r>
              <a:rPr sz="1400" b="0">
                <a:solidFill>
                  <a:srgbClr val="8FA9C0"/>
                </a:solidFill>
                <a:latin typeface="Calibri"/>
                <a:ea typeface="Calibri"/>
              </a:rPr>
              <a:t>   |   Air Liquide  ·  Engineering Training  ·  October 2026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TRAINING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Core Design Modules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Follow industry codes to avoid construction rework and thermal hazards.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984248"/>
            <a:ext cx="2586151" cy="2880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984248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2313432"/>
            <a:ext cx="475488" cy="475488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3024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08376"/>
            <a:ext cx="207408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650" b="1">
                <a:solidFill>
                  <a:srgbClr val="0F2B46"/>
                </a:solidFill>
                <a:latin typeface="Calibri"/>
                <a:ea typeface="Calibri"/>
              </a:rPr>
              <a:t>Hardware &amp;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39896"/>
            <a:ext cx="20740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Ladder, solid bottom, channel, and wire mesh configurations.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0823" y="1984248"/>
            <a:ext cx="2586151" cy="2880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8839" y="1984248"/>
            <a:ext cx="2330119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46855" y="2313432"/>
            <a:ext cx="475488" cy="475488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6855" y="23024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6855" y="3008376"/>
            <a:ext cx="207408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650" b="1">
                <a:solidFill>
                  <a:srgbClr val="0F2B46"/>
                </a:solidFill>
                <a:latin typeface="Calibri"/>
                <a:ea typeface="Calibri"/>
              </a:rPr>
              <a:t>NEC Fill Capacity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6855" y="3739896"/>
            <a:ext cx="20740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Cross-section limits, derating, and future reserve space.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4719" y="1984248"/>
            <a:ext cx="2586151" cy="2880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984248"/>
            <a:ext cx="2330119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70751" y="231343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0751" y="23024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0751" y="3008376"/>
            <a:ext cx="207408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650" b="1">
                <a:solidFill>
                  <a:srgbClr val="0F2B46"/>
                </a:solidFill>
                <a:latin typeface="Calibri"/>
                <a:ea typeface="Calibri"/>
              </a:rPr>
              <a:t>Segregation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0751" y="3739896"/>
            <a:ext cx="20740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EMI separation between HV, LV, and instrument signals.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8615" y="1984248"/>
            <a:ext cx="2586151" cy="2880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66631" y="1984248"/>
            <a:ext cx="2330119" cy="4572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294647" y="2313432"/>
            <a:ext cx="475488" cy="475488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4647" y="23024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4647" y="3008376"/>
            <a:ext cx="207408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650" b="1">
                <a:solidFill>
                  <a:srgbClr val="0F2B46"/>
                </a:solidFill>
                <a:latin typeface="Calibri"/>
                <a:ea typeface="Calibri"/>
              </a:rPr>
              <a:t>NEMA Support Spans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4647" y="3739896"/>
            <a:ext cx="20740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Structural load classes and fitting support rules.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COMPONENT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Tray Geometry &amp; Industrial Service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Specify hot-dip galvanized steel, marine-grade 6063-T6 aluminum, or FRP for corrosive environments.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37360"/>
            <a:ext cx="2586151" cy="37490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737360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6968" y="2057400"/>
            <a:ext cx="1946071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6968" y="2862072"/>
            <a:ext cx="1946071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0120" y="2121408"/>
            <a:ext cx="54864" cy="740664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96345" y="2121408"/>
            <a:ext cx="54864" cy="740664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32571" y="2121408"/>
            <a:ext cx="54864" cy="740664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68797" y="2121408"/>
            <a:ext cx="54864" cy="740664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05023" y="2121408"/>
            <a:ext cx="54864" cy="740664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154680"/>
            <a:ext cx="2110663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Ladder Tray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767328"/>
            <a:ext cx="21106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9-inch or 12-inch rung spacing.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4672" y="4480560"/>
            <a:ext cx="2110663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4672" y="4590288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APPLICATION  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B7083"/>
                </a:solidFill>
                <a:latin typeface="Calibri"/>
                <a:ea typeface="Calibri"/>
              </a:rPr>
              <a:t>Heavy power cables with maximum ventilation.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90823" y="1737360"/>
            <a:ext cx="2586151" cy="37490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8839" y="1737360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10863" y="2057400"/>
            <a:ext cx="1946071" cy="868680"/>
          </a:xfrm>
          <a:prstGeom prst="rect">
            <a:avLst/>
          </a:prstGeom>
          <a:solidFill>
            <a:srgbClr val="E8F1F9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10863" y="2834640"/>
            <a:ext cx="1946071" cy="91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28567" y="3154680"/>
            <a:ext cx="2110663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Solid Bottom / Trough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28567" y="3767328"/>
            <a:ext cx="21106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Continuous metallic base protection.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28567" y="4480560"/>
            <a:ext cx="2110664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28567" y="4590288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APPLICATION  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B7083"/>
                </a:solidFill>
                <a:latin typeface="Calibri"/>
                <a:ea typeface="Calibri"/>
              </a:rPr>
              <a:t>Sensitive instrumentation and EMI-shielded lines.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4719" y="1737360"/>
            <a:ext cx="2586151" cy="37490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42735" y="1737360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4759" y="2057400"/>
            <a:ext cx="1946071" cy="868680"/>
          </a:xfrm>
          <a:prstGeom prst="rect">
            <a:avLst/>
          </a:prstGeom>
          <a:noFill/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923973" y="2057400"/>
            <a:ext cx="0" cy="86868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313188" y="2057400"/>
            <a:ext cx="0" cy="86868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702402" y="2057400"/>
            <a:ext cx="0" cy="86868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91617" y="2057400"/>
            <a:ext cx="0" cy="86868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534759" y="2346960"/>
            <a:ext cx="1946072" cy="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534759" y="2636520"/>
            <a:ext cx="1946072" cy="0"/>
          </a:xfrm>
          <a:prstGeom prst="line">
            <a:avLst/>
          </a:prstGeom>
          <a:ln w="152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452463" y="3154680"/>
            <a:ext cx="2110663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Wire Mesh (Basket)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2463" y="3767328"/>
            <a:ext cx="21106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Field-adaptable lightweight grid.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52463" y="4480560"/>
            <a:ext cx="2110664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52463" y="4590288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APPLICATION  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B7083"/>
                </a:solidFill>
                <a:latin typeface="Calibri"/>
                <a:ea typeface="Calibri"/>
              </a:rPr>
              <a:t>Cat6 / fiber telecom, data-center overhead drops.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38615" y="1737360"/>
            <a:ext cx="2586151" cy="37490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66631" y="1737360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942476" y="2057400"/>
            <a:ext cx="778428" cy="868680"/>
          </a:xfrm>
          <a:prstGeom prst="rect">
            <a:avLst/>
          </a:prstGeom>
          <a:solidFill>
            <a:srgbClr val="E8F1F9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42476" y="2057400"/>
            <a:ext cx="54864" cy="8686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66041" y="2057400"/>
            <a:ext cx="54864" cy="8686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76359" y="3154680"/>
            <a:ext cx="2110663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Channel Tray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76359" y="3767328"/>
            <a:ext cx="211066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3 to 6-inch narrow single-run track.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276359" y="4480560"/>
            <a:ext cx="2110664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276359" y="4590288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APPLICATION  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B7083"/>
                </a:solidFill>
                <a:latin typeface="Calibri"/>
                <a:ea typeface="Calibri"/>
              </a:rPr>
              <a:t>Single equipment branch drops from main rack.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NEC 392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Tray Fill &amp; Cross-Section Calculations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Sizing check:  Required Width  ≥  ( Σ Cable OD² × 1.25 )  ÷  Usable Depth — guarantees single-layer spacing when required.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55648"/>
            <a:ext cx="3503066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755648"/>
            <a:ext cx="3247034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nut 16"/>
          <p:cNvSpPr/>
          <p:nvPr/>
        </p:nvSpPr>
        <p:spPr>
          <a:xfrm>
            <a:off x="859536" y="2066544"/>
            <a:ext cx="1417320" cy="1417320"/>
          </a:xfrm>
          <a:prstGeom prst="donut">
            <a:avLst>
              <a:gd name="adj" fmla="val 16000"/>
            </a:avLst>
          </a:prstGeom>
          <a:solidFill>
            <a:srgbClr val="EA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859536" y="2066544"/>
            <a:ext cx="1417320" cy="1417320"/>
          </a:xfrm>
          <a:prstGeom prst="pie">
            <a:avLst>
              <a:gd name="adj1" fmla="val 16200000"/>
              <a:gd name="adj2" fmla="val 324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6307" y="2293315"/>
            <a:ext cx="963777" cy="9637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2048256"/>
            <a:ext cx="1417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1F6FB2"/>
                </a:solidFill>
                <a:latin typeface="Calibri"/>
                <a:ea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2066544"/>
            <a:ext cx="135422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of tray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cross-section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29178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2B46"/>
                </a:solidFill>
                <a:latin typeface="Calibri"/>
                <a:ea typeface="Calibri"/>
              </a:rPr>
              <a:t>Power Cable Fill 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133088"/>
            <a:ext cx="291785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Maximum allowable cross-sectional fill for multi-conductor power under NEC 392.22.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4314" y="1755648"/>
            <a:ext cx="3503066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72330" y="1755648"/>
            <a:ext cx="3247034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nut 25"/>
          <p:cNvSpPr/>
          <p:nvPr/>
        </p:nvSpPr>
        <p:spPr>
          <a:xfrm>
            <a:off x="4636922" y="2066544"/>
            <a:ext cx="1417320" cy="1417320"/>
          </a:xfrm>
          <a:prstGeom prst="donut">
            <a:avLst>
              <a:gd name="adj" fmla="val 16000"/>
            </a:avLst>
          </a:prstGeom>
          <a:solidFill>
            <a:srgbClr val="EA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4636922" y="2066544"/>
            <a:ext cx="1417320" cy="141732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63693" y="2293315"/>
            <a:ext cx="963777" cy="9637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922" y="2048256"/>
            <a:ext cx="1417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36A9E0"/>
                </a:solidFill>
                <a:latin typeface="Calibri"/>
                <a:ea typeface="Calibri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4554" y="2066544"/>
            <a:ext cx="135422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of tray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cross-section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922" y="3694176"/>
            <a:ext cx="29178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2B46"/>
                </a:solidFill>
                <a:latin typeface="Calibri"/>
                <a:ea typeface="Calibri"/>
              </a:rPr>
              <a:t>Control &amp; Signal Limit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922" y="4133088"/>
            <a:ext cx="291785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Maximum usable area for non-heat-generating control and instrumentation lines.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1700" y="1755648"/>
            <a:ext cx="3503066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49716" y="1755648"/>
            <a:ext cx="3247034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nut 34"/>
          <p:cNvSpPr/>
          <p:nvPr/>
        </p:nvSpPr>
        <p:spPr>
          <a:xfrm>
            <a:off x="8414308" y="2066544"/>
            <a:ext cx="1417320" cy="1417320"/>
          </a:xfrm>
          <a:prstGeom prst="donut">
            <a:avLst>
              <a:gd name="adj" fmla="val 16000"/>
            </a:avLst>
          </a:prstGeom>
          <a:solidFill>
            <a:srgbClr val="EA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ie 35"/>
          <p:cNvSpPr/>
          <p:nvPr/>
        </p:nvSpPr>
        <p:spPr>
          <a:xfrm>
            <a:off x="8414308" y="2066544"/>
            <a:ext cx="1417320" cy="1417320"/>
          </a:xfrm>
          <a:prstGeom prst="pie">
            <a:avLst>
              <a:gd name="adj1" fmla="val 16200000"/>
              <a:gd name="adj2" fmla="val 2052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41080" y="2293315"/>
            <a:ext cx="963777" cy="9637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4308" y="2048256"/>
            <a:ext cx="14173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5A623"/>
                </a:solidFill>
                <a:latin typeface="Calibri"/>
                <a:ea typeface="Calibri"/>
              </a:rPr>
              <a:t>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1940" y="2066544"/>
            <a:ext cx="135422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of tray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cross-section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4308" y="3694176"/>
            <a:ext cx="29178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2B46"/>
                </a:solidFill>
                <a:latin typeface="Calibri"/>
                <a:ea typeface="Calibri"/>
              </a:rPr>
              <a:t>Future Reserve Margin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4308" y="4133088"/>
            <a:ext cx="291785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Mandatory spare width reserved for upcoming plant expansions and revamps.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INSTALLATION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Laying Arrangement: Single-Core vs Multi-Core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Incorrect single-core bundling creates hazardous circulating currents and severe tray overheating.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09928"/>
            <a:ext cx="5391759" cy="3886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709928"/>
            <a:ext cx="5135727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2072030"/>
            <a:ext cx="256032" cy="256032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5746" y="2292217"/>
            <a:ext cx="256032" cy="256032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933" y="2292217"/>
            <a:ext cx="256032" cy="256032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09928" y="2011680"/>
            <a:ext cx="40201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2B46"/>
                </a:solidFill>
                <a:latin typeface="Calibri"/>
                <a:ea typeface="Calibri"/>
              </a:rPr>
              <a:t>Single-Core Cables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7" y="2606040"/>
            <a:ext cx="4843120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9536" y="2834640"/>
            <a:ext cx="91440" cy="914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770632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Trefoil Formation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Route in grouped trefoils to balance induced magnetic fields.</a:t>
            </a:r>
          </a:p>
        </p:txBody>
      </p:sp>
      <p:sp>
        <p:nvSpPr>
          <p:cNvPr id="24" name="Oval 23"/>
          <p:cNvSpPr/>
          <p:nvPr/>
        </p:nvSpPr>
        <p:spPr>
          <a:xfrm>
            <a:off x="859536" y="3529584"/>
            <a:ext cx="91440" cy="914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465576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Single-Layer Rule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Strictly no multi-layer stacking; space groups by 2 × cable diameter.</a:t>
            </a:r>
          </a:p>
        </p:txBody>
      </p:sp>
      <p:sp>
        <p:nvSpPr>
          <p:cNvPr id="26" name="Oval 25"/>
          <p:cNvSpPr/>
          <p:nvPr/>
        </p:nvSpPr>
        <p:spPr>
          <a:xfrm>
            <a:off x="859536" y="4224528"/>
            <a:ext cx="91440" cy="914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160520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Short-Circuit Cleating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Rated cleats every 1.5 m to withstand dynamic electromagnetic forces.</a:t>
            </a:r>
          </a:p>
        </p:txBody>
      </p:sp>
      <p:sp>
        <p:nvSpPr>
          <p:cNvPr id="28" name="Oval 27"/>
          <p:cNvSpPr/>
          <p:nvPr/>
        </p:nvSpPr>
        <p:spPr>
          <a:xfrm>
            <a:off x="859536" y="4919472"/>
            <a:ext cx="91440" cy="9144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855464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Non-Magnetic Clamps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Stainless steel or aluminium hardware to stop eddy-current heating.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1709928"/>
            <a:ext cx="5391759" cy="3886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61023" y="1709928"/>
            <a:ext cx="5135727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07327" y="2093976"/>
            <a:ext cx="246888" cy="246888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90791" y="2093976"/>
            <a:ext cx="246888" cy="246888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255" y="2093976"/>
            <a:ext cx="246888" cy="246888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6007" y="2011680"/>
            <a:ext cx="40201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2B46"/>
                </a:solidFill>
                <a:latin typeface="Calibri"/>
                <a:ea typeface="Calibri"/>
              </a:rPr>
              <a:t>Multi-Core Cables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507327" y="2606040"/>
            <a:ext cx="4843120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525615" y="2834640"/>
            <a:ext cx="91440" cy="91440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3359" y="2770632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Flat Side-by-Side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Low-voltage power placed touching, or spaced by 1 × cable diameter.</a:t>
            </a:r>
          </a:p>
        </p:txBody>
      </p:sp>
      <p:sp>
        <p:nvSpPr>
          <p:cNvPr id="39" name="Oval 38"/>
          <p:cNvSpPr/>
          <p:nvPr/>
        </p:nvSpPr>
        <p:spPr>
          <a:xfrm>
            <a:off x="6525615" y="3529584"/>
            <a:ext cx="91440" cy="91440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3359" y="3465576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Thermal Stacking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Avoid multi-layer stacking unless ampacity derating is applied.</a:t>
            </a:r>
          </a:p>
        </p:txBody>
      </p:sp>
      <p:sp>
        <p:nvSpPr>
          <p:cNvPr id="41" name="Oval 40"/>
          <p:cNvSpPr/>
          <p:nvPr/>
        </p:nvSpPr>
        <p:spPr>
          <a:xfrm>
            <a:off x="6525615" y="4224528"/>
            <a:ext cx="91440" cy="91440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3359" y="4160520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Direct Tie Fastening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UV-resistant heavy nylon or coated steel ties on rungs.</a:t>
            </a:r>
          </a:p>
        </p:txBody>
      </p:sp>
      <p:sp>
        <p:nvSpPr>
          <p:cNvPr id="43" name="Oval 42"/>
          <p:cNvSpPr/>
          <p:nvPr/>
        </p:nvSpPr>
        <p:spPr>
          <a:xfrm>
            <a:off x="6525615" y="4919472"/>
            <a:ext cx="91440" cy="91440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3359" y="4855464"/>
            <a:ext cx="456879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F2B46"/>
                </a:solidFill>
                <a:latin typeface="Calibri"/>
                <a:ea typeface="Calibri"/>
              </a:rPr>
              <a:t>Vertical Rung Anchoring — </a:t>
            </a: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Support multi-core every 450 mm on vertical risers.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ELECTROMAGNETIC COMPATIBILITY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Voltage Segregation &amp; Separation Distances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Maintain 90° right-angle crossings wherever signal trays must cross power routes.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1709928"/>
          <a:ext cx="11055096" cy="36393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291840"/>
                <a:gridCol w="2103120"/>
                <a:gridCol w="3374136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Tray Level / Class</a:t>
                      </a:r>
                    </a:p>
                  </a:txBody>
                  <a:tcPr marL="164592" marR="91440" marT="54864" marB="54864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Voltage Level</a:t>
                      </a:r>
                    </a:p>
                  </a:txBody>
                  <a:tcPr marL="164592" marR="91440" marT="54864" marB="54864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Vertical Separation</a:t>
                      </a:r>
                    </a:p>
                  </a:txBody>
                  <a:tcPr marL="164592" marR="91440" marT="54864" marB="54864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Physical Divider Rule</a:t>
                      </a:r>
                    </a:p>
                  </a:txBody>
                  <a:tcPr marL="164592" marR="91440" marT="54864" marB="54864" anchor="ctr">
                    <a:solidFill>
                      <a:srgbClr val="0F2B4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B46"/>
                          </a:solidFill>
                          <a:latin typeface="Calibri"/>
                        </a:rPr>
                        <a:t>Top Tier  (Tier 1)</a:t>
                      </a:r>
                    </a:p>
                  </a:txBody>
                  <a:tcPr marL="45720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High Voltage  (&gt; 1 kV to 33 kV)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Top position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Separate tray; no shared services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B46"/>
                          </a:solidFill>
                          <a:latin typeface="Calibri"/>
                        </a:rPr>
                        <a:t>Tier 2</a:t>
                      </a:r>
                    </a:p>
                  </a:txBody>
                  <a:tcPr marL="457200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Low Voltage Power  (&lt; 1 kV)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300 mm from HV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Solid metallic barrier if in same tray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B46"/>
                          </a:solidFill>
                          <a:latin typeface="Calibri"/>
                        </a:rPr>
                        <a:t>Tier 3</a:t>
                      </a:r>
                    </a:p>
                  </a:txBody>
                  <a:tcPr marL="45720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Control &amp; Interlocking  (110 V / 230 V)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250 mm from LV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Perforated barrier minimum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B46"/>
                          </a:solidFill>
                          <a:latin typeface="Calibri"/>
                        </a:rPr>
                        <a:t>Bottom Tier  (Tier 4)</a:t>
                      </a:r>
                    </a:p>
                  </a:txBody>
                  <a:tcPr marL="457200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Analog &amp; Fieldbus  (&lt; 50 V / 4–20 mA)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450 mm from power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B39"/>
                          </a:solidFill>
                          <a:latin typeface="Calibri"/>
                        </a:rPr>
                        <a:t>Dedicated solid-bottom tray or conduit</a:t>
                      </a:r>
                    </a:p>
                  </a:txBody>
                  <a:tcPr marL="164592" marR="91440" marT="54864" marB="54864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749808" y="2592324"/>
            <a:ext cx="137160" cy="137160"/>
          </a:xfrm>
          <a:prstGeom prst="ellipse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3360420"/>
            <a:ext cx="137160" cy="1371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128515"/>
            <a:ext cx="137160" cy="137160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9808" y="4896612"/>
            <a:ext cx="137160" cy="1371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STRUCTURAL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NEMA VE 1 / VE 2 Support Standards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Thermal expansion: install expansion splice plates every 30 m on straight outdoor aluminium runs.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2157984"/>
            <a:ext cx="10509199" cy="1188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" y="2276856"/>
            <a:ext cx="100584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8407" y="2734056"/>
            <a:ext cx="283464" cy="6400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9554" y="2276856"/>
            <a:ext cx="100584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8114" y="2734056"/>
            <a:ext cx="283464" cy="6400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49260" y="2276856"/>
            <a:ext cx="100584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57820" y="2734056"/>
            <a:ext cx="283464" cy="6400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38967" y="2276856"/>
            <a:ext cx="100584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47527" y="2734056"/>
            <a:ext cx="283464" cy="6400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0833" y="2084832"/>
            <a:ext cx="91440" cy="26517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4741" y="171907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C87D0E"/>
                </a:solidFill>
                <a:latin typeface="Calibri"/>
                <a:ea typeface="Calibri"/>
              </a:rPr>
              <a:t>splice @ 0.25 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86553" y="1984248"/>
            <a:ext cx="0" cy="100584"/>
          </a:xfrm>
          <a:prstGeom prst="line">
            <a:avLst/>
          </a:prstGeom>
          <a:ln w="15240">
            <a:solidFill>
              <a:srgbClr val="C87D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20139" y="2980944"/>
            <a:ext cx="3289707" cy="0"/>
          </a:xfrm>
          <a:prstGeom prst="line">
            <a:avLst/>
          </a:prstGeom>
          <a:ln w="12700">
            <a:solidFill>
              <a:srgbClr val="5B70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20139" y="2907792"/>
            <a:ext cx="0" cy="146304"/>
          </a:xfrm>
          <a:prstGeom prst="line">
            <a:avLst/>
          </a:prstGeom>
          <a:ln w="12700">
            <a:solidFill>
              <a:srgbClr val="5B70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409846" y="2907792"/>
            <a:ext cx="0" cy="146304"/>
          </a:xfrm>
          <a:prstGeom prst="line">
            <a:avLst/>
          </a:prstGeom>
          <a:ln w="12700">
            <a:solidFill>
              <a:srgbClr val="5B70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20139" y="3054096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B7083"/>
                </a:solidFill>
                <a:latin typeface="Calibri"/>
                <a:ea typeface="Calibri"/>
              </a:rPr>
              <a:t>support span L (12 ft / 20 ft class)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511296"/>
            <a:ext cx="3503066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" y="3511296"/>
            <a:ext cx="3247034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730752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NEMA Load Class Ratings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379976"/>
            <a:ext cx="299100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Class 12C (100 lb/ft @ 12 ft span) or 20C (100 lb/ft @ 20 ft). Factor wind, ice, and a 200 lb concentrated worker load.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4314" y="3511296"/>
            <a:ext cx="3503066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72330" y="3511296"/>
            <a:ext cx="3247034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00346" y="3730752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Splice Joint Location — 0.25 L Rule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4379976"/>
            <a:ext cx="299100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Locate splice connectors at quarter-span distance from the support beam. Never place splices at mid-span.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3511296"/>
            <a:ext cx="3503066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49716" y="3511296"/>
            <a:ext cx="3247034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77732" y="3730752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NEMA VE 2 Fitting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4379976"/>
            <a:ext cx="299100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Support within 600 mm (2 ft) of each horizontal bend, tee, cross, or vertical reducer fitting.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INSTALLABILITY &amp; ERGONOMICS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Substation &amp; Switchgear Room Clearances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Comply with OSHA 1910 headroom and maintain a 2.1 m clear walkway below the bottom rack.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099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709928"/>
            <a:ext cx="54864" cy="1207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186537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300 mm (12 in) Top Headroom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227685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Overhead clearance above the tray side rail for cable pulling and roller guides.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815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54864" cy="1207008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3697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600 mm (24 in) Side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364845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Clear pathway between tray edge and wall or structural columns for personnel.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453128"/>
            <a:ext cx="54864" cy="1207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60857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2B46"/>
                </a:solidFill>
                <a:latin typeface="Calibri"/>
                <a:ea typeface="Calibri"/>
              </a:rPr>
              <a:t>Switchgear Dropping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02005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Align overhead trays with panel top-entry plates to avoid sharp S-bends.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76288" y="1801368"/>
            <a:ext cx="474847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79208" y="2075688"/>
            <a:ext cx="128016" cy="310896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33104" y="2852928"/>
            <a:ext cx="1920240" cy="457200"/>
          </a:xfrm>
          <a:prstGeom prst="rect">
            <a:avLst/>
          </a:prstGeom>
          <a:noFill/>
          <a:ln w="254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97696" y="2971800"/>
            <a:ext cx="237744" cy="237744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7464" y="2971800"/>
            <a:ext cx="237744" cy="237744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857232" y="2971800"/>
            <a:ext cx="237744" cy="237744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000" y="2971800"/>
            <a:ext cx="237744" cy="237744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50608" y="5074920"/>
            <a:ext cx="4199839" cy="109728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9793224" y="2185416"/>
            <a:ext cx="0" cy="667512"/>
          </a:xfrm>
          <a:prstGeom prst="line">
            <a:avLst/>
          </a:prstGeom>
          <a:ln w="17780">
            <a:solidFill>
              <a:srgbClr val="C87D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884664" y="227685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87D0E"/>
                </a:solidFill>
                <a:latin typeface="Calibri"/>
                <a:ea typeface="Calibri"/>
              </a:rPr>
              <a:t>300 mm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75904" y="2185416"/>
            <a:ext cx="2834640" cy="0"/>
          </a:xfrm>
          <a:prstGeom prst="line">
            <a:avLst/>
          </a:prstGeom>
          <a:ln w="1524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07224" y="3081528"/>
            <a:ext cx="1325880" cy="0"/>
          </a:xfrm>
          <a:prstGeom prst="line">
            <a:avLst/>
          </a:prstGeom>
          <a:ln w="17780">
            <a:solidFill>
              <a:srgbClr val="C87D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07808" y="312724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87D0E"/>
                </a:solidFill>
                <a:latin typeface="Calibri"/>
                <a:ea typeface="Calibri"/>
              </a:rPr>
              <a:t>600 mm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10544" y="3310128"/>
            <a:ext cx="0" cy="1764792"/>
          </a:xfrm>
          <a:prstGeom prst="line">
            <a:avLst/>
          </a:prstGeom>
          <a:ln w="17780">
            <a:solidFill>
              <a:srgbClr val="2E8B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283696" y="408736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8B57"/>
                </a:solidFill>
                <a:latin typeface="Calibri"/>
                <a:ea typeface="Calibri"/>
              </a:rPr>
              <a:t>2.1 m</a:t>
            </a:r>
          </a:p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8B57"/>
                </a:solidFill>
                <a:latin typeface="Calibri"/>
                <a:ea typeface="Calibri"/>
              </a:rPr>
              <a:t>walkway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PULLING STRESS &amp; FITTINGS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Cable Minimum Bending Radius (MBR)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Fitting radius rule:  R fitting  ≥  MBR of the largest cable in the tray.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755648"/>
            <a:ext cx="2330119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0299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8F1F9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029968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spc="120">
                <a:solidFill>
                  <a:srgbClr val="1F6FB2"/>
                </a:solidFill>
                <a:latin typeface="Calibri"/>
                <a:ea typeface="Calibri"/>
              </a:rPr>
              <a:t>CLASS 1</a:t>
            </a:r>
          </a:p>
        </p:txBody>
      </p:sp>
      <p:sp>
        <p:nvSpPr>
          <p:cNvPr id="19" name="Arc 18"/>
          <p:cNvSpPr/>
          <p:nvPr/>
        </p:nvSpPr>
        <p:spPr>
          <a:xfrm>
            <a:off x="2641015" y="1993392"/>
            <a:ext cx="274320" cy="274320"/>
          </a:xfrm>
          <a:prstGeom prst="arc">
            <a:avLst>
              <a:gd name="adj1" fmla="val 10800000"/>
              <a:gd name="adj2" fmla="val 16200000"/>
            </a:avLst>
          </a:prstGeom>
          <a:noFill/>
          <a:ln w="38100">
            <a:solidFill>
              <a:srgbClr val="36A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295" y="2221992"/>
            <a:ext cx="100584" cy="100584"/>
          </a:xfrm>
          <a:prstGeom prst="ellipse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88336"/>
            <a:ext cx="20740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36A9E0"/>
                </a:solidFill>
                <a:latin typeface="Calibri"/>
                <a:ea typeface="Calibri"/>
              </a:rPr>
              <a:t>6 × 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29584"/>
            <a:ext cx="20740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Control / Signal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3986784"/>
            <a:ext cx="2074087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4114800"/>
            <a:ext cx="20740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Unarmored instrument pairs; select 300 mm fitting radius.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0823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18839" y="1755648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46855" y="20299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8F1F9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6855" y="2029968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spc="120">
                <a:solidFill>
                  <a:srgbClr val="1F6FB2"/>
                </a:solidFill>
                <a:latin typeface="Calibri"/>
                <a:ea typeface="Calibri"/>
              </a:rPr>
              <a:t>CLASS 2</a:t>
            </a:r>
          </a:p>
        </p:txBody>
      </p:sp>
      <p:sp>
        <p:nvSpPr>
          <p:cNvPr id="29" name="Arc 28"/>
          <p:cNvSpPr/>
          <p:nvPr/>
        </p:nvSpPr>
        <p:spPr>
          <a:xfrm>
            <a:off x="5373471" y="1993392"/>
            <a:ext cx="365760" cy="365760"/>
          </a:xfrm>
          <a:prstGeom prst="arc">
            <a:avLst>
              <a:gd name="adj1" fmla="val 10800000"/>
              <a:gd name="adj2" fmla="val 16200000"/>
            </a:avLst>
          </a:prstGeom>
          <a:noFill/>
          <a:ln w="381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27751" y="2313432"/>
            <a:ext cx="100584" cy="100584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46855" y="2688336"/>
            <a:ext cx="20740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F6FB2"/>
                </a:solidFill>
                <a:latin typeface="Calibri"/>
                <a:ea typeface="Calibri"/>
              </a:rPr>
              <a:t>8–12 × 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46855" y="3529584"/>
            <a:ext cx="20740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LV Power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46855" y="3986784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46855" y="4114800"/>
            <a:ext cx="20740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Armored &amp; unarmored LV; select 450 mm fitting radius.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4719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42735" y="1755648"/>
            <a:ext cx="2330119" cy="4572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70751" y="20299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8F1F9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0751" y="2029968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spc="120">
                <a:solidFill>
                  <a:srgbClr val="1F6FB2"/>
                </a:solidFill>
                <a:latin typeface="Calibri"/>
                <a:ea typeface="Calibri"/>
              </a:rPr>
              <a:t>CLASS 3</a:t>
            </a:r>
          </a:p>
        </p:txBody>
      </p:sp>
      <p:sp>
        <p:nvSpPr>
          <p:cNvPr id="39" name="Arc 38"/>
          <p:cNvSpPr/>
          <p:nvPr/>
        </p:nvSpPr>
        <p:spPr>
          <a:xfrm>
            <a:off x="8105927" y="1993392"/>
            <a:ext cx="457200" cy="457200"/>
          </a:xfrm>
          <a:prstGeom prst="arc">
            <a:avLst>
              <a:gd name="adj1" fmla="val 10800000"/>
              <a:gd name="adj2" fmla="val 16200000"/>
            </a:avLst>
          </a:prstGeom>
          <a:noFill/>
          <a:ln w="38100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60207" y="2404872"/>
            <a:ext cx="100584" cy="100584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0751" y="2688336"/>
            <a:ext cx="20740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F2B46"/>
                </a:solidFill>
                <a:latin typeface="Calibri"/>
                <a:ea typeface="Calibri"/>
              </a:rPr>
              <a:t>12–15 × 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0751" y="3529584"/>
            <a:ext cx="20740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MV / HV Shielded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70751" y="3986784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70751" y="4114800"/>
            <a:ext cx="20740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Medium-voltage tape shield; specify 600–900 mm fitting radius.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38615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66631" y="1755648"/>
            <a:ext cx="2330119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94647" y="20299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8F1F9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4647" y="2029968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spc="120">
                <a:solidFill>
                  <a:srgbClr val="1F6FB2"/>
                </a:solidFill>
                <a:latin typeface="Calibri"/>
                <a:ea typeface="Calibri"/>
              </a:rPr>
              <a:t>CLASS 4</a:t>
            </a:r>
          </a:p>
        </p:txBody>
      </p:sp>
      <p:sp>
        <p:nvSpPr>
          <p:cNvPr id="49" name="Arc 48"/>
          <p:cNvSpPr/>
          <p:nvPr/>
        </p:nvSpPr>
        <p:spPr>
          <a:xfrm>
            <a:off x="10838383" y="1993392"/>
            <a:ext cx="548640" cy="548640"/>
          </a:xfrm>
          <a:prstGeom prst="arc">
            <a:avLst>
              <a:gd name="adj1" fmla="val 10800000"/>
              <a:gd name="adj2" fmla="val 162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2663" y="2496312"/>
            <a:ext cx="100584" cy="10058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4647" y="2688336"/>
            <a:ext cx="20740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5A623"/>
                </a:solidFill>
                <a:latin typeface="Calibri"/>
                <a:ea typeface="Calibri"/>
              </a:rPr>
              <a:t>20 × 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4647" y="3529584"/>
            <a:ext cx="20740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Optical Fiber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294647" y="3986784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294647" y="4114800"/>
            <a:ext cx="20740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Dynamic pulling limit to prevent internal glass micro-fractures.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ENVIRONMENTAL &amp; THERMAL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Cable Tray Cover Philosophy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Specify heavy-duty stainless steel cover hold-down clamps rated for local design wind velocities.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755648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2340864"/>
            <a:ext cx="914400" cy="914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>
            <a:off x="768096" y="2103120"/>
            <a:ext cx="1024128" cy="219456"/>
          </a:xfrm>
          <a:prstGeom prst="triangl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6243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Peaked / Flanged Covers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55848"/>
            <a:ext cx="207408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Pitched profile sheds rainwater, snow, and chemical process deposits outdoors.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608576"/>
            <a:ext cx="2074087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4718304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USE  </a:t>
            </a:r>
            <a:r>
              <a:rPr sz="1150" b="1">
                <a:solidFill>
                  <a:srgbClr val="1C2B39"/>
                </a:solidFill>
                <a:latin typeface="Calibri"/>
                <a:ea typeface="Calibri"/>
              </a:rPr>
              <a:t>Outdoor racks &amp; pipe bridges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90823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18839" y="1755648"/>
            <a:ext cx="2330119" cy="4572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46855" y="2340864"/>
            <a:ext cx="914400" cy="914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91991" y="2176272"/>
            <a:ext cx="1024128" cy="91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6855" y="26243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Mechanical 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6855" y="3355848"/>
            <a:ext cx="207408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Solid covers mandatory within 1.8 m of platforms, stairs, and crane lift corridors.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46855" y="4608576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46855" y="4718304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USE  </a:t>
            </a:r>
            <a:r>
              <a:rPr sz="1150" b="1">
                <a:solidFill>
                  <a:srgbClr val="1C2B39"/>
                </a:solidFill>
                <a:latin typeface="Calibri"/>
                <a:ea typeface="Calibri"/>
              </a:rPr>
              <a:t>Falling tool &amp; slag zones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4719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42735" y="1755648"/>
            <a:ext cx="2330119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70751" y="2340864"/>
            <a:ext cx="914400" cy="914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6827367" y="2029968"/>
            <a:ext cx="201168" cy="274320"/>
          </a:xfrm>
          <a:prstGeom prst="down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0751" y="26243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Ampacity Derating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0751" y="3355848"/>
            <a:ext cx="207408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Solid unventilated covers trap heat, penalizing cable ampacity by 10% to 15%.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70751" y="4608576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70751" y="4718304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DERATING  </a:t>
            </a:r>
            <a:r>
              <a:rPr sz="1150" b="1">
                <a:solidFill>
                  <a:srgbClr val="1C2B39"/>
                </a:solidFill>
                <a:latin typeface="Calibri"/>
                <a:ea typeface="Calibri"/>
              </a:rPr>
              <a:t>Apply 0.85 – 0.90 factor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8615" y="1755648"/>
            <a:ext cx="2586151" cy="3703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66631" y="1755648"/>
            <a:ext cx="2330119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4647" y="2340864"/>
            <a:ext cx="914400" cy="914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39783" y="2066544"/>
            <a:ext cx="1024128" cy="9144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04375" y="2157984"/>
            <a:ext cx="64008" cy="18288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35311" y="2157984"/>
            <a:ext cx="64008" cy="18288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4647" y="26243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00" b="1">
                <a:solidFill>
                  <a:srgbClr val="0F2B46"/>
                </a:solidFill>
                <a:latin typeface="Calibri"/>
                <a:ea typeface="Calibri"/>
              </a:rPr>
              <a:t>Raised Standoff Spacers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4647" y="3355848"/>
            <a:ext cx="207408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25–50 mm raised cover brackets restore convective airflow while blocking sunlight.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94647" y="4608576"/>
            <a:ext cx="2074088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94647" y="4718304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spc="140">
                <a:solidFill>
                  <a:srgbClr val="C87D0E"/>
                </a:solidFill>
                <a:latin typeface="Calibri"/>
                <a:ea typeface="Calibri"/>
              </a:rPr>
              <a:t>FIX  </a:t>
            </a:r>
            <a:r>
              <a:rPr sz="1150" b="1">
                <a:solidFill>
                  <a:srgbClr val="1C2B39"/>
                </a:solidFill>
                <a:latin typeface="Calibri"/>
                <a:ea typeface="Calibri"/>
              </a:rPr>
              <a:t>Avoids thermal choke points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CIVIL &amp; SUBSTATION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Underground Cable Trench Standards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Segregate MV power on one side wall and control / instrumentation on the opposing trench wall.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7099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709928"/>
            <a:ext cx="54864" cy="1207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1847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Precast Trench &amp; 1:100 Bed Slope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2240280"/>
            <a:ext cx="5394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Reinforced concrete with continuous longitudinal slope towards sumps to eliminate standing water.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815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54864" cy="1207008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186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Wall-Mounted Cable Racking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3611880"/>
            <a:ext cx="5394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Unistrut cantilever brackets along walls; bottom cable level raised ≥ 100 mm off the trench floor.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5852160" cy="12070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453128"/>
            <a:ext cx="54864" cy="1207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5902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Cover Class &amp; Entry Seals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983480"/>
            <a:ext cx="5394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Heavy RCC / chequered covers for roads; fire-rated gas-tight transits at building entry walls.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76288" y="1783080"/>
            <a:ext cx="474847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79208" y="2468880"/>
            <a:ext cx="201168" cy="251460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920679" y="2468880"/>
            <a:ext cx="201168" cy="251460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9208" y="4800600"/>
            <a:ext cx="3742639" cy="18288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69480" y="2267712"/>
            <a:ext cx="3962095" cy="146304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9208" y="1965960"/>
            <a:ext cx="3742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7083"/>
                </a:solidFill>
                <a:latin typeface="Calibri"/>
                <a:ea typeface="Calibri"/>
              </a:rPr>
              <a:t>RCC / chequered 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0376" y="2788920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08392" y="2596896"/>
            <a:ext cx="182880" cy="182880"/>
          </a:xfrm>
          <a:prstGeom prst="ellipse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353751" y="2788920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73207" y="2624328"/>
            <a:ext cx="146304" cy="14630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80376" y="3502152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08392" y="3310128"/>
            <a:ext cx="182880" cy="182880"/>
          </a:xfrm>
          <a:prstGeom prst="ellipse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53751" y="3502152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73207" y="3337560"/>
            <a:ext cx="146304" cy="14630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80376" y="4215384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708392" y="4023360"/>
            <a:ext cx="182880" cy="182880"/>
          </a:xfrm>
          <a:prstGeom prst="ellipse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353751" y="4215384"/>
            <a:ext cx="566928" cy="64008"/>
          </a:xfrm>
          <a:prstGeom prst="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573207" y="4050792"/>
            <a:ext cx="146304" cy="14630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70648" y="50383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A2B"/>
                </a:solidFill>
                <a:latin typeface="Calibri"/>
                <a:ea typeface="Calibri"/>
              </a:rPr>
              <a:t>MV power wall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47327" y="50383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2E8B57"/>
                </a:solidFill>
                <a:latin typeface="Calibri"/>
                <a:ea typeface="Calibri"/>
              </a:rPr>
              <a:t>Instrument wall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836408" y="4709160"/>
            <a:ext cx="2828239" cy="54864"/>
          </a:xfrm>
          <a:prstGeom prst="line">
            <a:avLst/>
          </a:prstGeom>
          <a:ln w="2032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79208" y="4416552"/>
            <a:ext cx="3742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36A9E0"/>
                </a:solidFill>
                <a:latin typeface="Calibri"/>
                <a:ea typeface="Calibri"/>
              </a:rPr>
              <a:t>1:100 slope → sump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DIGITAL ENGINEERING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BIM / 3D Clash Coordination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Conduct clash tests at 0 mm tolerance for structural steel and 25 mm for insulated piping.</a:t>
            </a:r>
          </a:p>
        </p:txBody>
      </p:sp>
      <p:pic>
        <p:nvPicPr>
          <p:cNvPr id="15" name="Picture 14" descr="bim_c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9928"/>
            <a:ext cx="5120640" cy="3611880"/>
          </a:xfrm>
          <a:prstGeom prst="rect">
            <a:avLst/>
          </a:prstGeom>
          <a:ln w="15240">
            <a:solidFill>
              <a:srgbClr val="D9E2EC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66928" y="53675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7083"/>
                </a:solidFill>
                <a:latin typeface="Calibri"/>
                <a:ea typeface="Calibri"/>
              </a:rPr>
              <a:t>Clash detection — structural vs MEP  (image: united-bim.com)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53328" y="1709928"/>
            <a:ext cx="5571439" cy="1143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3328" y="1709928"/>
            <a:ext cx="54864" cy="1143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50227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Piping Right-of-Way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212848"/>
            <a:ext cx="502279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Route cable trays ABOVE steam, hydrocarbon, and slurry pipes to eliminate leak-dripping hazards.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3328" y="2990088"/>
            <a:ext cx="5571439" cy="1143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3328" y="2990088"/>
            <a:ext cx="54864" cy="114300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3118104"/>
            <a:ext cx="50227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HVAC Duct Clearances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493008"/>
            <a:ext cx="502279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Maintain 150 mm minimum separation from chilled-air ducts to stop surface thermal condensation.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4270248"/>
            <a:ext cx="5571439" cy="1143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53328" y="4270248"/>
            <a:ext cx="54864" cy="1143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4398264"/>
            <a:ext cx="50227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Zero Soft Clashes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4773168"/>
            <a:ext cx="502279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80" b="0">
                <a:solidFill>
                  <a:srgbClr val="5B7083"/>
                </a:solidFill>
                <a:latin typeface="Calibri"/>
                <a:ea typeface="Calibri"/>
              </a:rPr>
              <a:t>Model cable pull envelopes and maintenance zones directly in Revit / Navisworks models.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SAFETY &amp;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Earthing, Bonding &amp; Grounding  (NEC 250)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Remove paint, anodized coating, and lacquer completely at all bonding contact lugs.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892808"/>
            <a:ext cx="2586151" cy="3154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" y="1892808"/>
            <a:ext cx="2330119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78992" y="2185416"/>
            <a:ext cx="0" cy="201168"/>
          </a:xfrm>
          <a:prstGeom prst="line">
            <a:avLst/>
          </a:prstGeom>
          <a:ln w="27940">
            <a:solidFill>
              <a:srgbClr val="1F6F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41247" y="2404872"/>
            <a:ext cx="475488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" y="2496312"/>
            <a:ext cx="310896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6695" y="2587752"/>
            <a:ext cx="164592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8529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Bonding Jumpers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84448"/>
            <a:ext cx="207408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5B7083"/>
                </a:solidFill>
                <a:latin typeface="Calibri"/>
                <a:ea typeface="Calibri"/>
              </a:rPr>
              <a:t>Flexible copper braid jumpers across every expansion joint, swivel, and reducer.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90823" y="1892808"/>
            <a:ext cx="2586151" cy="3154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18839" y="1892808"/>
            <a:ext cx="2330119" cy="45720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902887" y="2185416"/>
            <a:ext cx="0" cy="201168"/>
          </a:xfrm>
          <a:prstGeom prst="line">
            <a:avLst/>
          </a:prstGeom>
          <a:ln w="27940">
            <a:solidFill>
              <a:srgbClr val="36A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665143" y="2404872"/>
            <a:ext cx="475488" cy="41148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7439" y="2496312"/>
            <a:ext cx="310896" cy="41148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20591" y="2587752"/>
            <a:ext cx="164592" cy="41148"/>
          </a:xfrm>
          <a:prstGeom prst="rect">
            <a:avLst/>
          </a:prstGeom>
          <a:solidFill>
            <a:srgbClr val="36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46855" y="28529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Main Grid Taps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6855" y="3584448"/>
            <a:ext cx="207408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5B7083"/>
                </a:solidFill>
                <a:latin typeface="Calibri"/>
                <a:ea typeface="Calibri"/>
              </a:rPr>
              <a:t>Connect tray spine to the main earthing ring at 20 m intervals using 70 mm² bare copper.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4719" y="1892808"/>
            <a:ext cx="2586151" cy="3154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42735" y="1892808"/>
            <a:ext cx="2330119" cy="45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26783" y="2185416"/>
            <a:ext cx="0" cy="201168"/>
          </a:xfrm>
          <a:prstGeom prst="line">
            <a:avLst/>
          </a:prstGeom>
          <a:ln w="2794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89039" y="2404872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71335" y="2496312"/>
            <a:ext cx="310896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44487" y="2587752"/>
            <a:ext cx="164592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0751" y="28529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Low Resistance Limit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0751" y="3584448"/>
            <a:ext cx="207408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5B7083"/>
                </a:solidFill>
                <a:latin typeface="Calibri"/>
                <a:ea typeface="Calibri"/>
              </a:rPr>
              <a:t>Measure end-to-end path resistance; must not exceed 0.1 Ω per IEEE Std 525.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8615" y="1892808"/>
            <a:ext cx="2586151" cy="3154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9E2EC"/>
            </a:solidFill>
          </a:ln>
          <a:effectLst>
            <a:outerShdw blurRad="140000" dist="50000" dir="5400000" rotWithShape="0">
              <a:srgbClr val="16314E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66631" y="1892808"/>
            <a:ext cx="2330119" cy="4572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9550679" y="2185416"/>
            <a:ext cx="0" cy="201168"/>
          </a:xfrm>
          <a:prstGeom prst="line">
            <a:avLst/>
          </a:prstGeom>
          <a:ln w="27940">
            <a:solidFill>
              <a:srgbClr val="0F2B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312935" y="2404872"/>
            <a:ext cx="475488" cy="411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95231" y="2496312"/>
            <a:ext cx="310896" cy="411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68383" y="2587752"/>
            <a:ext cx="164592" cy="411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4647" y="2852928"/>
            <a:ext cx="2074087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550" b="1">
                <a:solidFill>
                  <a:srgbClr val="0F2B46"/>
                </a:solidFill>
                <a:latin typeface="Calibri"/>
                <a:ea typeface="Calibri"/>
              </a:rPr>
              <a:t>Equipment Grounding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4647" y="3584448"/>
            <a:ext cx="207408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5B7083"/>
                </a:solidFill>
                <a:latin typeface="Calibri"/>
                <a:ea typeface="Calibri"/>
              </a:rPr>
              <a:t>Tray cannot substitute for the dedicated EGC green wire in branch circuits.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QUALITY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Design Review &amp; QA/QC Gate Checklist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70448"/>
            <a:ext cx="11057839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50292" cy="5120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7316"/>
            <a:ext cx="1143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60">
                <a:solidFill>
                  <a:srgbClr val="C87D0E"/>
                </a:solidFill>
                <a:latin typeface="Calibri"/>
                <a:ea typeface="Calibri"/>
              </a:rPr>
              <a:t>FIELD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5925312"/>
            <a:ext cx="941191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B39"/>
                </a:solidFill>
                <a:latin typeface="Calibri"/>
                <a:ea typeface="Calibri"/>
              </a:rPr>
              <a:t>Complete sign-off by the Lead Electrical Engineer prior to issuing drawings for construction (IFC).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682496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" y="1828800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181965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1682496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Fill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1682496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Cross-sectional fill verified ≤ 40% (power) and 50% (control) with 20% spare.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382012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8096" y="2528316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5191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6736" y="2382012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Fitting Radius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2382012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Tray bend radii ≥ minimum bending radius of the thickest cable.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81528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8096" y="3227832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21868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6736" y="3081528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Segregation Matrix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3081528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HV, LV, and instrumentation lines placed on correct vertical tiers.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781044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8096" y="3927348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91820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16736" y="3781044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Support Calculations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73168" y="3781044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Structural spans validated under NEMA VE 1 with the 0.25 L splice rule.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480560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8096" y="4626864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6177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16736" y="4480560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Cover &amp; Trench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4480560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Outdoor peaked covers, ampacity derating, and trench drains checked.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180076"/>
            <a:ext cx="11057839" cy="62179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8096" y="5326380"/>
            <a:ext cx="329184" cy="32918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31723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16736" y="5180076"/>
            <a:ext cx="32918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2B46"/>
                </a:solidFill>
                <a:latin typeface="Calibri"/>
                <a:ea typeface="Calibri"/>
              </a:rPr>
              <a:t>Penetration Details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73168" y="5180076"/>
            <a:ext cx="6577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7083"/>
                </a:solidFill>
                <a:latin typeface="Calibri"/>
                <a:ea typeface="Calibri"/>
              </a:rPr>
              <a:t>2-hour UL-listed firestops and gas barrier seals scheduled on the MTO.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822959"/>
            <a:ext cx="914400" cy="914400"/>
          </a:xfrm>
          <a:prstGeom prst="ellipse">
            <a:avLst/>
          </a:prstGeom>
          <a:noFill/>
          <a:ln w="20320">
            <a:solidFill>
              <a:srgbClr val="2A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56648" y="1609343"/>
            <a:ext cx="914400" cy="914400"/>
          </a:xfrm>
          <a:prstGeom prst="ellipse">
            <a:avLst/>
          </a:prstGeom>
          <a:noFill/>
          <a:ln w="20320">
            <a:solidFill>
              <a:srgbClr val="2A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3032" y="1609343"/>
            <a:ext cx="914400" cy="914400"/>
          </a:xfrm>
          <a:prstGeom prst="ellipse">
            <a:avLst/>
          </a:prstGeom>
          <a:noFill/>
          <a:ln w="20320">
            <a:solidFill>
              <a:srgbClr val="2A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0" y="4206240"/>
            <a:ext cx="2377440" cy="2377440"/>
          </a:xfrm>
          <a:prstGeom prst="ellipse">
            <a:avLst/>
          </a:prstGeom>
          <a:noFill/>
          <a:ln w="15240">
            <a:solidFill>
              <a:srgbClr val="1E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36A9E0"/>
                </a:solidFill>
                <a:latin typeface="Calibri"/>
                <a:ea typeface="Calibri"/>
              </a:rPr>
              <a:t>ENGINEERING TRAINING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</a:rPr>
              <a:t>Thanks &amp; Discussion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3063240"/>
            <a:ext cx="1371600" cy="0"/>
          </a:xfrm>
          <a:prstGeom prst="line">
            <a:avLst/>
          </a:prstGeom>
          <a:ln w="3810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333756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B9CDDE"/>
                </a:solidFill>
                <a:latin typeface="Calibri"/>
                <a:ea typeface="Calibri"/>
              </a:rPr>
              <a:t>Safe raceway design balances electrical segregation, structural loading, thermal derating, and constructability in field execution.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177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40">
                <a:solidFill>
                  <a:srgbClr val="8FA9C0"/>
                </a:solidFill>
                <a:latin typeface="Calibri"/>
                <a:ea typeface="Calibri"/>
              </a:rPr>
              <a:t>REFERENCE STANDARDS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983480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983480"/>
            <a:ext cx="1143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NEC 392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11095" y="4983480"/>
            <a:ext cx="182880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11095" y="498348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NEMA VE 1 / VE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41064" y="49834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49834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IEEE Std 525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05272" y="498348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498348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IEC 61537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983480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4983480"/>
            <a:ext cx="13258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120">
                <a:solidFill>
                  <a:srgbClr val="DBE9F5"/>
                </a:solidFill>
                <a:latin typeface="Calibri"/>
                <a:ea typeface="Calibri"/>
              </a:rPr>
              <a:t>OSHA 1910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Hans Raj</a:t>
            </a:r>
            <a:r>
              <a:rPr sz="1400" b="0">
                <a:solidFill>
                  <a:srgbClr val="8FA9C0"/>
                </a:solidFill>
                <a:latin typeface="Calibri"/>
                <a:ea typeface="Calibri"/>
              </a:rPr>
              <a:t>   |   Air Liquide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41148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260">
                <a:solidFill>
                  <a:srgbClr val="C87D0E"/>
                </a:solidFill>
                <a:latin typeface="Calibri"/>
                <a:ea typeface="Calibri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2B46"/>
                </a:solidFill>
                <a:latin typeface="Calibri"/>
                <a:ea typeface="Calibri"/>
              </a:rPr>
              <a:t>Image Sources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" y="1243584"/>
            <a:ext cx="1280160" cy="0"/>
          </a:xfrm>
          <a:prstGeom prst="line">
            <a:avLst/>
          </a:prstGeom>
          <a:ln w="30480">
            <a:solidFill>
              <a:srgbClr val="F5A62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65376" y="1243584"/>
            <a:ext cx="9759391" cy="0"/>
          </a:xfrm>
          <a:prstGeom prst="line">
            <a:avLst/>
          </a:prstGeom>
          <a:ln w="12700">
            <a:solidFill>
              <a:srgbClr val="D9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5B7083"/>
                </a:solidFill>
                <a:latin typeface="Calibri"/>
                <a:ea typeface="Calibri"/>
              </a:rPr>
              <a:t>Cable Tray Routing &amp; Raceway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5B7083"/>
                </a:solidFill>
                <a:latin typeface="Calibri"/>
                <a:ea typeface="Calibri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4708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2B46"/>
                </a:solidFill>
                <a:latin typeface="Calibri"/>
                <a:ea typeface="Calibri"/>
              </a:rPr>
              <a:t>BIM clash detection render (slide 12):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2585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6FB2"/>
                </a:solidFill>
                <a:latin typeface="Calibri"/>
                <a:ea typeface="Calibri"/>
              </a:rPr>
              <a:t>https://www.united-bim.com/wp-content/uploads/2019/04/Clash-detection-for-hotel-project-of-structural-and-MEP.jpg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7004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Source: www.united-bim.com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4015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083"/>
                </a:solidFill>
                <a:latin typeface="Calibri"/>
                <a:ea typeface="Calibri"/>
              </a:rPr>
              <a:t>All diagrams are original vector illustrations created for this training deck.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