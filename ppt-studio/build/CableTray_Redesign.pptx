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Today we cover the complete design workflow for cable tray and raceway systems: tray hardware selection, NEC 392 fill limits, voltage segregation, NEMA structural supports, bending radius, covers, trenches, BIM coordination, earthing and the final QA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modules: hardware selection, NEC 392 fill capacity, EMI segregation, and NEMA structural supports. Everything feeds the final QA checklist before IFC.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Ladder for heavy power and ventilation; solid bottom for instrumentation and EMI shielding; wire mesh for telecom; channel tray for single branch drops. Material per environment: HDG steel, 6063-T6 aluminum, FRP.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NEC 392.22 working limits: 40% fill for multiconductor power, 50% for control/signal, and hold 20% spare capacity for future expansion. The width formula is an area method with a 1.25 packing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Single-core AC circuits must run in trefoil with non-magnetic cleats — bundling them wrong induces circulating currents and overheating. Multi-core runs flat, single layer, derated if stacked.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Vertical tier order: HV on top, then LV power, control, and analog/fieldbus at the bottom, with the separations shown. Where trays must cross, do it at 90 degrees to minimise coupling.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NEMA class = load per foot at a given span: 12C is 100 lb/ft at 12 ft. Add wind, ice and a 200 lb worker point load. Splices go at quarter span — never mid-span where bending moment peaks. Fittings get a support within 600 mm.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clearances to defend in layout reviews: 300 mm above the rail for pulling gear, 600 mm personnel access beside the tray, and 2.1 m headroom below the bottom rack per OSHA 1910.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Minimum bending radius scales with cable construction — from 6×OD for unarmored instrument pairs up to 20×OD for optical fiber during pulling. Tray fitting radius must meet or exceed the largest cable's MBR.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are a trade-off: they protect outdoors and under platforms, but solid covers cost 10–15% ampacity. Raised standoff spacers give sun/debris protection while keeping convective cooling.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Trench rules: precast RCC with a 1:100 fall to sumps, cables racked on walls at least 100 mm off the floor, MV and instrumentation on opposite walls, heavy covers at road crossings and gas-tight transits into buildings.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3D model: trays go above leak-prone piping, 150 mm off chilled ducts, and we model pull envelopes and maintenance space as objects so soft clashes are caught before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Grounding continuity: braid jumpers at every mechanical break, earthing-ring taps every 20 m with 70 mm² bare copper, verified below 0.1 ohm end-to-end, and the tray never replaces the equipment grounding conductor.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gates before IFC: fill, bending radius, segregation tiers, support spans, covers/trench, and fire-stopped penetrations — signed off by the Lead Electrical Engineer.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floor for questions; recap the four pillars: segregation, structure, thermal, constructability.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68712" y="1022299"/>
            <a:ext cx="950976" cy="950976"/>
          </a:xfrm>
          <a:prstGeom prst="ellipse">
            <a:avLst/>
          </a:prstGeom>
          <a:noFill/>
          <a:ln w="20320">
            <a:solidFill>
              <a:srgbClr val="2A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59792" y="1840138"/>
            <a:ext cx="950976" cy="950976"/>
          </a:xfrm>
          <a:prstGeom prst="ellipse">
            <a:avLst/>
          </a:prstGeom>
          <a:noFill/>
          <a:ln w="20320">
            <a:solidFill>
              <a:srgbClr val="2A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77631" y="1840138"/>
            <a:ext cx="950976" cy="950976"/>
          </a:xfrm>
          <a:prstGeom prst="ellipse">
            <a:avLst/>
          </a:prstGeom>
          <a:noFill/>
          <a:ln w="20320">
            <a:solidFill>
              <a:srgbClr val="2A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55480" y="4572000"/>
            <a:ext cx="2423160" cy="2423160"/>
          </a:xfrm>
          <a:prstGeom prst="ellipse">
            <a:avLst/>
          </a:prstGeom>
          <a:noFill/>
          <a:ln w="15240">
            <a:solidFill>
              <a:srgbClr val="1E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1389888"/>
            <a:ext cx="1371600" cy="0"/>
          </a:xfrm>
          <a:prstGeom prst="line">
            <a:avLst/>
          </a:prstGeom>
          <a:ln w="38100">
            <a:solidFill>
              <a:srgbClr val="F5A6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157276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300">
                <a:solidFill>
                  <a:srgbClr val="36A9E0"/>
                </a:solidFill>
                <a:latin typeface="Calibri"/>
                <a:ea typeface="Calibri"/>
              </a:rPr>
              <a:t>INDUSTRIAL ELECTRICAL &amp; INSTRUMENTATION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93392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</a:rPr>
              <a:t>Cable Tray Routing &amp;</a:t>
            </a:r>
          </a:p>
          <a:p>
            <a:pPr algn="l">
              <a:lnSpc>
                <a:spcPct val="102000"/>
              </a:lnSpc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</a:rPr>
              <a:t>Raceway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79476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B9CDDE"/>
                </a:solidFill>
                <a:latin typeface="Calibri"/>
                <a:ea typeface="Calibri"/>
              </a:rPr>
              <a:t>Design standards, fill factors, structural supports, clearances, covers, and underground trenches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526280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spc="120">
                <a:solidFill>
                  <a:srgbClr val="DBE9F5"/>
                </a:solidFill>
                <a:latin typeface="Calibri"/>
                <a:ea typeface="Calibri"/>
              </a:rPr>
              <a:t>NEC 392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11095" y="4526280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11095" y="4526280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spc="120">
                <a:solidFill>
                  <a:srgbClr val="DBE9F5"/>
                </a:solidFill>
                <a:latin typeface="Calibri"/>
                <a:ea typeface="Calibri"/>
              </a:rPr>
              <a:t>NEMA VE 1 / VE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41064" y="4526280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41064" y="4526280"/>
            <a:ext cx="1463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spc="120">
                <a:solidFill>
                  <a:srgbClr val="DBE9F5"/>
                </a:solidFill>
                <a:latin typeface="Calibri"/>
                <a:ea typeface="Calibri"/>
              </a:rPr>
              <a:t>IEEE Std 525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05272" y="4526280"/>
            <a:ext cx="1280160" cy="420624"/>
          </a:xfrm>
          <a:prstGeom prst="roundRect">
            <a:avLst>
              <a:gd name="adj" fmla="val 50000"/>
            </a:avLst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05272" y="4526280"/>
            <a:ext cx="1280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spc="120">
                <a:solidFill>
                  <a:srgbClr val="DBE9F5"/>
                </a:solidFill>
                <a:latin typeface="Calibri"/>
                <a:ea typeface="Calibri"/>
              </a:rPr>
              <a:t>IEC 61537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4526280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4526280"/>
            <a:ext cx="1325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spc="120">
                <a:solidFill>
                  <a:srgbClr val="DBE9F5"/>
                </a:solidFill>
                <a:latin typeface="Calibri"/>
                <a:ea typeface="Calibri"/>
              </a:rPr>
              <a:t>OSHA 1910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5577840"/>
            <a:ext cx="4187952" cy="0"/>
          </a:xfrm>
          <a:prstGeom prst="line">
            <a:avLst/>
          </a:prstGeom>
          <a:ln w="12700">
            <a:solidFill>
              <a:srgbClr val="2A4A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57607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Hans Raj</a:t>
            </a:r>
            <a:r>
              <a:rPr sz="1400" b="0">
                <a:solidFill>
                  <a:srgbClr val="8FA9C0"/>
                </a:solidFill>
                <a:latin typeface="Calibri"/>
                <a:ea typeface="Calibri"/>
              </a:rPr>
              <a:t>   |   Air Liquide  ·  Engineering Training  ·  October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260">
                <a:solidFill>
                  <a:srgbClr val="C87D0E"/>
                </a:solidFill>
                <a:latin typeface="Calibri"/>
                <a:ea typeface="Calibri"/>
              </a:rPr>
              <a:t>TRAINING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B46"/>
                </a:solidFill>
                <a:latin typeface="Calibri"/>
                <a:ea typeface="Calibri"/>
              </a:rPr>
              <a:t>Core Design Modules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5216" y="1243584"/>
            <a:ext cx="1280160" cy="0"/>
          </a:xfrm>
          <a:prstGeom prst="line">
            <a:avLst/>
          </a:prstGeom>
          <a:ln w="30480">
            <a:solidFill>
              <a:srgbClr val="F5A6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65376" y="1243584"/>
            <a:ext cx="9759391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5B7083"/>
                </a:solidFill>
                <a:latin typeface="Calibri"/>
                <a:ea typeface="Calibri"/>
              </a:rPr>
              <a:t>Cable Tray Routing &amp; Raceway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5B7083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870448"/>
            <a:ext cx="50292" cy="5120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957316"/>
            <a:ext cx="1143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60">
                <a:solidFill>
                  <a:srgbClr val="C87D0E"/>
                </a:solidFill>
                <a:latin typeface="Calibri"/>
                <a:ea typeface="Calibri"/>
              </a:rPr>
              <a:t>FIELD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4248" y="5925312"/>
            <a:ext cx="941191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B39"/>
                </a:solidFill>
                <a:latin typeface="Calibri"/>
                <a:ea typeface="Calibri"/>
              </a:rPr>
              <a:t>Follow industry codes to avoid construction rework and thermal hazards.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984248"/>
            <a:ext cx="2586151" cy="2880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" y="1984248"/>
            <a:ext cx="2330119" cy="457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313432"/>
            <a:ext cx="475488" cy="475488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30245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08376"/>
            <a:ext cx="207408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650" b="1">
                <a:solidFill>
                  <a:srgbClr val="0F2B46"/>
                </a:solidFill>
                <a:latin typeface="Calibri"/>
                <a:ea typeface="Calibri"/>
              </a:rPr>
              <a:t>Hardware &amp;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39896"/>
            <a:ext cx="207408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B7083"/>
                </a:solidFill>
                <a:latin typeface="Calibri"/>
                <a:ea typeface="Calibri"/>
              </a:rPr>
              <a:t>Ladder, solid bottom, channel, and wire mesh configurations.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90823" y="1984248"/>
            <a:ext cx="2586151" cy="2880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18839" y="1984248"/>
            <a:ext cx="2330119" cy="45720"/>
          </a:xfrm>
          <a:prstGeom prst="rect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6855" y="2313432"/>
            <a:ext cx="475488" cy="475488"/>
          </a:xfrm>
          <a:prstGeom prst="ellipse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6855" y="230245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46855" y="3008376"/>
            <a:ext cx="207408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650" b="1">
                <a:solidFill>
                  <a:srgbClr val="0F2B46"/>
                </a:solidFill>
                <a:latin typeface="Calibri"/>
                <a:ea typeface="Calibri"/>
              </a:rPr>
              <a:t>NEC Fill Capacity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46855" y="3739896"/>
            <a:ext cx="207408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B7083"/>
                </a:solidFill>
                <a:latin typeface="Calibri"/>
                <a:ea typeface="Calibri"/>
              </a:rPr>
              <a:t>Cross-section limits, derating, and future reserve space.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4719" y="1984248"/>
            <a:ext cx="2586151" cy="2880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42735" y="1984248"/>
            <a:ext cx="2330119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70751" y="231343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0751" y="230245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0751" y="3008376"/>
            <a:ext cx="207408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650" b="1">
                <a:solidFill>
                  <a:srgbClr val="0F2B46"/>
                </a:solidFill>
                <a:latin typeface="Calibri"/>
                <a:ea typeface="Calibri"/>
              </a:rPr>
              <a:t>Segregation Rules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0751" y="3739896"/>
            <a:ext cx="207408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B7083"/>
                </a:solidFill>
                <a:latin typeface="Calibri"/>
                <a:ea typeface="Calibri"/>
              </a:rPr>
              <a:t>EMI separation between HV, LV, and instrument signals.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8615" y="1984248"/>
            <a:ext cx="2586151" cy="2880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66631" y="1984248"/>
            <a:ext cx="2330119" cy="4572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94647" y="2313432"/>
            <a:ext cx="475488" cy="475488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94647" y="230245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4647" y="3008376"/>
            <a:ext cx="207408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650" b="1">
                <a:solidFill>
                  <a:srgbClr val="0F2B46"/>
                </a:solidFill>
                <a:latin typeface="Calibri"/>
                <a:ea typeface="Calibri"/>
              </a:rPr>
              <a:t>NEMA Support Spans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4647" y="3739896"/>
            <a:ext cx="207408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B7083"/>
                </a:solidFill>
                <a:latin typeface="Calibri"/>
                <a:ea typeface="Calibri"/>
              </a:rPr>
              <a:t>Structural load classes and fitting support rules.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260">
                <a:solidFill>
                  <a:srgbClr val="C87D0E"/>
                </a:solidFill>
                <a:latin typeface="Calibri"/>
                <a:ea typeface="Calibri"/>
              </a:rPr>
              <a:t>COMPONENT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B46"/>
                </a:solidFill>
                <a:latin typeface="Calibri"/>
                <a:ea typeface="Calibri"/>
              </a:rPr>
              <a:t>Tray Geometry &amp; Industrial Service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5216" y="1243584"/>
            <a:ext cx="1280160" cy="0"/>
          </a:xfrm>
          <a:prstGeom prst="line">
            <a:avLst/>
          </a:prstGeom>
          <a:ln w="30480">
            <a:solidFill>
              <a:srgbClr val="F5A6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65376" y="1243584"/>
            <a:ext cx="9759391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5B7083"/>
                </a:solidFill>
                <a:latin typeface="Calibri"/>
                <a:ea typeface="Calibri"/>
              </a:rPr>
              <a:t>Cable Tray Routing &amp; Raceway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5B7083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870448"/>
            <a:ext cx="50292" cy="5120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957316"/>
            <a:ext cx="1143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60">
                <a:solidFill>
                  <a:srgbClr val="C87D0E"/>
                </a:solidFill>
                <a:latin typeface="Calibri"/>
                <a:ea typeface="Calibri"/>
              </a:rPr>
              <a:t>FIELD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4248" y="5925312"/>
            <a:ext cx="941191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B39"/>
                </a:solidFill>
                <a:latin typeface="Calibri"/>
                <a:ea typeface="Calibri"/>
              </a:rPr>
              <a:t>Specify hot-dip galvanized steel, marine-grade 6063-T6 aluminum, or FRP for corrosive environments.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737360"/>
            <a:ext cx="2586151" cy="37490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" y="1737360"/>
            <a:ext cx="2330119" cy="457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" y="2057400"/>
            <a:ext cx="1946071" cy="640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" y="2862072"/>
            <a:ext cx="1946071" cy="640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0120" y="2121408"/>
            <a:ext cx="54864" cy="740664"/>
          </a:xfrm>
          <a:prstGeom prst="rect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96345" y="2121408"/>
            <a:ext cx="54864" cy="740664"/>
          </a:xfrm>
          <a:prstGeom prst="rect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32571" y="2121408"/>
            <a:ext cx="54864" cy="740664"/>
          </a:xfrm>
          <a:prstGeom prst="rect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68797" y="2121408"/>
            <a:ext cx="54864" cy="740664"/>
          </a:xfrm>
          <a:prstGeom prst="rect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05023" y="2121408"/>
            <a:ext cx="54864" cy="740664"/>
          </a:xfrm>
          <a:prstGeom prst="rect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154680"/>
            <a:ext cx="211066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>
                <a:solidFill>
                  <a:srgbClr val="0F2B46"/>
                </a:solidFill>
                <a:latin typeface="Calibri"/>
                <a:ea typeface="Calibri"/>
              </a:rPr>
              <a:t>Ladder Tray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767328"/>
            <a:ext cx="211066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C2B39"/>
                </a:solidFill>
                <a:latin typeface="Calibri"/>
                <a:ea typeface="Calibri"/>
              </a:rPr>
              <a:t>9-inch or 12-inch rung spacing.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04672" y="4480560"/>
            <a:ext cx="2110663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04672" y="4590288"/>
            <a:ext cx="21106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1" spc="140">
                <a:solidFill>
                  <a:srgbClr val="C87D0E"/>
                </a:solidFill>
                <a:latin typeface="Calibri"/>
                <a:ea typeface="Calibri"/>
              </a:rPr>
              <a:t>APPLICATION  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B7083"/>
                </a:solidFill>
                <a:latin typeface="Calibri"/>
                <a:ea typeface="Calibri"/>
              </a:rPr>
              <a:t>Heavy power cables with maximum ventilation.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90823" y="1737360"/>
            <a:ext cx="2586151" cy="37490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18839" y="1737360"/>
            <a:ext cx="2330119" cy="457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10863" y="2057400"/>
            <a:ext cx="1946071" cy="868680"/>
          </a:xfrm>
          <a:prstGeom prst="rect">
            <a:avLst/>
          </a:prstGeom>
          <a:solidFill>
            <a:srgbClr val="E8F1F9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10863" y="2834640"/>
            <a:ext cx="1946071" cy="914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28567" y="3154680"/>
            <a:ext cx="211066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>
                <a:solidFill>
                  <a:srgbClr val="0F2B46"/>
                </a:solidFill>
                <a:latin typeface="Calibri"/>
                <a:ea typeface="Calibri"/>
              </a:rPr>
              <a:t>Solid Bottom / Trough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28567" y="3767328"/>
            <a:ext cx="211066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C2B39"/>
                </a:solidFill>
                <a:latin typeface="Calibri"/>
                <a:ea typeface="Calibri"/>
              </a:rPr>
              <a:t>Continuous metallic base protection.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628567" y="4480560"/>
            <a:ext cx="2110664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628567" y="4590288"/>
            <a:ext cx="21106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1" spc="140">
                <a:solidFill>
                  <a:srgbClr val="C87D0E"/>
                </a:solidFill>
                <a:latin typeface="Calibri"/>
                <a:ea typeface="Calibri"/>
              </a:rPr>
              <a:t>APPLICATION  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B7083"/>
                </a:solidFill>
                <a:latin typeface="Calibri"/>
                <a:ea typeface="Calibri"/>
              </a:rPr>
              <a:t>Sensitive instrumentation and EMI-shielded lines.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4719" y="1737360"/>
            <a:ext cx="2586151" cy="37490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42735" y="1737360"/>
            <a:ext cx="2330119" cy="457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34759" y="2057400"/>
            <a:ext cx="1946071" cy="868680"/>
          </a:xfrm>
          <a:prstGeom prst="rect">
            <a:avLst/>
          </a:prstGeom>
          <a:noFill/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6923973" y="2057400"/>
            <a:ext cx="0" cy="868680"/>
          </a:xfrm>
          <a:prstGeom prst="line">
            <a:avLst/>
          </a:prstGeom>
          <a:ln w="15240">
            <a:solidFill>
              <a:srgbClr val="36A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313188" y="2057400"/>
            <a:ext cx="0" cy="868680"/>
          </a:xfrm>
          <a:prstGeom prst="line">
            <a:avLst/>
          </a:prstGeom>
          <a:ln w="15240">
            <a:solidFill>
              <a:srgbClr val="36A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702402" y="2057400"/>
            <a:ext cx="0" cy="868680"/>
          </a:xfrm>
          <a:prstGeom prst="line">
            <a:avLst/>
          </a:prstGeom>
          <a:ln w="15240">
            <a:solidFill>
              <a:srgbClr val="36A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091617" y="2057400"/>
            <a:ext cx="0" cy="868680"/>
          </a:xfrm>
          <a:prstGeom prst="line">
            <a:avLst/>
          </a:prstGeom>
          <a:ln w="15240">
            <a:solidFill>
              <a:srgbClr val="36A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534759" y="2346960"/>
            <a:ext cx="1946072" cy="0"/>
          </a:xfrm>
          <a:prstGeom prst="line">
            <a:avLst/>
          </a:prstGeom>
          <a:ln w="15240">
            <a:solidFill>
              <a:srgbClr val="36A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534759" y="2636520"/>
            <a:ext cx="1946072" cy="0"/>
          </a:xfrm>
          <a:prstGeom prst="line">
            <a:avLst/>
          </a:prstGeom>
          <a:ln w="15240">
            <a:solidFill>
              <a:srgbClr val="36A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452463" y="3154680"/>
            <a:ext cx="211066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>
                <a:solidFill>
                  <a:srgbClr val="0F2B46"/>
                </a:solidFill>
                <a:latin typeface="Calibri"/>
                <a:ea typeface="Calibri"/>
              </a:rPr>
              <a:t>Wire Mesh (Basket)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52463" y="3767328"/>
            <a:ext cx="211066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C2B39"/>
                </a:solidFill>
                <a:latin typeface="Calibri"/>
                <a:ea typeface="Calibri"/>
              </a:rPr>
              <a:t>Field-adaptable lightweight grid.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452463" y="4480560"/>
            <a:ext cx="2110664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452463" y="4590288"/>
            <a:ext cx="21106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1" spc="140">
                <a:solidFill>
                  <a:srgbClr val="C87D0E"/>
                </a:solidFill>
                <a:latin typeface="Calibri"/>
                <a:ea typeface="Calibri"/>
              </a:rPr>
              <a:t>APPLICATION  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B7083"/>
                </a:solidFill>
                <a:latin typeface="Calibri"/>
                <a:ea typeface="Calibri"/>
              </a:rPr>
              <a:t>Cat6 / fiber telecom, data-center overhead drops.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38615" y="1737360"/>
            <a:ext cx="2586151" cy="37490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66631" y="1737360"/>
            <a:ext cx="2330119" cy="457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42476" y="2057400"/>
            <a:ext cx="778428" cy="868680"/>
          </a:xfrm>
          <a:prstGeom prst="rect">
            <a:avLst/>
          </a:prstGeom>
          <a:solidFill>
            <a:srgbClr val="E8F1F9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942476" y="2057400"/>
            <a:ext cx="54864" cy="8686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666041" y="2057400"/>
            <a:ext cx="54864" cy="8686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76359" y="3154680"/>
            <a:ext cx="211066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>
                <a:solidFill>
                  <a:srgbClr val="0F2B46"/>
                </a:solidFill>
                <a:latin typeface="Calibri"/>
                <a:ea typeface="Calibri"/>
              </a:rPr>
              <a:t>Channel Tray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76359" y="3767328"/>
            <a:ext cx="211066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C2B39"/>
                </a:solidFill>
                <a:latin typeface="Calibri"/>
                <a:ea typeface="Calibri"/>
              </a:rPr>
              <a:t>3 to 6-inch narrow single-run track.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276359" y="4480560"/>
            <a:ext cx="2110664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276359" y="4590288"/>
            <a:ext cx="21106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1" spc="140">
                <a:solidFill>
                  <a:srgbClr val="C87D0E"/>
                </a:solidFill>
                <a:latin typeface="Calibri"/>
                <a:ea typeface="Calibri"/>
              </a:rPr>
              <a:t>APPLICATION  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B7083"/>
                </a:solidFill>
                <a:latin typeface="Calibri"/>
                <a:ea typeface="Calibri"/>
              </a:rPr>
              <a:t>Single equipment branch drops from main rack.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260">
                <a:solidFill>
                  <a:srgbClr val="C87D0E"/>
                </a:solidFill>
                <a:latin typeface="Calibri"/>
                <a:ea typeface="Calibri"/>
              </a:rPr>
              <a:t>NEC 392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B46"/>
                </a:solidFill>
                <a:latin typeface="Calibri"/>
                <a:ea typeface="Calibri"/>
              </a:rPr>
              <a:t>Tray Fill &amp; Cross-Section Calculations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5216" y="1243584"/>
            <a:ext cx="1280160" cy="0"/>
          </a:xfrm>
          <a:prstGeom prst="line">
            <a:avLst/>
          </a:prstGeom>
          <a:ln w="30480">
            <a:solidFill>
              <a:srgbClr val="F5A6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65376" y="1243584"/>
            <a:ext cx="9759391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5B7083"/>
                </a:solidFill>
                <a:latin typeface="Calibri"/>
                <a:ea typeface="Calibri"/>
              </a:rPr>
              <a:t>Cable Tray Routing &amp; Raceway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5B7083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870448"/>
            <a:ext cx="50292" cy="5120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957316"/>
            <a:ext cx="1143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60">
                <a:solidFill>
                  <a:srgbClr val="C87D0E"/>
                </a:solidFill>
                <a:latin typeface="Calibri"/>
                <a:ea typeface="Calibri"/>
              </a:rPr>
              <a:t>FIELD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4248" y="5925312"/>
            <a:ext cx="941191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B39"/>
                </a:solidFill>
                <a:latin typeface="Calibri"/>
                <a:ea typeface="Calibri"/>
              </a:rPr>
              <a:t>Sizing check:  Required Width  ≥  ( Σ Cable OD² × 1.25 )  ÷  Usable Depth — guarantees single-layer spacing when required.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755648"/>
            <a:ext cx="3503066" cy="365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" y="1755648"/>
            <a:ext cx="3247034" cy="457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011680"/>
            <a:ext cx="291785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1F6FB2"/>
                </a:solidFill>
                <a:latin typeface="Calibri"/>
                <a:ea typeface="Calibri"/>
              </a:rPr>
              <a:t>40%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" y="3054096"/>
            <a:ext cx="2917850" cy="128016"/>
          </a:xfrm>
          <a:prstGeom prst="roundRect">
            <a:avLst>
              <a:gd name="adj" fmla="val 50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" y="3054096"/>
            <a:ext cx="1167140" cy="128016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364991"/>
            <a:ext cx="29178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B46"/>
                </a:solidFill>
                <a:latin typeface="Calibri"/>
                <a:ea typeface="Calibri"/>
              </a:rPr>
              <a:t>Power Cable Fill Limit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3803904"/>
            <a:ext cx="291785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7083"/>
                </a:solidFill>
                <a:latin typeface="Calibri"/>
                <a:ea typeface="Calibri"/>
              </a:rPr>
              <a:t>Maximum allowable cross-sectional fill for multi-conductor power under NEC 392.22.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4314" y="1755648"/>
            <a:ext cx="3503066" cy="365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72330" y="1755648"/>
            <a:ext cx="3247034" cy="45720"/>
          </a:xfrm>
          <a:prstGeom prst="rect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922" y="2011680"/>
            <a:ext cx="291785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36A9E0"/>
                </a:solidFill>
                <a:latin typeface="Calibri"/>
                <a:ea typeface="Calibri"/>
              </a:rPr>
              <a:t>50%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36922" y="3054096"/>
            <a:ext cx="2917850" cy="128016"/>
          </a:xfrm>
          <a:prstGeom prst="roundRect">
            <a:avLst>
              <a:gd name="adj" fmla="val 50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36922" y="3054096"/>
            <a:ext cx="1458925" cy="128016"/>
          </a:xfrm>
          <a:prstGeom prst="roundRect">
            <a:avLst>
              <a:gd name="adj" fmla="val 50000"/>
            </a:avLst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6922" y="3364991"/>
            <a:ext cx="29178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B46"/>
                </a:solidFill>
                <a:latin typeface="Calibri"/>
                <a:ea typeface="Calibri"/>
              </a:rPr>
              <a:t>Control &amp; Signal Limit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922" y="3803904"/>
            <a:ext cx="291785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7083"/>
                </a:solidFill>
                <a:latin typeface="Calibri"/>
                <a:ea typeface="Calibri"/>
              </a:rPr>
              <a:t>Maximum usable area for non-heat-generating control and instrumentation lines.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21700" y="1755648"/>
            <a:ext cx="3503066" cy="365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49716" y="1755648"/>
            <a:ext cx="3247034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4308" y="2011680"/>
            <a:ext cx="291785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F5A623"/>
                </a:solidFill>
                <a:latin typeface="Calibri"/>
                <a:ea typeface="Calibri"/>
              </a:rPr>
              <a:t>20%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4308" y="3054096"/>
            <a:ext cx="2917850" cy="128016"/>
          </a:xfrm>
          <a:prstGeom prst="roundRect">
            <a:avLst>
              <a:gd name="adj" fmla="val 50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14308" y="3054096"/>
            <a:ext cx="583570" cy="128016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4308" y="3364991"/>
            <a:ext cx="29178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B46"/>
                </a:solidFill>
                <a:latin typeface="Calibri"/>
                <a:ea typeface="Calibri"/>
              </a:rPr>
              <a:t>Future Reserve Margin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4308" y="3803904"/>
            <a:ext cx="291785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7083"/>
                </a:solidFill>
                <a:latin typeface="Calibri"/>
                <a:ea typeface="Calibri"/>
              </a:rPr>
              <a:t>Mandatory spare width reserved for upcoming plant expansions and revamps.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260">
                <a:solidFill>
                  <a:srgbClr val="C87D0E"/>
                </a:solidFill>
                <a:latin typeface="Calibri"/>
                <a:ea typeface="Calibri"/>
              </a:rPr>
              <a:t>INSTALLATION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B46"/>
                </a:solidFill>
                <a:latin typeface="Calibri"/>
                <a:ea typeface="Calibri"/>
              </a:rPr>
              <a:t>Laying Arrangement: Single-Core vs Multi-Core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5216" y="1243584"/>
            <a:ext cx="1280160" cy="0"/>
          </a:xfrm>
          <a:prstGeom prst="line">
            <a:avLst/>
          </a:prstGeom>
          <a:ln w="30480">
            <a:solidFill>
              <a:srgbClr val="F5A6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65376" y="1243584"/>
            <a:ext cx="9759391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5B7083"/>
                </a:solidFill>
                <a:latin typeface="Calibri"/>
                <a:ea typeface="Calibri"/>
              </a:rPr>
              <a:t>Cable Tray Routing &amp; Raceway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5B7083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870448"/>
            <a:ext cx="50292" cy="5120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957316"/>
            <a:ext cx="1143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60">
                <a:solidFill>
                  <a:srgbClr val="C87D0E"/>
                </a:solidFill>
                <a:latin typeface="Calibri"/>
                <a:ea typeface="Calibri"/>
              </a:rPr>
              <a:t>FIELD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4248" y="5925312"/>
            <a:ext cx="941191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B39"/>
                </a:solidFill>
                <a:latin typeface="Calibri"/>
                <a:ea typeface="Calibri"/>
              </a:rPr>
              <a:t>Incorrect single-core bundling creates hazardous circulating currents and severe tray overheating.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709928"/>
            <a:ext cx="5391759" cy="3886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" y="1709928"/>
            <a:ext cx="5135727" cy="457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2072030"/>
            <a:ext cx="256032" cy="256032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5746" y="2292217"/>
            <a:ext cx="256032" cy="256032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5933" y="2292217"/>
            <a:ext cx="256032" cy="256032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09928" y="2011680"/>
            <a:ext cx="40201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2B46"/>
                </a:solidFill>
                <a:latin typeface="Calibri"/>
                <a:ea typeface="Calibri"/>
              </a:rPr>
              <a:t>Single-Core Cables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1247" y="2606040"/>
            <a:ext cx="4843120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59536" y="2834640"/>
            <a:ext cx="91440" cy="9144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2770632"/>
            <a:ext cx="456879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2B46"/>
                </a:solidFill>
                <a:latin typeface="Calibri"/>
                <a:ea typeface="Calibri"/>
              </a:rPr>
              <a:t>Trefoil Formation — </a:t>
            </a:r>
            <a:r>
              <a:rPr sz="1250" b="0">
                <a:solidFill>
                  <a:srgbClr val="5B7083"/>
                </a:solidFill>
                <a:latin typeface="Calibri"/>
                <a:ea typeface="Calibri"/>
              </a:rPr>
              <a:t>Route in grouped trefoils to balance induced magnetic fields.</a:t>
            </a:r>
          </a:p>
        </p:txBody>
      </p:sp>
      <p:sp>
        <p:nvSpPr>
          <p:cNvPr id="24" name="Oval 23"/>
          <p:cNvSpPr/>
          <p:nvPr/>
        </p:nvSpPr>
        <p:spPr>
          <a:xfrm>
            <a:off x="859536" y="3529584"/>
            <a:ext cx="91440" cy="9144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465576"/>
            <a:ext cx="456879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2B46"/>
                </a:solidFill>
                <a:latin typeface="Calibri"/>
                <a:ea typeface="Calibri"/>
              </a:rPr>
              <a:t>Single-Layer Rule — </a:t>
            </a:r>
            <a:r>
              <a:rPr sz="1250" b="0">
                <a:solidFill>
                  <a:srgbClr val="5B7083"/>
                </a:solidFill>
                <a:latin typeface="Calibri"/>
                <a:ea typeface="Calibri"/>
              </a:rPr>
              <a:t>Strictly no multi-layer stacking; space groups by 2 × cable diameter.</a:t>
            </a:r>
          </a:p>
        </p:txBody>
      </p:sp>
      <p:sp>
        <p:nvSpPr>
          <p:cNvPr id="26" name="Oval 25"/>
          <p:cNvSpPr/>
          <p:nvPr/>
        </p:nvSpPr>
        <p:spPr>
          <a:xfrm>
            <a:off x="859536" y="4224528"/>
            <a:ext cx="91440" cy="9144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160520"/>
            <a:ext cx="456879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2B46"/>
                </a:solidFill>
                <a:latin typeface="Calibri"/>
                <a:ea typeface="Calibri"/>
              </a:rPr>
              <a:t>Short-Circuit Cleating — </a:t>
            </a:r>
            <a:r>
              <a:rPr sz="1250" b="0">
                <a:solidFill>
                  <a:srgbClr val="5B7083"/>
                </a:solidFill>
                <a:latin typeface="Calibri"/>
                <a:ea typeface="Calibri"/>
              </a:rPr>
              <a:t>Rated cleats every 1.5 m to withstand dynamic electromagnetic forces.</a:t>
            </a:r>
          </a:p>
        </p:txBody>
      </p:sp>
      <p:sp>
        <p:nvSpPr>
          <p:cNvPr id="28" name="Oval 27"/>
          <p:cNvSpPr/>
          <p:nvPr/>
        </p:nvSpPr>
        <p:spPr>
          <a:xfrm>
            <a:off x="859536" y="4919472"/>
            <a:ext cx="91440" cy="9144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855464"/>
            <a:ext cx="456879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2B46"/>
                </a:solidFill>
                <a:latin typeface="Calibri"/>
                <a:ea typeface="Calibri"/>
              </a:rPr>
              <a:t>Non-Magnetic Clamps — </a:t>
            </a:r>
            <a:r>
              <a:rPr sz="1250" b="0">
                <a:solidFill>
                  <a:srgbClr val="5B7083"/>
                </a:solidFill>
                <a:latin typeface="Calibri"/>
                <a:ea typeface="Calibri"/>
              </a:rPr>
              <a:t>Stainless steel or aluminium hardware to stop eddy-current heating.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3007" y="1709928"/>
            <a:ext cx="5391759" cy="3886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61023" y="1709928"/>
            <a:ext cx="5135727" cy="45720"/>
          </a:xfrm>
          <a:prstGeom prst="rect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07327" y="2093976"/>
            <a:ext cx="246888" cy="246888"/>
          </a:xfrm>
          <a:prstGeom prst="ellipse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790791" y="2093976"/>
            <a:ext cx="246888" cy="246888"/>
          </a:xfrm>
          <a:prstGeom prst="ellipse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255" y="2093976"/>
            <a:ext cx="246888" cy="246888"/>
          </a:xfrm>
          <a:prstGeom prst="ellipse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6007" y="2011680"/>
            <a:ext cx="40201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2B46"/>
                </a:solidFill>
                <a:latin typeface="Calibri"/>
                <a:ea typeface="Calibri"/>
              </a:rPr>
              <a:t>Multi-Core Cables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07327" y="2606040"/>
            <a:ext cx="4843120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525615" y="2834640"/>
            <a:ext cx="91440" cy="91440"/>
          </a:xfrm>
          <a:prstGeom prst="ellipse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3359" y="2770632"/>
            <a:ext cx="456879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2B46"/>
                </a:solidFill>
                <a:latin typeface="Calibri"/>
                <a:ea typeface="Calibri"/>
              </a:rPr>
              <a:t>Flat Side-by-Side — </a:t>
            </a:r>
            <a:r>
              <a:rPr sz="1250" b="0">
                <a:solidFill>
                  <a:srgbClr val="5B7083"/>
                </a:solidFill>
                <a:latin typeface="Calibri"/>
                <a:ea typeface="Calibri"/>
              </a:rPr>
              <a:t>Low-voltage power placed touching, or spaced by 1 × cable diameter.</a:t>
            </a:r>
          </a:p>
        </p:txBody>
      </p:sp>
      <p:sp>
        <p:nvSpPr>
          <p:cNvPr id="39" name="Oval 38"/>
          <p:cNvSpPr/>
          <p:nvPr/>
        </p:nvSpPr>
        <p:spPr>
          <a:xfrm>
            <a:off x="6525615" y="3529584"/>
            <a:ext cx="91440" cy="91440"/>
          </a:xfrm>
          <a:prstGeom prst="ellipse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3359" y="3465576"/>
            <a:ext cx="456879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2B46"/>
                </a:solidFill>
                <a:latin typeface="Calibri"/>
                <a:ea typeface="Calibri"/>
              </a:rPr>
              <a:t>Thermal Stacking — </a:t>
            </a:r>
            <a:r>
              <a:rPr sz="1250" b="0">
                <a:solidFill>
                  <a:srgbClr val="5B7083"/>
                </a:solidFill>
                <a:latin typeface="Calibri"/>
                <a:ea typeface="Calibri"/>
              </a:rPr>
              <a:t>Avoid multi-layer stacking unless ampacity derating is applied.</a:t>
            </a:r>
          </a:p>
        </p:txBody>
      </p:sp>
      <p:sp>
        <p:nvSpPr>
          <p:cNvPr id="41" name="Oval 40"/>
          <p:cNvSpPr/>
          <p:nvPr/>
        </p:nvSpPr>
        <p:spPr>
          <a:xfrm>
            <a:off x="6525615" y="4224528"/>
            <a:ext cx="91440" cy="91440"/>
          </a:xfrm>
          <a:prstGeom prst="ellipse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3359" y="4160520"/>
            <a:ext cx="456879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2B46"/>
                </a:solidFill>
                <a:latin typeface="Calibri"/>
                <a:ea typeface="Calibri"/>
              </a:rPr>
              <a:t>Direct Tie Fastening — </a:t>
            </a:r>
            <a:r>
              <a:rPr sz="1250" b="0">
                <a:solidFill>
                  <a:srgbClr val="5B7083"/>
                </a:solidFill>
                <a:latin typeface="Calibri"/>
                <a:ea typeface="Calibri"/>
              </a:rPr>
              <a:t>UV-resistant heavy nylon or coated steel ties on rungs.</a:t>
            </a:r>
          </a:p>
        </p:txBody>
      </p:sp>
      <p:sp>
        <p:nvSpPr>
          <p:cNvPr id="43" name="Oval 42"/>
          <p:cNvSpPr/>
          <p:nvPr/>
        </p:nvSpPr>
        <p:spPr>
          <a:xfrm>
            <a:off x="6525615" y="4919472"/>
            <a:ext cx="91440" cy="91440"/>
          </a:xfrm>
          <a:prstGeom prst="ellipse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3359" y="4855464"/>
            <a:ext cx="456879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2B46"/>
                </a:solidFill>
                <a:latin typeface="Calibri"/>
                <a:ea typeface="Calibri"/>
              </a:rPr>
              <a:t>Vertical Rung Anchoring — </a:t>
            </a:r>
            <a:r>
              <a:rPr sz="1250" b="0">
                <a:solidFill>
                  <a:srgbClr val="5B7083"/>
                </a:solidFill>
                <a:latin typeface="Calibri"/>
                <a:ea typeface="Calibri"/>
              </a:rPr>
              <a:t>Support multi-core every 450 mm on vertical risers.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260">
                <a:solidFill>
                  <a:srgbClr val="C87D0E"/>
                </a:solidFill>
                <a:latin typeface="Calibri"/>
                <a:ea typeface="Calibri"/>
              </a:rPr>
              <a:t>ELECTROMAGNETIC COMPATIBILITY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B46"/>
                </a:solidFill>
                <a:latin typeface="Calibri"/>
                <a:ea typeface="Calibri"/>
              </a:rPr>
              <a:t>Voltage Segregation &amp; Separation Distances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5216" y="1243584"/>
            <a:ext cx="1280160" cy="0"/>
          </a:xfrm>
          <a:prstGeom prst="line">
            <a:avLst/>
          </a:prstGeom>
          <a:ln w="30480">
            <a:solidFill>
              <a:srgbClr val="F5A6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65376" y="1243584"/>
            <a:ext cx="9759391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5B7083"/>
                </a:solidFill>
                <a:latin typeface="Calibri"/>
                <a:ea typeface="Calibri"/>
              </a:rPr>
              <a:t>Cable Tray Routing &amp; Raceway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5B7083"/>
                </a:solidFill>
                <a:latin typeface="Calibri"/>
                <a:ea typeface="Calibri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870448"/>
            <a:ext cx="50292" cy="5120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957316"/>
            <a:ext cx="1143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60">
                <a:solidFill>
                  <a:srgbClr val="C87D0E"/>
                </a:solidFill>
                <a:latin typeface="Calibri"/>
                <a:ea typeface="Calibri"/>
              </a:rPr>
              <a:t>FIELD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4248" y="5925312"/>
            <a:ext cx="941191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B39"/>
                </a:solidFill>
                <a:latin typeface="Calibri"/>
                <a:ea typeface="Calibri"/>
              </a:rPr>
              <a:t>Maintain 90° right-angle crossings wherever signal trays must cross power routes.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6928" y="1709928"/>
          <a:ext cx="11055096" cy="36393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/>
                <a:gridCol w="3291840"/>
                <a:gridCol w="2103120"/>
                <a:gridCol w="3374136"/>
              </a:tblGrid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Tray Level / Class</a:t>
                      </a:r>
                    </a:p>
                  </a:txBody>
                  <a:tcPr marL="164592" marR="91440" marT="54864" marB="54864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Voltage Level</a:t>
                      </a:r>
                    </a:p>
                  </a:txBody>
                  <a:tcPr marL="164592" marR="91440" marT="54864" marB="54864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Vertical Separation</a:t>
                      </a:r>
                    </a:p>
                  </a:txBody>
                  <a:tcPr marL="164592" marR="91440" marT="54864" marB="54864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Physical Divider Rule</a:t>
                      </a:r>
                    </a:p>
                  </a:txBody>
                  <a:tcPr marL="164592" marR="91440" marT="54864" marB="54864" anchor="ctr">
                    <a:solidFill>
                      <a:srgbClr val="0F2B4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2B46"/>
                          </a:solidFill>
                          <a:latin typeface="Calibri"/>
                        </a:rPr>
                        <a:t>Top Tier  (Tier 1)</a:t>
                      </a:r>
                    </a:p>
                  </a:txBody>
                  <a:tcPr marL="45720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B39"/>
                          </a:solidFill>
                          <a:latin typeface="Calibri"/>
                        </a:rPr>
                        <a:t>High Voltage  (&gt; 1 kV to 33 kV)</a:t>
                      </a:r>
                    </a:p>
                  </a:txBody>
                  <a:tcPr marL="164592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B39"/>
                          </a:solidFill>
                          <a:latin typeface="Calibri"/>
                        </a:rPr>
                        <a:t>Top position</a:t>
                      </a:r>
                    </a:p>
                  </a:txBody>
                  <a:tcPr marL="164592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B39"/>
                          </a:solidFill>
                          <a:latin typeface="Calibri"/>
                        </a:rPr>
                        <a:t>Separate tray; no shared services</a:t>
                      </a:r>
                    </a:p>
                  </a:txBody>
                  <a:tcPr marL="164592" marR="91440" marT="54864" marB="54864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2B46"/>
                          </a:solidFill>
                          <a:latin typeface="Calibri"/>
                        </a:rPr>
                        <a:t>Tier 2</a:t>
                      </a:r>
                    </a:p>
                  </a:txBody>
                  <a:tcPr marL="457200" marR="91440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B39"/>
                          </a:solidFill>
                          <a:latin typeface="Calibri"/>
                        </a:rPr>
                        <a:t>Low Voltage Power  (&lt; 1 kV)</a:t>
                      </a:r>
                    </a:p>
                  </a:txBody>
                  <a:tcPr marL="164592" marR="91440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B39"/>
                          </a:solidFill>
                          <a:latin typeface="Calibri"/>
                        </a:rPr>
                        <a:t>300 mm from HV</a:t>
                      </a:r>
                    </a:p>
                  </a:txBody>
                  <a:tcPr marL="164592" marR="91440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B39"/>
                          </a:solidFill>
                          <a:latin typeface="Calibri"/>
                        </a:rPr>
                        <a:t>Solid metallic barrier if in same tray</a:t>
                      </a:r>
                    </a:p>
                  </a:txBody>
                  <a:tcPr marL="164592" marR="91440" marT="54864" marB="54864" anchor="ctr">
                    <a:solidFill>
                      <a:srgbClr val="F2F6F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2B46"/>
                          </a:solidFill>
                          <a:latin typeface="Calibri"/>
                        </a:rPr>
                        <a:t>Tier 3</a:t>
                      </a:r>
                    </a:p>
                  </a:txBody>
                  <a:tcPr marL="45720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B39"/>
                          </a:solidFill>
                          <a:latin typeface="Calibri"/>
                        </a:rPr>
                        <a:t>Control &amp; Interlocking  (110 V / 230 V)</a:t>
                      </a:r>
                    </a:p>
                  </a:txBody>
                  <a:tcPr marL="164592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B39"/>
                          </a:solidFill>
                          <a:latin typeface="Calibri"/>
                        </a:rPr>
                        <a:t>250 mm from LV</a:t>
                      </a:r>
                    </a:p>
                  </a:txBody>
                  <a:tcPr marL="164592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B39"/>
                          </a:solidFill>
                          <a:latin typeface="Calibri"/>
                        </a:rPr>
                        <a:t>Perforated barrier minimum</a:t>
                      </a:r>
                    </a:p>
                  </a:txBody>
                  <a:tcPr marL="164592" marR="91440" marT="54864" marB="54864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2B46"/>
                          </a:solidFill>
                          <a:latin typeface="Calibri"/>
                        </a:rPr>
                        <a:t>Bottom Tier  (Tier 4)</a:t>
                      </a:r>
                    </a:p>
                  </a:txBody>
                  <a:tcPr marL="457200" marR="91440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B39"/>
                          </a:solidFill>
                          <a:latin typeface="Calibri"/>
                        </a:rPr>
                        <a:t>Analog &amp; Fieldbus  (&lt; 50 V / 4–20 mA)</a:t>
                      </a:r>
                    </a:p>
                  </a:txBody>
                  <a:tcPr marL="164592" marR="91440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B39"/>
                          </a:solidFill>
                          <a:latin typeface="Calibri"/>
                        </a:rPr>
                        <a:t>450 mm from power</a:t>
                      </a:r>
                    </a:p>
                  </a:txBody>
                  <a:tcPr marL="164592" marR="91440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B39"/>
                          </a:solidFill>
                          <a:latin typeface="Calibri"/>
                        </a:rPr>
                        <a:t>Dedicated solid-bottom tray or conduit</a:t>
                      </a:r>
                    </a:p>
                  </a:txBody>
                  <a:tcPr marL="164592" marR="91440" marT="54864" marB="54864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6" name="Oval 15"/>
          <p:cNvSpPr/>
          <p:nvPr/>
        </p:nvSpPr>
        <p:spPr>
          <a:xfrm>
            <a:off x="749808" y="2592324"/>
            <a:ext cx="137160" cy="137160"/>
          </a:xfrm>
          <a:prstGeom prst="ellipse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3360420"/>
            <a:ext cx="137160" cy="1371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4128515"/>
            <a:ext cx="137160" cy="137160"/>
          </a:xfrm>
          <a:prstGeom prst="ellipse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4896612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260">
                <a:solidFill>
                  <a:srgbClr val="C87D0E"/>
                </a:solidFill>
                <a:latin typeface="Calibri"/>
                <a:ea typeface="Calibri"/>
              </a:rPr>
              <a:t>STRUCTURAL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B46"/>
                </a:solidFill>
                <a:latin typeface="Calibri"/>
                <a:ea typeface="Calibri"/>
              </a:rPr>
              <a:t>NEMA VE 1 / VE 2 Support Standards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5216" y="1243584"/>
            <a:ext cx="1280160" cy="0"/>
          </a:xfrm>
          <a:prstGeom prst="line">
            <a:avLst/>
          </a:prstGeom>
          <a:ln w="30480">
            <a:solidFill>
              <a:srgbClr val="F5A6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65376" y="1243584"/>
            <a:ext cx="9759391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5B7083"/>
                </a:solidFill>
                <a:latin typeface="Calibri"/>
                <a:ea typeface="Calibri"/>
              </a:rPr>
              <a:t>Cable Tray Routing &amp; Raceway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5B7083"/>
                </a:solidFill>
                <a:latin typeface="Calibri"/>
                <a:ea typeface="Calibri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870448"/>
            <a:ext cx="50292" cy="5120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957316"/>
            <a:ext cx="1143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60">
                <a:solidFill>
                  <a:srgbClr val="C87D0E"/>
                </a:solidFill>
                <a:latin typeface="Calibri"/>
                <a:ea typeface="Calibri"/>
              </a:rPr>
              <a:t>FIELD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4248" y="5925312"/>
            <a:ext cx="941191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B39"/>
                </a:solidFill>
                <a:latin typeface="Calibri"/>
                <a:ea typeface="Calibri"/>
              </a:rPr>
              <a:t>Thermal expansion: install expansion splice plates every 30 m on straight outdoor aluminium runs.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7" y="2157984"/>
            <a:ext cx="10509199" cy="11887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9848" y="2276856"/>
            <a:ext cx="100584" cy="4572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8407" y="2734056"/>
            <a:ext cx="283464" cy="6400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59554" y="2276856"/>
            <a:ext cx="100584" cy="4572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68114" y="2734056"/>
            <a:ext cx="283464" cy="6400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49260" y="2276856"/>
            <a:ext cx="100584" cy="4572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57820" y="2734056"/>
            <a:ext cx="283464" cy="6400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38967" y="2276856"/>
            <a:ext cx="100584" cy="4572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47527" y="2734056"/>
            <a:ext cx="283464" cy="6400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40833" y="2084832"/>
            <a:ext cx="91440" cy="2651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4741" y="17190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C87D0E"/>
                </a:solidFill>
                <a:latin typeface="Calibri"/>
                <a:ea typeface="Calibri"/>
              </a:rPr>
              <a:t>splice @ 0.25 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86553" y="1984248"/>
            <a:ext cx="0" cy="100584"/>
          </a:xfrm>
          <a:prstGeom prst="line">
            <a:avLst/>
          </a:prstGeom>
          <a:ln w="15240">
            <a:solidFill>
              <a:srgbClr val="C87D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20139" y="2980944"/>
            <a:ext cx="3289707" cy="0"/>
          </a:xfrm>
          <a:prstGeom prst="line">
            <a:avLst/>
          </a:prstGeom>
          <a:ln w="12700">
            <a:solidFill>
              <a:srgbClr val="5B70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20139" y="2907792"/>
            <a:ext cx="0" cy="146304"/>
          </a:xfrm>
          <a:prstGeom prst="line">
            <a:avLst/>
          </a:prstGeom>
          <a:ln w="12700">
            <a:solidFill>
              <a:srgbClr val="5B70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409846" y="2907792"/>
            <a:ext cx="0" cy="146304"/>
          </a:xfrm>
          <a:prstGeom prst="line">
            <a:avLst/>
          </a:prstGeom>
          <a:ln w="12700">
            <a:solidFill>
              <a:srgbClr val="5B70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20139" y="3054096"/>
            <a:ext cx="328970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7083"/>
                </a:solidFill>
                <a:latin typeface="Calibri"/>
                <a:ea typeface="Calibri"/>
              </a:rPr>
              <a:t>support span L (12 ft / 20 ft class)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511296"/>
            <a:ext cx="3503066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4944" y="3511296"/>
            <a:ext cx="3247034" cy="457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3730752"/>
            <a:ext cx="299100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0F2B46"/>
                </a:solidFill>
                <a:latin typeface="Calibri"/>
                <a:ea typeface="Calibri"/>
              </a:rPr>
              <a:t>NEMA Load Class Ratings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379976"/>
            <a:ext cx="299100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7083"/>
                </a:solidFill>
                <a:latin typeface="Calibri"/>
                <a:ea typeface="Calibri"/>
              </a:rPr>
              <a:t>Class 12C (100 lb/ft @ 12 ft span) or 20C (100 lb/ft @ 20 ft). Factor wind, ice, and a 200 lb concentrated worker load.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4314" y="3511296"/>
            <a:ext cx="3503066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72330" y="3511296"/>
            <a:ext cx="3247034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00346" y="3730752"/>
            <a:ext cx="299100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0F2B46"/>
                </a:solidFill>
                <a:latin typeface="Calibri"/>
                <a:ea typeface="Calibri"/>
              </a:rPr>
              <a:t>Splice Joint Location — 0.25 L Rule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00346" y="4379976"/>
            <a:ext cx="299100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7083"/>
                </a:solidFill>
                <a:latin typeface="Calibri"/>
                <a:ea typeface="Calibri"/>
              </a:rPr>
              <a:t>Locate splice connectors at quarter-span distance from the support beam. Never place splices at mid-span.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21700" y="3511296"/>
            <a:ext cx="3503066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49716" y="3511296"/>
            <a:ext cx="3247034" cy="45720"/>
          </a:xfrm>
          <a:prstGeom prst="rect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77732" y="3730752"/>
            <a:ext cx="299100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0F2B46"/>
                </a:solidFill>
                <a:latin typeface="Calibri"/>
                <a:ea typeface="Calibri"/>
              </a:rPr>
              <a:t>NEMA VE 2 Fitting Support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7732" y="4379976"/>
            <a:ext cx="299100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7083"/>
                </a:solidFill>
                <a:latin typeface="Calibri"/>
                <a:ea typeface="Calibri"/>
              </a:rPr>
              <a:t>Support within 600 mm (2 ft) of each horizontal bend, tee, cross, or vertical reducer fitting.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260">
                <a:solidFill>
                  <a:srgbClr val="C87D0E"/>
                </a:solidFill>
                <a:latin typeface="Calibri"/>
                <a:ea typeface="Calibri"/>
              </a:rPr>
              <a:t>INSTALLABILITY &amp; ERGONOMICS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B46"/>
                </a:solidFill>
                <a:latin typeface="Calibri"/>
                <a:ea typeface="Calibri"/>
              </a:rPr>
              <a:t>Substation &amp; Switchgear Room Clearances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5216" y="1243584"/>
            <a:ext cx="1280160" cy="0"/>
          </a:xfrm>
          <a:prstGeom prst="line">
            <a:avLst/>
          </a:prstGeom>
          <a:ln w="30480">
            <a:solidFill>
              <a:srgbClr val="F5A6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65376" y="1243584"/>
            <a:ext cx="9759391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5B7083"/>
                </a:solidFill>
                <a:latin typeface="Calibri"/>
                <a:ea typeface="Calibri"/>
              </a:rPr>
              <a:t>Cable Tray Routing &amp; Raceway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5B7083"/>
                </a:solidFill>
                <a:latin typeface="Calibri"/>
                <a:ea typeface="Calibri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870448"/>
            <a:ext cx="50292" cy="5120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957316"/>
            <a:ext cx="1143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60">
                <a:solidFill>
                  <a:srgbClr val="C87D0E"/>
                </a:solidFill>
                <a:latin typeface="Calibri"/>
                <a:ea typeface="Calibri"/>
              </a:rPr>
              <a:t>FIELD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4248" y="5925312"/>
            <a:ext cx="941191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B39"/>
                </a:solidFill>
                <a:latin typeface="Calibri"/>
                <a:ea typeface="Calibri"/>
              </a:rPr>
              <a:t>Comply with OSHA 1910 headroom and maintain a 2.1 m clear walkway below the bottom rack.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709928"/>
            <a:ext cx="5852160" cy="12070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709928"/>
            <a:ext cx="54864" cy="12070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1865376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B46"/>
                </a:solidFill>
                <a:latin typeface="Calibri"/>
                <a:ea typeface="Calibri"/>
              </a:rPr>
              <a:t>300 mm (12 in) Top Headroom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2276856"/>
            <a:ext cx="5394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7083"/>
                </a:solidFill>
                <a:latin typeface="Calibri"/>
                <a:ea typeface="Calibri"/>
              </a:rPr>
              <a:t>Overhead clearance above the tray side rail for cable pulling and roller guides.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081528"/>
            <a:ext cx="5852160" cy="12070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081528"/>
            <a:ext cx="54864" cy="1207008"/>
          </a:xfrm>
          <a:prstGeom prst="rect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236976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B46"/>
                </a:solidFill>
                <a:latin typeface="Calibri"/>
                <a:ea typeface="Calibri"/>
              </a:rPr>
              <a:t>600 mm (24 in) Side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648456"/>
            <a:ext cx="5394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7083"/>
                </a:solidFill>
                <a:latin typeface="Calibri"/>
                <a:ea typeface="Calibri"/>
              </a:rPr>
              <a:t>Clear pathway between tray edge and wall or structural columns for personnel.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453128"/>
            <a:ext cx="5852160" cy="12070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453128"/>
            <a:ext cx="54864" cy="12070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4608576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B46"/>
                </a:solidFill>
                <a:latin typeface="Calibri"/>
                <a:ea typeface="Calibri"/>
              </a:rPr>
              <a:t>Switchgear Dropping Corridor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5020056"/>
            <a:ext cx="5394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7083"/>
                </a:solidFill>
                <a:latin typeface="Calibri"/>
                <a:ea typeface="Calibri"/>
              </a:rPr>
              <a:t>Align overhead trays with panel top-entry plates to avoid sharp S-bends.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76288" y="1801368"/>
            <a:ext cx="4748479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79208" y="2075688"/>
            <a:ext cx="128016" cy="3108960"/>
          </a:xfrm>
          <a:prstGeom prst="rect">
            <a:avLst/>
          </a:prstGeom>
          <a:solidFill>
            <a:srgbClr val="C9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33104" y="2852928"/>
            <a:ext cx="1920240" cy="457200"/>
          </a:xfrm>
          <a:prstGeom prst="rect">
            <a:avLst/>
          </a:prstGeom>
          <a:noFill/>
          <a:ln w="254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97696" y="2971800"/>
            <a:ext cx="237744" cy="237744"/>
          </a:xfrm>
          <a:prstGeom prst="ellipse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27464" y="2971800"/>
            <a:ext cx="237744" cy="237744"/>
          </a:xfrm>
          <a:prstGeom prst="ellipse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857232" y="2971800"/>
            <a:ext cx="237744" cy="237744"/>
          </a:xfrm>
          <a:prstGeom prst="ellipse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87000" y="2971800"/>
            <a:ext cx="237744" cy="237744"/>
          </a:xfrm>
          <a:prstGeom prst="ellipse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50608" y="5074920"/>
            <a:ext cx="4199839" cy="109728"/>
          </a:xfrm>
          <a:prstGeom prst="rect">
            <a:avLst/>
          </a:prstGeom>
          <a:solidFill>
            <a:srgbClr val="C9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9793224" y="2185416"/>
            <a:ext cx="0" cy="667512"/>
          </a:xfrm>
          <a:prstGeom prst="line">
            <a:avLst/>
          </a:prstGeom>
          <a:ln w="17780">
            <a:solidFill>
              <a:srgbClr val="C87D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884664" y="227685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87D0E"/>
                </a:solidFill>
                <a:latin typeface="Calibri"/>
                <a:ea typeface="Calibri"/>
              </a:rPr>
              <a:t>300 mm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75904" y="2185416"/>
            <a:ext cx="2834640" cy="0"/>
          </a:xfrm>
          <a:prstGeom prst="line">
            <a:avLst/>
          </a:prstGeom>
          <a:ln w="1524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507224" y="3081528"/>
            <a:ext cx="1325880" cy="0"/>
          </a:xfrm>
          <a:prstGeom prst="line">
            <a:avLst/>
          </a:prstGeom>
          <a:ln w="17780">
            <a:solidFill>
              <a:srgbClr val="C87D0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607808" y="312724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87D0E"/>
                </a:solidFill>
                <a:latin typeface="Calibri"/>
                <a:ea typeface="Calibri"/>
              </a:rPr>
              <a:t>600 mm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1210544" y="3310128"/>
            <a:ext cx="0" cy="1764792"/>
          </a:xfrm>
          <a:prstGeom prst="line">
            <a:avLst/>
          </a:prstGeom>
          <a:ln w="17780">
            <a:solidFill>
              <a:srgbClr val="2E8B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1283696" y="4087368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E8B57"/>
                </a:solidFill>
                <a:latin typeface="Calibri"/>
                <a:ea typeface="Calibri"/>
              </a:rPr>
              <a:t>2.1 m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2E8B57"/>
                </a:solidFill>
                <a:latin typeface="Calibri"/>
                <a:ea typeface="Calibri"/>
              </a:rPr>
              <a:t>walkway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260">
                <a:solidFill>
                  <a:srgbClr val="C87D0E"/>
                </a:solidFill>
                <a:latin typeface="Calibri"/>
                <a:ea typeface="Calibri"/>
              </a:rPr>
              <a:t>PULLING STRESS &amp; FITTINGS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B46"/>
                </a:solidFill>
                <a:latin typeface="Calibri"/>
                <a:ea typeface="Calibri"/>
              </a:rPr>
              <a:t>Cable Minimum Bending Radius (MBR)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5216" y="1243584"/>
            <a:ext cx="1280160" cy="0"/>
          </a:xfrm>
          <a:prstGeom prst="line">
            <a:avLst/>
          </a:prstGeom>
          <a:ln w="30480">
            <a:solidFill>
              <a:srgbClr val="F5A6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65376" y="1243584"/>
            <a:ext cx="9759391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5B7083"/>
                </a:solidFill>
                <a:latin typeface="Calibri"/>
                <a:ea typeface="Calibri"/>
              </a:rPr>
              <a:t>Cable Tray Routing &amp; Raceway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5B7083"/>
                </a:solidFill>
                <a:latin typeface="Calibri"/>
                <a:ea typeface="Calibri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870448"/>
            <a:ext cx="50292" cy="5120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957316"/>
            <a:ext cx="1143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60">
                <a:solidFill>
                  <a:srgbClr val="C87D0E"/>
                </a:solidFill>
                <a:latin typeface="Calibri"/>
                <a:ea typeface="Calibri"/>
              </a:rPr>
              <a:t>FIELD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4248" y="5925312"/>
            <a:ext cx="941191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B39"/>
                </a:solidFill>
                <a:latin typeface="Calibri"/>
                <a:ea typeface="Calibri"/>
              </a:rPr>
              <a:t>Fitting radius rule:  R fitting  ≥  MBR of the largest cable in the tray.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755648"/>
            <a:ext cx="2586151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" y="1755648"/>
            <a:ext cx="2330119" cy="45720"/>
          </a:xfrm>
          <a:prstGeom prst="rect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202996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029968"/>
            <a:ext cx="1051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120">
                <a:solidFill>
                  <a:srgbClr val="1F6FB2"/>
                </a:solidFill>
                <a:latin typeface="Calibri"/>
                <a:ea typeface="Calibri"/>
              </a:rPr>
              <a:t>CLASS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505456"/>
            <a:ext cx="207408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36A9E0"/>
                </a:solidFill>
                <a:latin typeface="Calibri"/>
                <a:ea typeface="Calibri"/>
              </a:rPr>
              <a:t>6 × 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83280"/>
            <a:ext cx="207408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B46"/>
                </a:solidFill>
                <a:latin typeface="Calibri"/>
                <a:ea typeface="Calibri"/>
              </a:rPr>
              <a:t>Control / Signal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3877056"/>
            <a:ext cx="2074087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4005072"/>
            <a:ext cx="207408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80" b="0">
                <a:solidFill>
                  <a:srgbClr val="5B7083"/>
                </a:solidFill>
                <a:latin typeface="Calibri"/>
                <a:ea typeface="Calibri"/>
              </a:rPr>
              <a:t>Unarmored instrument pairs; select 300 mm fitting radius.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90823" y="1755648"/>
            <a:ext cx="2586151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18839" y="1755648"/>
            <a:ext cx="2330119" cy="457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46855" y="202996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46855" y="2029968"/>
            <a:ext cx="1051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120">
                <a:solidFill>
                  <a:srgbClr val="1F6FB2"/>
                </a:solidFill>
                <a:latin typeface="Calibri"/>
                <a:ea typeface="Calibri"/>
              </a:rPr>
              <a:t>CLASS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46855" y="2505456"/>
            <a:ext cx="207408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F6FB2"/>
                </a:solidFill>
                <a:latin typeface="Calibri"/>
                <a:ea typeface="Calibri"/>
              </a:rPr>
              <a:t>8–12 × 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46855" y="3383280"/>
            <a:ext cx="207408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B46"/>
                </a:solidFill>
                <a:latin typeface="Calibri"/>
                <a:ea typeface="Calibri"/>
              </a:rPr>
              <a:t>LV Power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46855" y="3877056"/>
            <a:ext cx="2074088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646855" y="4005072"/>
            <a:ext cx="207408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80" b="0">
                <a:solidFill>
                  <a:srgbClr val="5B7083"/>
                </a:solidFill>
                <a:latin typeface="Calibri"/>
                <a:ea typeface="Calibri"/>
              </a:rPr>
              <a:t>Armored &amp; unarmored LV; select 450 mm fitting radius.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4719" y="1755648"/>
            <a:ext cx="2586151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42735" y="1755648"/>
            <a:ext cx="2330119" cy="4572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70751" y="202996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0751" y="2029968"/>
            <a:ext cx="1051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120">
                <a:solidFill>
                  <a:srgbClr val="1F6FB2"/>
                </a:solidFill>
                <a:latin typeface="Calibri"/>
                <a:ea typeface="Calibri"/>
              </a:rPr>
              <a:t>CLASS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0751" y="2505456"/>
            <a:ext cx="207408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F2B46"/>
                </a:solidFill>
                <a:latin typeface="Calibri"/>
                <a:ea typeface="Calibri"/>
              </a:rPr>
              <a:t>12–15 × 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0751" y="3383280"/>
            <a:ext cx="207408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B46"/>
                </a:solidFill>
                <a:latin typeface="Calibri"/>
                <a:ea typeface="Calibri"/>
              </a:rPr>
              <a:t>MV / HV Shielded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70751" y="3877056"/>
            <a:ext cx="2074088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70751" y="4005072"/>
            <a:ext cx="207408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80" b="0">
                <a:solidFill>
                  <a:srgbClr val="5B7083"/>
                </a:solidFill>
                <a:latin typeface="Calibri"/>
                <a:ea typeface="Calibri"/>
              </a:rPr>
              <a:t>Medium-voltage tape shield; specify 600–900 mm fitting radius.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38615" y="1755648"/>
            <a:ext cx="2586151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66631" y="1755648"/>
            <a:ext cx="2330119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294647" y="202996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94647" y="2029968"/>
            <a:ext cx="1051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120">
                <a:solidFill>
                  <a:srgbClr val="1F6FB2"/>
                </a:solidFill>
                <a:latin typeface="Calibri"/>
                <a:ea typeface="Calibri"/>
              </a:rPr>
              <a:t>CLASS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4647" y="2505456"/>
            <a:ext cx="207408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5A623"/>
                </a:solidFill>
                <a:latin typeface="Calibri"/>
                <a:ea typeface="Calibri"/>
              </a:rPr>
              <a:t>20 × OD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4647" y="3383280"/>
            <a:ext cx="207408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B46"/>
                </a:solidFill>
                <a:latin typeface="Calibri"/>
                <a:ea typeface="Calibri"/>
              </a:rPr>
              <a:t>Optical Fiber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294647" y="3877056"/>
            <a:ext cx="2074088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294647" y="4005072"/>
            <a:ext cx="207408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80" b="0">
                <a:solidFill>
                  <a:srgbClr val="5B7083"/>
                </a:solidFill>
                <a:latin typeface="Calibri"/>
                <a:ea typeface="Calibri"/>
              </a:rPr>
              <a:t>Dynamic pulling limit to prevent internal glass micro-fractures.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260">
                <a:solidFill>
                  <a:srgbClr val="C87D0E"/>
                </a:solidFill>
                <a:latin typeface="Calibri"/>
                <a:ea typeface="Calibri"/>
              </a:rPr>
              <a:t>ENVIRONMENTAL &amp; THERMAL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B46"/>
                </a:solidFill>
                <a:latin typeface="Calibri"/>
                <a:ea typeface="Calibri"/>
              </a:rPr>
              <a:t>Cable Tray Cover Philosophy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5216" y="1243584"/>
            <a:ext cx="1280160" cy="0"/>
          </a:xfrm>
          <a:prstGeom prst="line">
            <a:avLst/>
          </a:prstGeom>
          <a:ln w="30480">
            <a:solidFill>
              <a:srgbClr val="F5A6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65376" y="1243584"/>
            <a:ext cx="9759391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5B7083"/>
                </a:solidFill>
                <a:latin typeface="Calibri"/>
                <a:ea typeface="Calibri"/>
              </a:rPr>
              <a:t>Cable Tray Routing &amp; Raceway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5B7083"/>
                </a:solidFill>
                <a:latin typeface="Calibri"/>
                <a:ea typeface="Calibri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870448"/>
            <a:ext cx="50292" cy="5120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957316"/>
            <a:ext cx="1143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60">
                <a:solidFill>
                  <a:srgbClr val="C87D0E"/>
                </a:solidFill>
                <a:latin typeface="Calibri"/>
                <a:ea typeface="Calibri"/>
              </a:rPr>
              <a:t>FIELD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4248" y="5925312"/>
            <a:ext cx="941191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B39"/>
                </a:solidFill>
                <a:latin typeface="Calibri"/>
                <a:ea typeface="Calibri"/>
              </a:rPr>
              <a:t>Specify heavy-duty stainless steel cover hold-down clamps rated for local design wind velocities.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755648"/>
            <a:ext cx="2586151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" y="1755648"/>
            <a:ext cx="2330119" cy="457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02996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01899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624328"/>
            <a:ext cx="20740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500" b="1">
                <a:solidFill>
                  <a:srgbClr val="0F2B46"/>
                </a:solidFill>
                <a:latin typeface="Calibri"/>
                <a:ea typeface="Calibri"/>
              </a:rPr>
              <a:t>Peaked / Flanged Covers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55848"/>
            <a:ext cx="207408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7083"/>
                </a:solidFill>
                <a:latin typeface="Calibri"/>
                <a:ea typeface="Calibri"/>
              </a:rPr>
              <a:t>Pitched profile sheds rainwater, snow, and chemical process deposits outdoors.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4608576"/>
            <a:ext cx="2074087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4718304"/>
            <a:ext cx="20740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spc="140">
                <a:solidFill>
                  <a:srgbClr val="C87D0E"/>
                </a:solidFill>
                <a:latin typeface="Calibri"/>
                <a:ea typeface="Calibri"/>
              </a:rPr>
              <a:t>USE  </a:t>
            </a:r>
            <a:r>
              <a:rPr sz="1150" b="1">
                <a:solidFill>
                  <a:srgbClr val="1C2B39"/>
                </a:solidFill>
                <a:latin typeface="Calibri"/>
                <a:ea typeface="Calibri"/>
              </a:rPr>
              <a:t>Outdoor racks &amp; pipe bridges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90823" y="1755648"/>
            <a:ext cx="2586151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18839" y="1755648"/>
            <a:ext cx="2330119" cy="4572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46855" y="2029968"/>
            <a:ext cx="420624" cy="420624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46855" y="201899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46855" y="2624328"/>
            <a:ext cx="20740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500" b="1">
                <a:solidFill>
                  <a:srgbClr val="0F2B46"/>
                </a:solidFill>
                <a:latin typeface="Calibri"/>
                <a:ea typeface="Calibri"/>
              </a:rPr>
              <a:t>Mechanical Protection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46855" y="3355848"/>
            <a:ext cx="207408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7083"/>
                </a:solidFill>
                <a:latin typeface="Calibri"/>
                <a:ea typeface="Calibri"/>
              </a:rPr>
              <a:t>Solid covers mandatory within 1.8 m of platforms, stairs, and crane lift corridors.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46855" y="4608576"/>
            <a:ext cx="2074088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646855" y="4718304"/>
            <a:ext cx="20740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spc="140">
                <a:solidFill>
                  <a:srgbClr val="C87D0E"/>
                </a:solidFill>
                <a:latin typeface="Calibri"/>
                <a:ea typeface="Calibri"/>
              </a:rPr>
              <a:t>USE  </a:t>
            </a:r>
            <a:r>
              <a:rPr sz="1150" b="1">
                <a:solidFill>
                  <a:srgbClr val="1C2B39"/>
                </a:solidFill>
                <a:latin typeface="Calibri"/>
                <a:ea typeface="Calibri"/>
              </a:rPr>
              <a:t>Falling tool &amp; slag zones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4719" y="1755648"/>
            <a:ext cx="2586151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42735" y="1755648"/>
            <a:ext cx="2330119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70751" y="2029968"/>
            <a:ext cx="420624" cy="42062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0751" y="201899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0751" y="2624328"/>
            <a:ext cx="20740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500" b="1">
                <a:solidFill>
                  <a:srgbClr val="0F2B46"/>
                </a:solidFill>
                <a:latin typeface="Calibri"/>
                <a:ea typeface="Calibri"/>
              </a:rPr>
              <a:t>Ampacity Derating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0751" y="3355848"/>
            <a:ext cx="207408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7083"/>
                </a:solidFill>
                <a:latin typeface="Calibri"/>
                <a:ea typeface="Calibri"/>
              </a:rPr>
              <a:t>Solid unventilated covers trap heat, penalizing cable ampacity by 10% to 15%.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70751" y="4608576"/>
            <a:ext cx="2074088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70751" y="4718304"/>
            <a:ext cx="20740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spc="140">
                <a:solidFill>
                  <a:srgbClr val="C87D0E"/>
                </a:solidFill>
                <a:latin typeface="Calibri"/>
                <a:ea typeface="Calibri"/>
              </a:rPr>
              <a:t>DERATING  </a:t>
            </a:r>
            <a:r>
              <a:rPr sz="1150" b="1">
                <a:solidFill>
                  <a:srgbClr val="1C2B39"/>
                </a:solidFill>
                <a:latin typeface="Calibri"/>
                <a:ea typeface="Calibri"/>
              </a:rPr>
              <a:t>Apply 0.85 – 0.90 factor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38615" y="1755648"/>
            <a:ext cx="2586151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66631" y="1755648"/>
            <a:ext cx="2330119" cy="45720"/>
          </a:xfrm>
          <a:prstGeom prst="rect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294647" y="2029968"/>
            <a:ext cx="420624" cy="420624"/>
          </a:xfrm>
          <a:prstGeom prst="ellipse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94647" y="201899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4647" y="2624328"/>
            <a:ext cx="20740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500" b="1">
                <a:solidFill>
                  <a:srgbClr val="0F2B46"/>
                </a:solidFill>
                <a:latin typeface="Calibri"/>
                <a:ea typeface="Calibri"/>
              </a:rPr>
              <a:t>Raised Standoff Spacers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4647" y="3355848"/>
            <a:ext cx="207408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7083"/>
                </a:solidFill>
                <a:latin typeface="Calibri"/>
                <a:ea typeface="Calibri"/>
              </a:rPr>
              <a:t>25–50 mm raised cover brackets restore convective airflow while blocking sunlight.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294647" y="4608576"/>
            <a:ext cx="2074088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294647" y="4718304"/>
            <a:ext cx="20740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spc="140">
                <a:solidFill>
                  <a:srgbClr val="C87D0E"/>
                </a:solidFill>
                <a:latin typeface="Calibri"/>
                <a:ea typeface="Calibri"/>
              </a:rPr>
              <a:t>FIX  </a:t>
            </a:r>
            <a:r>
              <a:rPr sz="1150" b="1">
                <a:solidFill>
                  <a:srgbClr val="1C2B39"/>
                </a:solidFill>
                <a:latin typeface="Calibri"/>
                <a:ea typeface="Calibri"/>
              </a:rPr>
              <a:t>Avoids thermal choke points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260">
                <a:solidFill>
                  <a:srgbClr val="C87D0E"/>
                </a:solidFill>
                <a:latin typeface="Calibri"/>
                <a:ea typeface="Calibri"/>
              </a:rPr>
              <a:t>CIVIL &amp; SUBSTATION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B46"/>
                </a:solidFill>
                <a:latin typeface="Calibri"/>
                <a:ea typeface="Calibri"/>
              </a:rPr>
              <a:t>Underground Cable Trench Standards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5216" y="1243584"/>
            <a:ext cx="1280160" cy="0"/>
          </a:xfrm>
          <a:prstGeom prst="line">
            <a:avLst/>
          </a:prstGeom>
          <a:ln w="30480">
            <a:solidFill>
              <a:srgbClr val="F5A6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65376" y="1243584"/>
            <a:ext cx="9759391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5B7083"/>
                </a:solidFill>
                <a:latin typeface="Calibri"/>
                <a:ea typeface="Calibri"/>
              </a:rPr>
              <a:t>Cable Tray Routing &amp; Raceway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5B7083"/>
                </a:solidFill>
                <a:latin typeface="Calibri"/>
                <a:ea typeface="Calibri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870448"/>
            <a:ext cx="50292" cy="5120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957316"/>
            <a:ext cx="1143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60">
                <a:solidFill>
                  <a:srgbClr val="C87D0E"/>
                </a:solidFill>
                <a:latin typeface="Calibri"/>
                <a:ea typeface="Calibri"/>
              </a:rPr>
              <a:t>FIELD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4248" y="5925312"/>
            <a:ext cx="941191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B39"/>
                </a:solidFill>
                <a:latin typeface="Calibri"/>
                <a:ea typeface="Calibri"/>
              </a:rPr>
              <a:t>Segregate MV power on one side wall and control / instrumentation on the opposing trench wall.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709928"/>
            <a:ext cx="5852160" cy="12070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709928"/>
            <a:ext cx="54864" cy="12070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184708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Calibri"/>
                <a:ea typeface="Calibri"/>
              </a:rPr>
              <a:t>Precast Trench &amp; 1:100 Bed Slope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2240280"/>
            <a:ext cx="5394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80" b="0">
                <a:solidFill>
                  <a:srgbClr val="5B7083"/>
                </a:solidFill>
                <a:latin typeface="Calibri"/>
                <a:ea typeface="Calibri"/>
              </a:rPr>
              <a:t>Reinforced concrete with continuous longitudinal slope towards sumps to eliminate standing water.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081528"/>
            <a:ext cx="5852160" cy="12070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081528"/>
            <a:ext cx="54864" cy="1207008"/>
          </a:xfrm>
          <a:prstGeom prst="rect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21868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Calibri"/>
                <a:ea typeface="Calibri"/>
              </a:rPr>
              <a:t>Wall-Mounted Cable 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611880"/>
            <a:ext cx="5394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80" b="0">
                <a:solidFill>
                  <a:srgbClr val="5B7083"/>
                </a:solidFill>
                <a:latin typeface="Calibri"/>
                <a:ea typeface="Calibri"/>
              </a:rPr>
              <a:t>Unistrut cantilever brackets along walls; bottom cable level raised ≥ 100 mm off the trench floor.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453128"/>
            <a:ext cx="5852160" cy="12070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453128"/>
            <a:ext cx="54864" cy="12070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459028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Calibri"/>
                <a:ea typeface="Calibri"/>
              </a:rPr>
              <a:t>Cover Class &amp; Entry Seals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4983480"/>
            <a:ext cx="5394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80" b="0">
                <a:solidFill>
                  <a:srgbClr val="5B7083"/>
                </a:solidFill>
                <a:latin typeface="Calibri"/>
                <a:ea typeface="Calibri"/>
              </a:rPr>
              <a:t>Heavy RCC / chequered covers for roads; fire-rated gas-tight transits at building entry walls.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76288" y="1783080"/>
            <a:ext cx="4748479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79208" y="2468880"/>
            <a:ext cx="201168" cy="2514600"/>
          </a:xfrm>
          <a:prstGeom prst="rect">
            <a:avLst/>
          </a:prstGeom>
          <a:solidFill>
            <a:srgbClr val="C9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20679" y="2468880"/>
            <a:ext cx="201168" cy="2514600"/>
          </a:xfrm>
          <a:prstGeom prst="rect">
            <a:avLst/>
          </a:prstGeom>
          <a:solidFill>
            <a:srgbClr val="C9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79208" y="4800600"/>
            <a:ext cx="3742639" cy="182880"/>
          </a:xfrm>
          <a:prstGeom prst="rect">
            <a:avLst/>
          </a:prstGeom>
          <a:solidFill>
            <a:srgbClr val="C9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69480" y="2267712"/>
            <a:ext cx="3962095" cy="146304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79208" y="1965960"/>
            <a:ext cx="3742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B7083"/>
                </a:solidFill>
                <a:latin typeface="Calibri"/>
                <a:ea typeface="Calibri"/>
              </a:rPr>
              <a:t>RCC / chequered 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0376" y="2788920"/>
            <a:ext cx="566928" cy="64008"/>
          </a:xfrm>
          <a:prstGeom prst="rect">
            <a:avLst/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08392" y="2596896"/>
            <a:ext cx="182880" cy="182880"/>
          </a:xfrm>
          <a:prstGeom prst="ellipse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353751" y="2788920"/>
            <a:ext cx="566928" cy="64008"/>
          </a:xfrm>
          <a:prstGeom prst="rect">
            <a:avLst/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573207" y="2624328"/>
            <a:ext cx="146304" cy="14630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80376" y="3502152"/>
            <a:ext cx="566928" cy="64008"/>
          </a:xfrm>
          <a:prstGeom prst="rect">
            <a:avLst/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708392" y="3310128"/>
            <a:ext cx="182880" cy="182880"/>
          </a:xfrm>
          <a:prstGeom prst="ellipse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353751" y="3502152"/>
            <a:ext cx="566928" cy="64008"/>
          </a:xfrm>
          <a:prstGeom prst="rect">
            <a:avLst/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573207" y="3337560"/>
            <a:ext cx="146304" cy="14630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580376" y="4215384"/>
            <a:ext cx="566928" cy="64008"/>
          </a:xfrm>
          <a:prstGeom prst="rect">
            <a:avLst/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708392" y="4023360"/>
            <a:ext cx="182880" cy="182880"/>
          </a:xfrm>
          <a:prstGeom prst="ellipse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353751" y="4215384"/>
            <a:ext cx="566928" cy="64008"/>
          </a:xfrm>
          <a:prstGeom prst="rect">
            <a:avLst/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573207" y="4050792"/>
            <a:ext cx="146304" cy="14630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70648" y="503834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03A2B"/>
                </a:solidFill>
                <a:latin typeface="Calibri"/>
                <a:ea typeface="Calibri"/>
              </a:rPr>
              <a:t>MV power wall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47327" y="503834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2E8B57"/>
                </a:solidFill>
                <a:latin typeface="Calibri"/>
                <a:ea typeface="Calibri"/>
              </a:rPr>
              <a:t>Instrument wall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836408" y="4709160"/>
            <a:ext cx="2828239" cy="54864"/>
          </a:xfrm>
          <a:prstGeom prst="line">
            <a:avLst/>
          </a:prstGeom>
          <a:ln w="20320">
            <a:solidFill>
              <a:srgbClr val="36A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379208" y="4416552"/>
            <a:ext cx="3742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36A9E0"/>
                </a:solidFill>
                <a:latin typeface="Calibri"/>
                <a:ea typeface="Calibri"/>
              </a:rPr>
              <a:t>1:100 slope → sump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260">
                <a:solidFill>
                  <a:srgbClr val="C87D0E"/>
                </a:solidFill>
                <a:latin typeface="Calibri"/>
                <a:ea typeface="Calibri"/>
              </a:rPr>
              <a:t>DIGITAL ENGINEERING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B46"/>
                </a:solidFill>
                <a:latin typeface="Calibri"/>
                <a:ea typeface="Calibri"/>
              </a:rPr>
              <a:t>BIM / 3D Clash Coordination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5216" y="1243584"/>
            <a:ext cx="1280160" cy="0"/>
          </a:xfrm>
          <a:prstGeom prst="line">
            <a:avLst/>
          </a:prstGeom>
          <a:ln w="30480">
            <a:solidFill>
              <a:srgbClr val="F5A6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65376" y="1243584"/>
            <a:ext cx="9759391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5B7083"/>
                </a:solidFill>
                <a:latin typeface="Calibri"/>
                <a:ea typeface="Calibri"/>
              </a:rPr>
              <a:t>Cable Tray Routing &amp; Raceway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5B7083"/>
                </a:solidFill>
                <a:latin typeface="Calibri"/>
                <a:ea typeface="Calibri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870448"/>
            <a:ext cx="50292" cy="5120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957316"/>
            <a:ext cx="1143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60">
                <a:solidFill>
                  <a:srgbClr val="C87D0E"/>
                </a:solidFill>
                <a:latin typeface="Calibri"/>
                <a:ea typeface="Calibri"/>
              </a:rPr>
              <a:t>FIELD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4248" y="5925312"/>
            <a:ext cx="941191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B39"/>
                </a:solidFill>
                <a:latin typeface="Calibri"/>
                <a:ea typeface="Calibri"/>
              </a:rPr>
              <a:t>Conduct clash tests at 0 mm tolerance for structural steel and 25 mm for insulated piping.</a:t>
            </a:r>
          </a:p>
        </p:txBody>
      </p:sp>
      <p:pic>
        <p:nvPicPr>
          <p:cNvPr id="15" name="Picture 14" descr="bim_c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09928"/>
            <a:ext cx="5120640" cy="3611880"/>
          </a:xfrm>
          <a:prstGeom prst="rect">
            <a:avLst/>
          </a:prstGeom>
          <a:ln w="15240">
            <a:solidFill>
              <a:srgbClr val="D9E2EC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566928" y="53675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7083"/>
                </a:solidFill>
                <a:latin typeface="Calibri"/>
                <a:ea typeface="Calibri"/>
              </a:rPr>
              <a:t>Clash detection — structural vs MEP  (image: united-bim.com)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53328" y="1709928"/>
            <a:ext cx="5571439" cy="114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53328" y="1709928"/>
            <a:ext cx="54864" cy="1143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50227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Calibri"/>
                <a:ea typeface="Calibri"/>
              </a:rPr>
              <a:t>Piping Right-of-Way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212848"/>
            <a:ext cx="502279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80" b="0">
                <a:solidFill>
                  <a:srgbClr val="5B7083"/>
                </a:solidFill>
                <a:latin typeface="Calibri"/>
                <a:ea typeface="Calibri"/>
              </a:rPr>
              <a:t>Route cable trays ABOVE steam, hydrocarbon, and slurry pipes to eliminate leak-dripping hazards.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990088"/>
            <a:ext cx="5571439" cy="114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53328" y="2990088"/>
            <a:ext cx="54864" cy="1143000"/>
          </a:xfrm>
          <a:prstGeom prst="rect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3118104"/>
            <a:ext cx="50227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Calibri"/>
                <a:ea typeface="Calibri"/>
              </a:rPr>
              <a:t>HVAC Duct Clearances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493008"/>
            <a:ext cx="502279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80" b="0">
                <a:solidFill>
                  <a:srgbClr val="5B7083"/>
                </a:solidFill>
                <a:latin typeface="Calibri"/>
                <a:ea typeface="Calibri"/>
              </a:rPr>
              <a:t>Maintain 150 mm minimum separation from chilled-air ducts to stop surface thermal condensation.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53328" y="4270248"/>
            <a:ext cx="5571439" cy="114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53328" y="4270248"/>
            <a:ext cx="54864" cy="1143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4398264"/>
            <a:ext cx="50227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Calibri"/>
                <a:ea typeface="Calibri"/>
              </a:rPr>
              <a:t>Zero Soft Clashes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773168"/>
            <a:ext cx="502279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80" b="0">
                <a:solidFill>
                  <a:srgbClr val="5B7083"/>
                </a:solidFill>
                <a:latin typeface="Calibri"/>
                <a:ea typeface="Calibri"/>
              </a:rPr>
              <a:t>Model cable pull envelopes and maintenance zones directly in Revit / Navisworks models.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260">
                <a:solidFill>
                  <a:srgbClr val="C87D0E"/>
                </a:solidFill>
                <a:latin typeface="Calibri"/>
                <a:ea typeface="Calibri"/>
              </a:rPr>
              <a:t>SAFETY &amp; INTEGRITY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B46"/>
                </a:solidFill>
                <a:latin typeface="Calibri"/>
                <a:ea typeface="Calibri"/>
              </a:rPr>
              <a:t>Earthing, Bonding &amp; Grounding  (NEC 250)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5216" y="1243584"/>
            <a:ext cx="1280160" cy="0"/>
          </a:xfrm>
          <a:prstGeom prst="line">
            <a:avLst/>
          </a:prstGeom>
          <a:ln w="30480">
            <a:solidFill>
              <a:srgbClr val="F5A6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65376" y="1243584"/>
            <a:ext cx="9759391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5B7083"/>
                </a:solidFill>
                <a:latin typeface="Calibri"/>
                <a:ea typeface="Calibri"/>
              </a:rPr>
              <a:t>Cable Tray Routing &amp; Raceway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5B7083"/>
                </a:solidFill>
                <a:latin typeface="Calibri"/>
                <a:ea typeface="Calibri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870448"/>
            <a:ext cx="50292" cy="5120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957316"/>
            <a:ext cx="1143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60">
                <a:solidFill>
                  <a:srgbClr val="C87D0E"/>
                </a:solidFill>
                <a:latin typeface="Calibri"/>
                <a:ea typeface="Calibri"/>
              </a:rPr>
              <a:t>FIELD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4248" y="5925312"/>
            <a:ext cx="941191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B39"/>
                </a:solidFill>
                <a:latin typeface="Calibri"/>
                <a:ea typeface="Calibri"/>
              </a:rPr>
              <a:t>Remove paint, anodized coating, and lacquer completely at all bonding contact lugs.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892808"/>
            <a:ext cx="2586151" cy="3154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" y="1892808"/>
            <a:ext cx="2330119" cy="457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78992" y="2185416"/>
            <a:ext cx="0" cy="201168"/>
          </a:xfrm>
          <a:prstGeom prst="line">
            <a:avLst/>
          </a:prstGeom>
          <a:ln w="27940">
            <a:solidFill>
              <a:srgbClr val="1F6F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41247" y="2404872"/>
            <a:ext cx="475488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" y="2496312"/>
            <a:ext cx="310896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6695" y="2587752"/>
            <a:ext cx="164592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852928"/>
            <a:ext cx="20740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550" b="1">
                <a:solidFill>
                  <a:srgbClr val="0F2B46"/>
                </a:solidFill>
                <a:latin typeface="Calibri"/>
                <a:ea typeface="Calibri"/>
              </a:rPr>
              <a:t>Bonding Jumpers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584448"/>
            <a:ext cx="207408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20" b="0">
                <a:solidFill>
                  <a:srgbClr val="5B7083"/>
                </a:solidFill>
                <a:latin typeface="Calibri"/>
                <a:ea typeface="Calibri"/>
              </a:rPr>
              <a:t>Flexible copper braid jumpers across every expansion joint, swivel, and reducer.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90823" y="1892808"/>
            <a:ext cx="2586151" cy="3154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18839" y="1892808"/>
            <a:ext cx="2330119" cy="45720"/>
          </a:xfrm>
          <a:prstGeom prst="rect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3902887" y="2185416"/>
            <a:ext cx="0" cy="201168"/>
          </a:xfrm>
          <a:prstGeom prst="line">
            <a:avLst/>
          </a:prstGeom>
          <a:ln w="27940">
            <a:solidFill>
              <a:srgbClr val="36A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665143" y="2404872"/>
            <a:ext cx="475488" cy="41148"/>
          </a:xfrm>
          <a:prstGeom prst="rect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7439" y="2496312"/>
            <a:ext cx="310896" cy="41148"/>
          </a:xfrm>
          <a:prstGeom prst="rect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20591" y="2587752"/>
            <a:ext cx="164592" cy="41148"/>
          </a:xfrm>
          <a:prstGeom prst="rect">
            <a:avLst/>
          </a:prstGeom>
          <a:solidFill>
            <a:srgbClr val="3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46855" y="2852928"/>
            <a:ext cx="20740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550" b="1">
                <a:solidFill>
                  <a:srgbClr val="0F2B46"/>
                </a:solidFill>
                <a:latin typeface="Calibri"/>
                <a:ea typeface="Calibri"/>
              </a:rPr>
              <a:t>Main Grid Taps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46855" y="3584448"/>
            <a:ext cx="207408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20" b="0">
                <a:solidFill>
                  <a:srgbClr val="5B7083"/>
                </a:solidFill>
                <a:latin typeface="Calibri"/>
                <a:ea typeface="Calibri"/>
              </a:rPr>
              <a:t>Connect tray spine to the main earthing ring at 20 m intervals using 70 mm² bare copper.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4719" y="1892808"/>
            <a:ext cx="2586151" cy="3154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42735" y="1892808"/>
            <a:ext cx="2330119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726783" y="2185416"/>
            <a:ext cx="0" cy="201168"/>
          </a:xfrm>
          <a:prstGeom prst="line">
            <a:avLst/>
          </a:prstGeom>
          <a:ln w="27940">
            <a:solidFill>
              <a:srgbClr val="F5A6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489039" y="2404872"/>
            <a:ext cx="475488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71335" y="2496312"/>
            <a:ext cx="310896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44487" y="2587752"/>
            <a:ext cx="164592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0751" y="2852928"/>
            <a:ext cx="20740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550" b="1">
                <a:solidFill>
                  <a:srgbClr val="0F2B46"/>
                </a:solidFill>
                <a:latin typeface="Calibri"/>
                <a:ea typeface="Calibri"/>
              </a:rPr>
              <a:t>Low Resistance Limit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0751" y="3584448"/>
            <a:ext cx="207408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20" b="0">
                <a:solidFill>
                  <a:srgbClr val="5B7083"/>
                </a:solidFill>
                <a:latin typeface="Calibri"/>
                <a:ea typeface="Calibri"/>
              </a:rPr>
              <a:t>Measure end-to-end path resistance; must not exceed 0.1 Ω per IEEE Std 525.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38615" y="1892808"/>
            <a:ext cx="2586151" cy="3154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66631" y="1892808"/>
            <a:ext cx="2330119" cy="4572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9550679" y="2185416"/>
            <a:ext cx="0" cy="201168"/>
          </a:xfrm>
          <a:prstGeom prst="line">
            <a:avLst/>
          </a:prstGeom>
          <a:ln w="27940">
            <a:solidFill>
              <a:srgbClr val="0F2B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9312935" y="2404872"/>
            <a:ext cx="475488" cy="4114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395231" y="2496312"/>
            <a:ext cx="310896" cy="4114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468383" y="2587752"/>
            <a:ext cx="164592" cy="4114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94647" y="2852928"/>
            <a:ext cx="20740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550" b="1">
                <a:solidFill>
                  <a:srgbClr val="0F2B46"/>
                </a:solidFill>
                <a:latin typeface="Calibri"/>
                <a:ea typeface="Calibri"/>
              </a:rPr>
              <a:t>Equipment Grounding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94647" y="3584448"/>
            <a:ext cx="207408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20" b="0">
                <a:solidFill>
                  <a:srgbClr val="5B7083"/>
                </a:solidFill>
                <a:latin typeface="Calibri"/>
                <a:ea typeface="Calibri"/>
              </a:rPr>
              <a:t>Tray cannot substitute for the dedicated EGC green wire in branch circuits.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260">
                <a:solidFill>
                  <a:srgbClr val="C87D0E"/>
                </a:solidFill>
                <a:latin typeface="Calibri"/>
                <a:ea typeface="Calibri"/>
              </a:rPr>
              <a:t>QUALITY ASSURANCE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B46"/>
                </a:solidFill>
                <a:latin typeface="Calibri"/>
                <a:ea typeface="Calibri"/>
              </a:rPr>
              <a:t>Design Review &amp; QA/QC Gate Checklist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5216" y="1243584"/>
            <a:ext cx="1280160" cy="0"/>
          </a:xfrm>
          <a:prstGeom prst="line">
            <a:avLst/>
          </a:prstGeom>
          <a:ln w="30480">
            <a:solidFill>
              <a:srgbClr val="F5A6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65376" y="1243584"/>
            <a:ext cx="9759391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5B7083"/>
                </a:solidFill>
                <a:latin typeface="Calibri"/>
                <a:ea typeface="Calibri"/>
              </a:rPr>
              <a:t>Cable Tray Routing &amp; Raceway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5B7083"/>
                </a:solidFill>
                <a:latin typeface="Calibri"/>
                <a:ea typeface="Calibri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870448"/>
            <a:ext cx="50292" cy="5120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957316"/>
            <a:ext cx="1143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60">
                <a:solidFill>
                  <a:srgbClr val="C87D0E"/>
                </a:solidFill>
                <a:latin typeface="Calibri"/>
                <a:ea typeface="Calibri"/>
              </a:rPr>
              <a:t>FIELD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4248" y="5925312"/>
            <a:ext cx="941191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B39"/>
                </a:solidFill>
                <a:latin typeface="Calibri"/>
                <a:ea typeface="Calibri"/>
              </a:rPr>
              <a:t>Complete sign-off by the Lead Electrical Engineer prior to issuing drawings for construction (IFC).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682496"/>
            <a:ext cx="11057839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8096" y="1828800"/>
            <a:ext cx="329184" cy="32918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819656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1682496"/>
            <a:ext cx="3291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B46"/>
                </a:solidFill>
                <a:latin typeface="Calibri"/>
                <a:ea typeface="Calibri"/>
              </a:rPr>
              <a:t>Fill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1682496"/>
            <a:ext cx="657727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7083"/>
                </a:solidFill>
                <a:latin typeface="Calibri"/>
                <a:ea typeface="Calibri"/>
              </a:rPr>
              <a:t>Cross-sectional fill verified ≤ 40% (power) and 50% (control) with 20% spare.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382012"/>
            <a:ext cx="11057839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8096" y="2528316"/>
            <a:ext cx="329184" cy="32918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251917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2382012"/>
            <a:ext cx="3291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B46"/>
                </a:solidFill>
                <a:latin typeface="Calibri"/>
                <a:ea typeface="Calibri"/>
              </a:rPr>
              <a:t>Fitting Radius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2382012"/>
            <a:ext cx="657727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7083"/>
                </a:solidFill>
                <a:latin typeface="Calibri"/>
                <a:ea typeface="Calibri"/>
              </a:rPr>
              <a:t>Tray bend radii ≥ minimum bending radius of the thickest cable.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081528"/>
            <a:ext cx="11057839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8096" y="3227832"/>
            <a:ext cx="329184" cy="32918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1868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16736" y="3081528"/>
            <a:ext cx="3291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B46"/>
                </a:solidFill>
                <a:latin typeface="Calibri"/>
                <a:ea typeface="Calibri"/>
              </a:rPr>
              <a:t>Segregation Matrix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3081528"/>
            <a:ext cx="657727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7083"/>
                </a:solidFill>
                <a:latin typeface="Calibri"/>
                <a:ea typeface="Calibri"/>
              </a:rPr>
              <a:t>HV, LV, and instrumentation lines placed on correct vertical tiers.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781044"/>
            <a:ext cx="11057839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8096" y="3927348"/>
            <a:ext cx="329184" cy="32918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391820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16736" y="3781044"/>
            <a:ext cx="3291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B46"/>
                </a:solidFill>
                <a:latin typeface="Calibri"/>
                <a:ea typeface="Calibri"/>
              </a:rPr>
              <a:t>Support Calculations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3781044"/>
            <a:ext cx="657727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7083"/>
                </a:solidFill>
                <a:latin typeface="Calibri"/>
                <a:ea typeface="Calibri"/>
              </a:rPr>
              <a:t>Structural spans validated under NEMA VE 1 with the 0.25 L splice rule.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480560"/>
            <a:ext cx="11057839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8096" y="4626864"/>
            <a:ext cx="329184" cy="32918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61772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16736" y="4480560"/>
            <a:ext cx="3291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B46"/>
                </a:solidFill>
                <a:latin typeface="Calibri"/>
                <a:ea typeface="Calibri"/>
              </a:rPr>
              <a:t>Cover &amp; Trench Compliance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4480560"/>
            <a:ext cx="657727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7083"/>
                </a:solidFill>
                <a:latin typeface="Calibri"/>
                <a:ea typeface="Calibri"/>
              </a:rPr>
              <a:t>Outdoor peaked covers, ampacity derating, and trench drains checked.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5180076"/>
            <a:ext cx="11057839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68096" y="5326380"/>
            <a:ext cx="329184" cy="32918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" y="5317236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16736" y="5180076"/>
            <a:ext cx="3291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B46"/>
                </a:solidFill>
                <a:latin typeface="Calibri"/>
                <a:ea typeface="Calibri"/>
              </a:rPr>
              <a:t>Penetration Details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73168" y="5180076"/>
            <a:ext cx="657727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7083"/>
                </a:solidFill>
                <a:latin typeface="Calibri"/>
                <a:ea typeface="Calibri"/>
              </a:rPr>
              <a:t>2-hour UL-listed firestops and gas barrier seals scheduled on the MTO.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822959"/>
            <a:ext cx="914400" cy="914400"/>
          </a:xfrm>
          <a:prstGeom prst="ellipse">
            <a:avLst/>
          </a:prstGeom>
          <a:noFill/>
          <a:ln w="20320">
            <a:solidFill>
              <a:srgbClr val="2A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56648" y="1609343"/>
            <a:ext cx="914400" cy="914400"/>
          </a:xfrm>
          <a:prstGeom prst="ellipse">
            <a:avLst/>
          </a:prstGeom>
          <a:noFill/>
          <a:ln w="20320">
            <a:solidFill>
              <a:srgbClr val="2A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43032" y="1609343"/>
            <a:ext cx="914400" cy="914400"/>
          </a:xfrm>
          <a:prstGeom prst="ellipse">
            <a:avLst/>
          </a:prstGeom>
          <a:noFill/>
          <a:ln w="20320">
            <a:solidFill>
              <a:srgbClr val="2A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0" y="4206240"/>
            <a:ext cx="2377440" cy="2377440"/>
          </a:xfrm>
          <a:prstGeom prst="ellipse">
            <a:avLst/>
          </a:prstGeom>
          <a:noFill/>
          <a:ln w="15240">
            <a:solidFill>
              <a:srgbClr val="1E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300">
                <a:solidFill>
                  <a:srgbClr val="36A9E0"/>
                </a:solidFill>
                <a:latin typeface="Calibri"/>
                <a:ea typeface="Calibri"/>
              </a:rPr>
              <a:t>ENGINEERING TRAINING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8308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Calibri"/>
                <a:ea typeface="Calibri"/>
              </a:rPr>
              <a:t>Thanks &amp; Discussion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3063240"/>
            <a:ext cx="1371600" cy="0"/>
          </a:xfrm>
          <a:prstGeom prst="line">
            <a:avLst/>
          </a:prstGeom>
          <a:ln w="38100">
            <a:solidFill>
              <a:srgbClr val="F5A6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333756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B9CDDE"/>
                </a:solidFill>
                <a:latin typeface="Calibri"/>
                <a:ea typeface="Calibri"/>
              </a:rPr>
              <a:t>Safe raceway design balances electrical segregation, structural loading, thermal derating, and constructability in field execution.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6177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40">
                <a:solidFill>
                  <a:srgbClr val="8FA9C0"/>
                </a:solidFill>
                <a:latin typeface="Calibri"/>
                <a:ea typeface="Calibri"/>
              </a:rPr>
              <a:t>REFERENCE STANDARDS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983480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983480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spc="120">
                <a:solidFill>
                  <a:srgbClr val="DBE9F5"/>
                </a:solidFill>
                <a:latin typeface="Calibri"/>
                <a:ea typeface="Calibri"/>
              </a:rPr>
              <a:t>NEC 392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11095" y="4983480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11095" y="4983480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spc="120">
                <a:solidFill>
                  <a:srgbClr val="DBE9F5"/>
                </a:solidFill>
                <a:latin typeface="Calibri"/>
                <a:ea typeface="Calibri"/>
              </a:rPr>
              <a:t>NEMA VE 1 / VE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41064" y="4983480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41064" y="4983480"/>
            <a:ext cx="1463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spc="120">
                <a:solidFill>
                  <a:srgbClr val="DBE9F5"/>
                </a:solidFill>
                <a:latin typeface="Calibri"/>
                <a:ea typeface="Calibri"/>
              </a:rPr>
              <a:t>IEEE Std 525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05272" y="4983480"/>
            <a:ext cx="1280160" cy="420624"/>
          </a:xfrm>
          <a:prstGeom prst="roundRect">
            <a:avLst>
              <a:gd name="adj" fmla="val 50000"/>
            </a:avLst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05272" y="4983480"/>
            <a:ext cx="1280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spc="120">
                <a:solidFill>
                  <a:srgbClr val="DBE9F5"/>
                </a:solidFill>
                <a:latin typeface="Calibri"/>
                <a:ea typeface="Calibri"/>
              </a:rPr>
              <a:t>IEC 61537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4983480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4983480"/>
            <a:ext cx="1325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spc="120">
                <a:solidFill>
                  <a:srgbClr val="DBE9F5"/>
                </a:solidFill>
                <a:latin typeface="Calibri"/>
                <a:ea typeface="Calibri"/>
              </a:rPr>
              <a:t>OSHA 1910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8064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Hans Raj</a:t>
            </a:r>
            <a:r>
              <a:rPr sz="1400" b="0">
                <a:solidFill>
                  <a:srgbClr val="8FA9C0"/>
                </a:solidFill>
                <a:latin typeface="Calibri"/>
                <a:ea typeface="Calibri"/>
              </a:rPr>
              <a:t>   |   Air Liquide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260">
                <a:solidFill>
                  <a:srgbClr val="C87D0E"/>
                </a:solidFill>
                <a:latin typeface="Calibri"/>
                <a:ea typeface="Calibri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B46"/>
                </a:solidFill>
                <a:latin typeface="Calibri"/>
                <a:ea typeface="Calibri"/>
              </a:rPr>
              <a:t>Image Sources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5216" y="1243584"/>
            <a:ext cx="1280160" cy="0"/>
          </a:xfrm>
          <a:prstGeom prst="line">
            <a:avLst/>
          </a:prstGeom>
          <a:ln w="30480">
            <a:solidFill>
              <a:srgbClr val="F5A6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65376" y="1243584"/>
            <a:ext cx="9759391" cy="0"/>
          </a:xfrm>
          <a:prstGeom prst="line">
            <a:avLst/>
          </a:prstGeom>
          <a:ln w="1270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5B7083"/>
                </a:solidFill>
                <a:latin typeface="Calibri"/>
                <a:ea typeface="Calibri"/>
              </a:rPr>
              <a:t>Cable Tray Routing &amp; Raceway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5B7083"/>
                </a:solidFill>
                <a:latin typeface="Calibri"/>
                <a:ea typeface="Calibr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847088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Calibri"/>
                <a:ea typeface="Calibri"/>
              </a:rPr>
              <a:t>BIM clash detection render (slide 12):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58568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6FB2"/>
                </a:solidFill>
                <a:latin typeface="Calibri"/>
                <a:ea typeface="Calibri"/>
              </a:rPr>
              <a:t>https://www.united-bim.com/wp-content/uploads/2019/04/Clash-detection-for-hotel-project-of-structural-and-MEP.jpg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670048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083"/>
                </a:solidFill>
                <a:latin typeface="Calibri"/>
                <a:ea typeface="Calibri"/>
              </a:rPr>
              <a:t>Source: www.united-bim.com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401568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083"/>
                </a:solidFill>
                <a:latin typeface="Calibri"/>
                <a:ea typeface="Calibri"/>
              </a:rPr>
              <a:t>All diagrams are original vector illustrations created for this training deck.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