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is a working session, not a lecture: every rule ends with what it looks like on site. By the end you should be able to size a tray, pick a support class, and pass a drawing through QA without a rework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the colour code early: blue = design rule, red = hard limit, amber = engineering practice we adopt but the code does not mandate. That distinction is the single biggest source of arguments in design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four outcomes and tell them these map to the four QA gates the checker will use. If they can do these four, they can sign a tray drawing.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minutes. The goal is vocabulary, so the rest of the session is not a glossary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spend long here. One sentence per failure mode. The point: every later rule has a body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numbered callouts on the drawing. Five decisions; if the drawing does not state all five, it is not a construction drawing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room: which tray for a 33 kV feeder? Which for a 4–20 mA loop? The answer must name the reason, not the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galvanic pairing rule — it appears again in the earthing module and it is the most common site defect.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heart of the session. Slow down on the worked example — that is the skill they will use every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exam point: nobody remembers the solid-bottom value (35%). Also make clear that 40/50 are code, 20% is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it with a calculator. Stress: this is a thumb rule for one layer — if the run needs two layers, go back to the NEC area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table people photograph. Make clear the numbers are our project standard, so they can defend them without claiming they are NEC.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someone asks why trefoil: induced voltages in the sheath. Keep it short — the practical rule is one layer, non-magnetic clamps, trefoil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the cover decision is a cable-sizing decision. If the cover is added after sizing, the cable may be undersized.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Structural module. The two rules that get remembered: quarter point splice, and fitting support within 600 mm.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the common belief that the letter is a strength grade. It is a working-load designation; the number is the span.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Supervisors feel these numbers immediately. Ask them what clearance they actually get on site — it is usually 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Shielded MV cable is where this bites: too tight a bend and you get partial discharge months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prevents the 'why is my tray wavy in July' question. Emphasise bonding across the joint — continuity is the electrical part of a mechanical joint.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module. This is where drawings get rejected, so it is worth the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the original slide here: the tray CAN be the EGC if qualified, and bare copper in aluminium tray is a defect. Say both plainly.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the idea of the pull envelope: most 'no clashes' models are still unbuildable because nobody modelled the space needed to install.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the six gates as a one-pager. The signature line is the point: somebody's name is on the drawing.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them to photograph this slide. Then quiz: what is the solid-bottom fill? (35%.) What is the splice rule? (quarter point.)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four questions. If a participant can answer all four about their own area, the training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3000" y="0"/>
            <a:ext cx="4699000" cy="6858000"/>
          </a:xfrm>
          <a:prstGeom prst="rect">
            <a:avLst/>
          </a:prstGeom>
          <a:solidFill>
            <a:srgbClr val="0A1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4930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6708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8486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0264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2042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3820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598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376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9154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932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2710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266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8044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9822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3378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6934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8712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0490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2268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4046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5824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7602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9380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115800" y="0"/>
            <a:ext cx="0" cy="685800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493000" y="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93000" y="1778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493000" y="3556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93000" y="5334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493000" y="7112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493000" y="8890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493000" y="10668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493000" y="12446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493000" y="14224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493000" y="16002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493000" y="17780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493000" y="19558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493000" y="21336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493000" y="23114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493000" y="24892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493000" y="26670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493000" y="28448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493000" y="30226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493000" y="32004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493000" y="33782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493000" y="35560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493000" y="37338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493000" y="39116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493000" y="40894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493000" y="42672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493000" y="44450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493000" y="46228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493000" y="48006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493000" y="49784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493000" y="51562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493000" y="53340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493000" y="55118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493000" y="56896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493000" y="58674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493000" y="60452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493000" y="62230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493000" y="64008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493000" y="65786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493000" y="6756400"/>
            <a:ext cx="4699000" cy="0"/>
          </a:xfrm>
          <a:prstGeom prst="line">
            <a:avLst/>
          </a:prstGeom>
          <a:ln w="6350">
            <a:solidFill>
              <a:srgbClr val="132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0" name="Picture 69" descr="al_watermark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4826000"/>
            <a:ext cx="1625600" cy="1625600"/>
          </a:xfrm>
          <a:prstGeom prst="rect">
            <a:avLst/>
          </a:prstGeom>
          <a:effectLst/>
        </p:spPr>
      </p:pic>
      <p:sp>
        <p:nvSpPr>
          <p:cNvPr id="71" name="TextBox 70"/>
          <p:cNvSpPr txBox="1"/>
          <p:nvPr/>
        </p:nvSpPr>
        <p:spPr>
          <a:xfrm>
            <a:off x="7975600" y="2208540"/>
            <a:ext cx="4229100" cy="149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57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6E8FB4"/>
                </a:solidFill>
                <a:latin typeface="Consolas"/>
                <a:ea typeface="Consolas"/>
                <a:cs typeface="Consolas"/>
              </a:rPr>
              <a:t>LADDER TRAY RUN · SIDE ELEVATION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026400" y="3648964"/>
            <a:ext cx="3632200" cy="63500"/>
          </a:xfrm>
          <a:prstGeom prst="roundRect">
            <a:avLst>
              <a:gd name="adj" fmla="val 40000"/>
            </a:avLst>
          </a:prstGeom>
          <a:solidFill>
            <a:srgbClr val="0E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8013700" y="3238500"/>
            <a:ext cx="0" cy="321564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318500" y="3238500"/>
            <a:ext cx="0" cy="321564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623300" y="3238500"/>
            <a:ext cx="0" cy="321564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928100" y="3238500"/>
            <a:ext cx="0" cy="321564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9232900" y="3238500"/>
            <a:ext cx="0" cy="321564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537700" y="3238500"/>
            <a:ext cx="0" cy="321564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842500" y="3238500"/>
            <a:ext cx="0" cy="321564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0147300" y="3238500"/>
            <a:ext cx="0" cy="321564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0452100" y="3238500"/>
            <a:ext cx="0" cy="321564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756900" y="3238500"/>
            <a:ext cx="0" cy="321564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1061700" y="3238500"/>
            <a:ext cx="0" cy="321564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1366500" y="3238500"/>
            <a:ext cx="0" cy="321564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1671300" y="3238500"/>
            <a:ext cx="0" cy="321564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7975600" y="3124200"/>
            <a:ext cx="3733800" cy="57150"/>
          </a:xfrm>
          <a:prstGeom prst="roundRect">
            <a:avLst>
              <a:gd name="adj" fmla="val 44444"/>
            </a:avLst>
          </a:prstGeom>
          <a:solidFill>
            <a:srgbClr val="5E9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7975600" y="3560064"/>
            <a:ext cx="3733800" cy="57150"/>
          </a:xfrm>
          <a:prstGeom prst="roundRect">
            <a:avLst>
              <a:gd name="adj" fmla="val 44444"/>
            </a:avLst>
          </a:prstGeom>
          <a:solidFill>
            <a:srgbClr val="2F6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7975600" y="3124200"/>
            <a:ext cx="50800" cy="493014"/>
          </a:xfrm>
          <a:prstGeom prst="roundRect">
            <a:avLst>
              <a:gd name="adj" fmla="val 25000"/>
            </a:avLst>
          </a:prstGeom>
          <a:solidFill>
            <a:srgbClr val="5E9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1658600" y="3124200"/>
            <a:ext cx="50800" cy="493014"/>
          </a:xfrm>
          <a:prstGeom prst="roundRect">
            <a:avLst>
              <a:gd name="adj" fmla="val 25000"/>
            </a:avLst>
          </a:prstGeom>
          <a:solidFill>
            <a:srgbClr val="5E9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8051800" y="3225800"/>
            <a:ext cx="3581400" cy="0"/>
          </a:xfrm>
          <a:prstGeom prst="line">
            <a:avLst/>
          </a:prstGeom>
          <a:ln w="33020">
            <a:solidFill>
              <a:srgbClr val="D01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051800" y="3320288"/>
            <a:ext cx="3581400" cy="0"/>
          </a:xfrm>
          <a:prstGeom prst="line">
            <a:avLst/>
          </a:prstGeom>
          <a:ln w="33020">
            <a:solidFill>
              <a:srgbClr val="E0A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051800" y="3414776"/>
            <a:ext cx="3581400" cy="0"/>
          </a:xfrm>
          <a:prstGeom prst="line">
            <a:avLst/>
          </a:prstGeom>
          <a:ln w="33020">
            <a:solidFill>
              <a:srgbClr val="3FA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051800" y="3509264"/>
            <a:ext cx="3581400" cy="0"/>
          </a:xfrm>
          <a:prstGeom prst="line">
            <a:avLst/>
          </a:prstGeom>
          <a:ln w="33020">
            <a:solidFill>
              <a:srgbClr val="6E97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051800" y="3610864"/>
            <a:ext cx="0" cy="508000"/>
          </a:xfrm>
          <a:prstGeom prst="line">
            <a:avLst/>
          </a:prstGeom>
          <a:ln w="27940">
            <a:solidFill>
              <a:srgbClr val="3E6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886700" y="4118864"/>
            <a:ext cx="330200" cy="0"/>
          </a:xfrm>
          <a:prstGeom prst="line">
            <a:avLst/>
          </a:prstGeom>
          <a:ln w="27940">
            <a:solidFill>
              <a:srgbClr val="3E6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962900" y="4055364"/>
            <a:ext cx="177800" cy="0"/>
          </a:xfrm>
          <a:prstGeom prst="line">
            <a:avLst/>
          </a:prstGeom>
          <a:ln w="15240">
            <a:solidFill>
              <a:srgbClr val="3E6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8027670" y="3561334"/>
            <a:ext cx="48260" cy="48260"/>
          </a:xfrm>
          <a:prstGeom prst="ellipse">
            <a:avLst/>
          </a:prstGeom>
          <a:solidFill>
            <a:srgbClr val="7FA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9842500" y="3610864"/>
            <a:ext cx="0" cy="508000"/>
          </a:xfrm>
          <a:prstGeom prst="line">
            <a:avLst/>
          </a:prstGeom>
          <a:ln w="27940">
            <a:solidFill>
              <a:srgbClr val="3E6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677400" y="4118864"/>
            <a:ext cx="330200" cy="0"/>
          </a:xfrm>
          <a:prstGeom prst="line">
            <a:avLst/>
          </a:prstGeom>
          <a:ln w="27940">
            <a:solidFill>
              <a:srgbClr val="3E6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753600" y="4055364"/>
            <a:ext cx="177800" cy="0"/>
          </a:xfrm>
          <a:prstGeom prst="line">
            <a:avLst/>
          </a:prstGeom>
          <a:ln w="15240">
            <a:solidFill>
              <a:srgbClr val="3E6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9818370" y="3561334"/>
            <a:ext cx="48260" cy="48260"/>
          </a:xfrm>
          <a:prstGeom prst="ellipse">
            <a:avLst/>
          </a:prstGeom>
          <a:solidFill>
            <a:srgbClr val="7FA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>
            <a:off x="11633200" y="3610864"/>
            <a:ext cx="0" cy="508000"/>
          </a:xfrm>
          <a:prstGeom prst="line">
            <a:avLst/>
          </a:prstGeom>
          <a:ln w="27940">
            <a:solidFill>
              <a:srgbClr val="3E6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1468100" y="4118864"/>
            <a:ext cx="330200" cy="0"/>
          </a:xfrm>
          <a:prstGeom prst="line">
            <a:avLst/>
          </a:prstGeom>
          <a:ln w="27940">
            <a:solidFill>
              <a:srgbClr val="3E6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1544300" y="4055364"/>
            <a:ext cx="177800" cy="0"/>
          </a:xfrm>
          <a:prstGeom prst="line">
            <a:avLst/>
          </a:prstGeom>
          <a:ln w="15240">
            <a:solidFill>
              <a:srgbClr val="3E6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11609070" y="3561334"/>
            <a:ext cx="48260" cy="48260"/>
          </a:xfrm>
          <a:prstGeom prst="ellipse">
            <a:avLst/>
          </a:prstGeom>
          <a:solidFill>
            <a:srgbClr val="7FA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>
            <a:off x="8051800" y="2921000"/>
            <a:ext cx="1790700" cy="0"/>
          </a:xfrm>
          <a:prstGeom prst="line">
            <a:avLst/>
          </a:prstGeom>
          <a:ln w="8890">
            <a:solidFill>
              <a:srgbClr val="7FA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8051800" y="2870200"/>
            <a:ext cx="0" cy="101600"/>
          </a:xfrm>
          <a:prstGeom prst="line">
            <a:avLst/>
          </a:prstGeom>
          <a:ln w="8890">
            <a:solidFill>
              <a:srgbClr val="7FA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842500" y="2870200"/>
            <a:ext cx="0" cy="101600"/>
          </a:xfrm>
          <a:prstGeom prst="line">
            <a:avLst/>
          </a:prstGeom>
          <a:ln w="8890">
            <a:solidFill>
              <a:srgbClr val="7FA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804150" y="2691973"/>
            <a:ext cx="2324100" cy="1448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83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7FA8D0"/>
                </a:solidFill>
                <a:latin typeface="Consolas"/>
                <a:ea typeface="Consolas"/>
                <a:cs typeface="Consolas"/>
              </a:rPr>
              <a:t>SPAN S = 3.66 m (12 ft, CLASS C)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7975600" y="4322064"/>
            <a:ext cx="3733800" cy="0"/>
          </a:xfrm>
          <a:prstGeom prst="line">
            <a:avLst/>
          </a:prstGeom>
          <a:ln w="8890">
            <a:solidFill>
              <a:srgbClr val="7FA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75600" y="4271264"/>
            <a:ext cx="0" cy="101600"/>
          </a:xfrm>
          <a:prstGeom prst="line">
            <a:avLst/>
          </a:prstGeom>
          <a:ln w="8890">
            <a:solidFill>
              <a:srgbClr val="7FA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1709400" y="4271264"/>
            <a:ext cx="0" cy="101600"/>
          </a:xfrm>
          <a:prstGeom prst="line">
            <a:avLst/>
          </a:prstGeom>
          <a:ln w="8890">
            <a:solidFill>
              <a:srgbClr val="7FA8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9080500" y="4371604"/>
            <a:ext cx="1562100" cy="149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857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7FA8D0"/>
                </a:solidFill>
                <a:latin typeface="Consolas"/>
                <a:ea typeface="Consolas"/>
                <a:cs typeface="Consolas"/>
              </a:rPr>
              <a:t>RUN LENGTH L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7975600" y="5461000"/>
            <a:ext cx="3835400" cy="0"/>
          </a:xfrm>
          <a:prstGeom prst="line">
            <a:avLst/>
          </a:prstGeom>
          <a:ln w="10160">
            <a:solidFill>
              <a:srgbClr val="2446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7975600" y="5586740"/>
            <a:ext cx="4229100" cy="149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57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6E8FB4"/>
                </a:solidFill>
                <a:latin typeface="Consolas"/>
                <a:ea typeface="Consolas"/>
                <a:cs typeface="Consolas"/>
              </a:rPr>
              <a:t>SEVEN CABLES · ONE LAYER · LOAD CLASS C</a:t>
            </a:r>
          </a:p>
        </p:txBody>
      </p:sp>
      <p:pic>
        <p:nvPicPr>
          <p:cNvPr id="116" name="Picture 115" descr="a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84200"/>
            <a:ext cx="1473200" cy="284819"/>
          </a:xfrm>
          <a:prstGeom prst="rect">
            <a:avLst/>
          </a:prstGeom>
          <a:effectLst/>
        </p:spPr>
      </p:pic>
      <p:sp>
        <p:nvSpPr>
          <p:cNvPr id="117" name="Rounded Rectangle 116"/>
          <p:cNvSpPr/>
          <p:nvPr/>
        </p:nvSpPr>
        <p:spPr>
          <a:xfrm>
            <a:off x="685800" y="1549400"/>
            <a:ext cx="482600" cy="38100"/>
          </a:xfrm>
          <a:prstGeom prst="roundRect">
            <a:avLst>
              <a:gd name="adj" fmla="val 50000"/>
            </a:avLst>
          </a:prstGeom>
          <a:solidFill>
            <a:srgbClr val="C0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85800" y="1718442"/>
            <a:ext cx="6007100" cy="1916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INDUSTRIAL ELECTRICAL &amp; INSTRUMENTATION DESIGN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5800" y="2012239"/>
            <a:ext cx="6388100" cy="755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0F1B2D"/>
                </a:solidFill>
                <a:latin typeface="Segoe UI Black"/>
                <a:ea typeface="Segoe UI Black"/>
                <a:cs typeface="Segoe UI Black"/>
              </a:rPr>
              <a:t>Cable Tray Routing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5800" y="2532939"/>
            <a:ext cx="6388100" cy="755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0F1B2D"/>
                </a:solidFill>
                <a:latin typeface="Segoe UI Black"/>
                <a:ea typeface="Segoe UI Black"/>
                <a:cs typeface="Segoe UI Black"/>
              </a:rPr>
              <a:t>&amp; Raceway Engineering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5800" y="3151276"/>
            <a:ext cx="5372100" cy="501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Design standards, fill factors, structural supports, clearances, covers and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underground trenches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5800" y="3982375"/>
            <a:ext cx="3848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93A2B4"/>
                </a:solidFill>
                <a:latin typeface="Segoe UI"/>
                <a:ea typeface="Segoe UI"/>
                <a:cs typeface="Segoe UI"/>
              </a:rPr>
              <a:t>DESIGN BASIS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85800" y="4178300"/>
            <a:ext cx="677862" cy="254000"/>
          </a:xfrm>
          <a:prstGeom prst="roundRect">
            <a:avLst>
              <a:gd name="adj" fmla="val 20000"/>
            </a:avLst>
          </a:prstGeom>
          <a:solidFill>
            <a:srgbClr val="EEF3FA"/>
          </a:solidFill>
          <a:ln w="8890">
            <a:solidFill>
              <a:srgbClr val="C7D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00100" y="4225859"/>
            <a:ext cx="715962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375F9B"/>
                </a:solidFill>
                <a:latin typeface="Segoe UI Semibold"/>
                <a:ea typeface="Segoe UI Semibold"/>
                <a:cs typeface="Segoe UI Semibold"/>
              </a:rPr>
              <a:t>NEC 392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452562" y="4178300"/>
            <a:ext cx="1119188" cy="254000"/>
          </a:xfrm>
          <a:prstGeom prst="roundRect">
            <a:avLst>
              <a:gd name="adj" fmla="val 20000"/>
            </a:avLst>
          </a:prstGeom>
          <a:solidFill>
            <a:srgbClr val="EEF3FA"/>
          </a:solidFill>
          <a:ln w="8890">
            <a:solidFill>
              <a:srgbClr val="C7D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566862" y="4225859"/>
            <a:ext cx="1157288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375F9B"/>
                </a:solidFill>
                <a:latin typeface="Segoe UI Semibold"/>
                <a:ea typeface="Segoe UI Semibold"/>
                <a:cs typeface="Segoe UI Semibold"/>
              </a:rPr>
              <a:t>NEMA VE 1 / VE 2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660650" y="4178300"/>
            <a:ext cx="668338" cy="254000"/>
          </a:xfrm>
          <a:prstGeom prst="roundRect">
            <a:avLst>
              <a:gd name="adj" fmla="val 20000"/>
            </a:avLst>
          </a:prstGeom>
          <a:solidFill>
            <a:srgbClr val="EEF3FA"/>
          </a:solidFill>
          <a:ln w="8890">
            <a:solidFill>
              <a:srgbClr val="C7D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774950" y="4225859"/>
            <a:ext cx="706438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375F9B"/>
                </a:solidFill>
                <a:latin typeface="Segoe UI Semibold"/>
                <a:ea typeface="Segoe UI Semibold"/>
                <a:cs typeface="Segoe UI Semibold"/>
              </a:rPr>
              <a:t>IEEE 525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3417888" y="4178300"/>
            <a:ext cx="733425" cy="254000"/>
          </a:xfrm>
          <a:prstGeom prst="roundRect">
            <a:avLst>
              <a:gd name="adj" fmla="val 20000"/>
            </a:avLst>
          </a:prstGeom>
          <a:solidFill>
            <a:srgbClr val="EEF3FA"/>
          </a:solidFill>
          <a:ln w="8890">
            <a:solidFill>
              <a:srgbClr val="C7D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532188" y="4225859"/>
            <a:ext cx="771525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375F9B"/>
                </a:solidFill>
                <a:latin typeface="Segoe UI Semibold"/>
                <a:ea typeface="Segoe UI Semibold"/>
                <a:cs typeface="Segoe UI Semibold"/>
              </a:rPr>
              <a:t>IEC 61537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685800" y="5511800"/>
            <a:ext cx="5461000" cy="0"/>
          </a:xfrm>
          <a:prstGeom prst="line">
            <a:avLst/>
          </a:prstGeom>
          <a:ln w="1016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685800" y="5727476"/>
            <a:ext cx="2578100" cy="2149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F1B2D"/>
                </a:solidFill>
                <a:latin typeface="Segoe UI Semibold"/>
                <a:ea typeface="Segoe UI Semibold"/>
                <a:cs typeface="Segoe UI Semibold"/>
              </a:rPr>
              <a:t>Field engineering training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324100" y="5727476"/>
            <a:ext cx="2578100" cy="2149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4768C"/>
                </a:solidFill>
                <a:latin typeface="Segoe UI"/>
                <a:ea typeface="Segoe UI"/>
                <a:cs typeface="Segoe UI"/>
              </a:rPr>
              <a:t>29 October 2026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482975" y="5727476"/>
            <a:ext cx="2578100" cy="2149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4768C"/>
                </a:solidFill>
                <a:latin typeface="Segoe UI"/>
                <a:ea typeface="Segoe UI"/>
                <a:cs typeface="Segoe UI"/>
              </a:rPr>
              <a:t>Trainer: Hans Raj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1800" y="3886200"/>
            <a:ext cx="2540000" cy="2540000"/>
          </a:xfrm>
          <a:prstGeom prst="rect">
            <a:avLst/>
          </a:prstGeom>
          <a:effectLst/>
        </p:spPr>
      </p:pic>
      <p:pic>
        <p:nvPicPr>
          <p:cNvPr id="3" name="Picture 2" descr="a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200" y="330200"/>
            <a:ext cx="1270000" cy="245533"/>
          </a:xfrm>
          <a:prstGeom prst="rect">
            <a:avLst/>
          </a:prstGeom>
          <a:effectLst/>
        </p:spPr>
      </p:pic>
      <p:sp>
        <p:nvSpPr>
          <p:cNvPr id="4" name="Rounded Rectangle 3"/>
          <p:cNvSpPr/>
          <p:nvPr/>
        </p:nvSpPr>
        <p:spPr>
          <a:xfrm>
            <a:off x="685800" y="533400"/>
            <a:ext cx="203200" cy="38100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" y="409509"/>
            <a:ext cx="7150100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16432"/>
            <a:ext cx="9359900" cy="5448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B2D"/>
                </a:solidFill>
                <a:latin typeface="Segoe UI Black"/>
                <a:ea typeface="Segoe UI Black"/>
                <a:cs typeface="Segoe UI Black"/>
              </a:rPr>
              <a:t>Four modules, one deliverable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38204"/>
            <a:ext cx="7658100" cy="4356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Each module answers one question the drawing has to survive: what is the system, what size is it, will it stand, and is it safe</a:t>
            </a:r>
          </a:p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and checkable.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5600" y="1979930"/>
            <a:ext cx="3530600" cy="3733800"/>
          </a:xfrm>
          <a:prstGeom prst="roundRect">
            <a:avLst>
              <a:gd name="adj" fmla="val 2877"/>
            </a:avLst>
          </a:prstGeom>
          <a:solidFill>
            <a:srgbClr val="0A1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9" name="Picture 8" descr="al_watermar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4000" y="4494530"/>
            <a:ext cx="965200" cy="965200"/>
          </a:xfrm>
          <a:prstGeom prst="rect">
            <a:avLst/>
          </a:prstGeom>
          <a:effectLst/>
        </p:spPr>
      </p:pic>
      <p:sp>
        <p:nvSpPr>
          <p:cNvPr id="10" name="Rounded Rectangle 9"/>
          <p:cNvSpPr/>
          <p:nvPr/>
        </p:nvSpPr>
        <p:spPr>
          <a:xfrm>
            <a:off x="685800" y="1979930"/>
            <a:ext cx="6959600" cy="838200"/>
          </a:xfrm>
          <a:prstGeom prst="roundRect">
            <a:avLst>
              <a:gd name="adj" fmla="val 10606"/>
            </a:avLst>
          </a:prstGeom>
          <a:solidFill>
            <a:srgbClr val="F5F8FC"/>
          </a:solidFill>
          <a:ln w="889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88998"/>
            <a:ext cx="546100" cy="3855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11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9400" y="2079010"/>
            <a:ext cx="4229100" cy="299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15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Foundations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49400" y="2345776"/>
            <a:ext cx="4965700" cy="2114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64768C"/>
                </a:solidFill>
                <a:latin typeface="Segoe UI"/>
                <a:ea typeface="Segoe UI"/>
                <a:cs typeface="Segoe UI"/>
              </a:rPr>
              <a:t>System anatomy, tray types, material selection.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8600" y="2254738"/>
            <a:ext cx="927100" cy="168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Slides 4–8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945130"/>
            <a:ext cx="6959600" cy="8382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889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54198"/>
            <a:ext cx="546100" cy="3855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11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9400" y="3044210"/>
            <a:ext cx="4229100" cy="299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15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Electrical sizing &amp; segregation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9400" y="3310976"/>
            <a:ext cx="4965700" cy="2114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64768C"/>
                </a:solidFill>
                <a:latin typeface="Segoe UI"/>
                <a:ea typeface="Segoe UI"/>
                <a:cs typeface="Segoe UI"/>
              </a:rPr>
              <a:t>Fill limits, worked sizing, tier separation, laying, derating.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8600" y="3219938"/>
            <a:ext cx="927100" cy="168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Slides 9–14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10330"/>
            <a:ext cx="6959600" cy="838200"/>
          </a:xfrm>
          <a:prstGeom prst="roundRect">
            <a:avLst>
              <a:gd name="adj" fmla="val 10606"/>
            </a:avLst>
          </a:prstGeom>
          <a:solidFill>
            <a:srgbClr val="F5F8FC"/>
          </a:solidFill>
          <a:ln w="889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19398"/>
            <a:ext cx="546100" cy="3855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11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49400" y="4009410"/>
            <a:ext cx="4229100" cy="299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15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Structural &amp; installation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49400" y="4276176"/>
            <a:ext cx="4965700" cy="2114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64768C"/>
                </a:solidFill>
                <a:latin typeface="Segoe UI"/>
                <a:ea typeface="Segoe UI"/>
                <a:cs typeface="Segoe UI"/>
              </a:rPr>
              <a:t>NEMA load classes, supports, clearances, bend radii, expansion.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8600" y="4185138"/>
            <a:ext cx="927100" cy="168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Slides 15–19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75530"/>
            <a:ext cx="6959600" cy="8382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889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984598"/>
            <a:ext cx="546100" cy="3855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11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49400" y="4974610"/>
            <a:ext cx="4229100" cy="2991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15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Safety, QA &amp; digital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49400" y="5241376"/>
            <a:ext cx="4965700" cy="2114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64768C"/>
                </a:solidFill>
                <a:latin typeface="Segoe UI"/>
                <a:ea typeface="Segoe UI"/>
                <a:cs typeface="Segoe UI"/>
              </a:rPr>
              <a:t>Earthing and bonding, clash coordination, QA gate, recap.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8600" y="5150338"/>
            <a:ext cx="927100" cy="168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Slides 20–25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4200" y="2138975"/>
            <a:ext cx="3111500" cy="24770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How to use this session</a:t>
            </a:r>
          </a:p>
        </p:txBody>
      </p:sp>
      <p:sp>
        <p:nvSpPr>
          <p:cNvPr id="31" name="Oval 30"/>
          <p:cNvSpPr/>
          <p:nvPr/>
        </p:nvSpPr>
        <p:spPr>
          <a:xfrm>
            <a:off x="8218170" y="2527300"/>
            <a:ext cx="48260" cy="48260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2000" y="2446091"/>
            <a:ext cx="29083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Rules are grouped by the standard that owns them —</a:t>
            </a:r>
          </a:p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the tag tells you where to look it up.</a:t>
            </a:r>
          </a:p>
        </p:txBody>
      </p:sp>
      <p:sp>
        <p:nvSpPr>
          <p:cNvPr id="33" name="Oval 32"/>
          <p:cNvSpPr/>
          <p:nvPr/>
        </p:nvSpPr>
        <p:spPr>
          <a:xfrm>
            <a:off x="8218170" y="2964180"/>
            <a:ext cx="48260" cy="48260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2000" y="2882971"/>
            <a:ext cx="29083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Every red number is a hard limit; every amber note is</a:t>
            </a:r>
          </a:p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good practice, not code.</a:t>
            </a:r>
          </a:p>
        </p:txBody>
      </p:sp>
      <p:sp>
        <p:nvSpPr>
          <p:cNvPr id="35" name="Oval 34"/>
          <p:cNvSpPr/>
          <p:nvPr/>
        </p:nvSpPr>
        <p:spPr>
          <a:xfrm>
            <a:off x="8218170" y="3401060"/>
            <a:ext cx="48260" cy="48260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2000" y="3319851"/>
            <a:ext cx="29083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The closing recap is the page to photograph before</a:t>
            </a:r>
          </a:p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you leave.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04200" y="4875530"/>
            <a:ext cx="3073400" cy="0"/>
          </a:xfrm>
          <a:prstGeom prst="line">
            <a:avLst/>
          </a:prstGeom>
          <a:ln w="10160">
            <a:solidFill>
              <a:srgbClr val="2A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204200" y="4965446"/>
            <a:ext cx="1062567" cy="350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FA8DC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04200" y="5240071"/>
            <a:ext cx="1062567" cy="1635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9AB2CC"/>
                </a:solidFill>
                <a:latin typeface="Segoe UI"/>
                <a:ea typeface="Segoe UI"/>
                <a:cs typeface="Segoe UI"/>
              </a:rPr>
              <a:t>MODULES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28667" y="4965446"/>
            <a:ext cx="1062567" cy="350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FA8DC"/>
                </a:solidFill>
                <a:latin typeface="Consolas"/>
                <a:ea typeface="Consolas"/>
                <a:cs typeface="Consolas"/>
              </a:rPr>
              <a:t>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8667" y="5240071"/>
            <a:ext cx="1062567" cy="1635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9AB2CC"/>
                </a:solidFill>
                <a:latin typeface="Segoe UI"/>
                <a:ea typeface="Segoe UI"/>
                <a:cs typeface="Segoe UI"/>
              </a:rPr>
              <a:t>SLIDES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53133" y="4965446"/>
            <a:ext cx="1062567" cy="350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FA8DC"/>
                </a:solidFill>
                <a:latin typeface="Consolas"/>
                <a:ea typeface="Consolas"/>
                <a:cs typeface="Consolas"/>
              </a:rPr>
              <a:t>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53133" y="5240071"/>
            <a:ext cx="1062567" cy="1635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9AB2CC"/>
                </a:solidFill>
                <a:latin typeface="Segoe UI"/>
                <a:ea typeface="Segoe UI"/>
                <a:cs typeface="Segoe UI"/>
              </a:rPr>
              <a:t>MINUTES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85800" y="6324600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85800" y="6369975"/>
            <a:ext cx="664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Segoe UI Semibold"/>
                <a:ea typeface="Segoe UI Semibold"/>
                <a:cs typeface="Segoe UI Semibold"/>
              </a:rPr>
              <a:t>Cable Tray Routing &amp; Raceway Engineering · Industrial E&amp;I Design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82200" y="6369975"/>
            <a:ext cx="156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Consolas"/>
                <a:ea typeface="Consolas"/>
                <a:cs typeface="Consolas"/>
              </a:rPr>
              <a:t>02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1800" y="3886200"/>
            <a:ext cx="2540000" cy="2540000"/>
          </a:xfrm>
          <a:prstGeom prst="rect">
            <a:avLst/>
          </a:prstGeom>
          <a:effectLst/>
        </p:spPr>
      </p:pic>
      <p:pic>
        <p:nvPicPr>
          <p:cNvPr id="3" name="Picture 2" descr="a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200" y="330200"/>
            <a:ext cx="1270000" cy="245533"/>
          </a:xfrm>
          <a:prstGeom prst="rect">
            <a:avLst/>
          </a:prstGeom>
          <a:effectLst/>
        </p:spPr>
      </p:pic>
      <p:sp>
        <p:nvSpPr>
          <p:cNvPr id="4" name="Rounded Rectangle 3"/>
          <p:cNvSpPr/>
          <p:nvPr/>
        </p:nvSpPr>
        <p:spPr>
          <a:xfrm>
            <a:off x="685800" y="533400"/>
            <a:ext cx="203200" cy="38100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" y="409509"/>
            <a:ext cx="7150100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16432"/>
            <a:ext cx="9359900" cy="5448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B2D"/>
                </a:solidFill>
                <a:latin typeface="Segoe UI Black"/>
                <a:ea typeface="Segoe UI Black"/>
                <a:cs typeface="Segoe UI Black"/>
              </a:rPr>
              <a:t>By the end of this session you can…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38235"/>
            <a:ext cx="84201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8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Four things a designer or supervisor should be able to do unaided tomorrow morning.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79930"/>
            <a:ext cx="2581275" cy="2483866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979930"/>
            <a:ext cx="38100" cy="2483866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233930"/>
            <a:ext cx="304800" cy="304800"/>
          </a:xfrm>
          <a:prstGeom prst="ellipse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97521"/>
            <a:ext cx="342900" cy="17759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018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78054"/>
            <a:ext cx="2212975" cy="311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Choose the tray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35615"/>
            <a:ext cx="2212975" cy="629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8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Pick ladder, trough, wire-mesh or</a:t>
            </a:r>
          </a:p>
          <a:p>
            <a:pPr algn="l">
              <a:lnSpc>
                <a:spcPts val="148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channel for a given cable mix, and</a:t>
            </a:r>
          </a:p>
          <a:p>
            <a:pPr algn="l">
              <a:lnSpc>
                <a:spcPts val="148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justify it in one sentence.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3955796"/>
            <a:ext cx="2124075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4066753"/>
            <a:ext cx="2212975" cy="1612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SELECTION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2175" y="1979930"/>
            <a:ext cx="2581275" cy="2483866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2175" y="1979930"/>
            <a:ext cx="38100" cy="2483866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60775" y="2233930"/>
            <a:ext cx="304800" cy="304800"/>
          </a:xfrm>
          <a:prstGeom prst="ellipse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60775" y="2297521"/>
            <a:ext cx="342900" cy="17759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018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0775" y="2678054"/>
            <a:ext cx="2212975" cy="311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Size it to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0775" y="3035615"/>
            <a:ext cx="2212975" cy="629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8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Apply NEC 392 fill limits, run the</a:t>
            </a:r>
          </a:p>
          <a:p>
            <a:pPr algn="l">
              <a:lnSpc>
                <a:spcPts val="148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sum-of-squares width check, and</a:t>
            </a:r>
          </a:p>
          <a:p>
            <a:pPr algn="l">
              <a:lnSpc>
                <a:spcPts val="148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show the reserve margin.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60775" y="3955796"/>
            <a:ext cx="2124075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660775" y="4066753"/>
            <a:ext cx="2212975" cy="1612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NEC 392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8550" y="1979930"/>
            <a:ext cx="2581275" cy="2483866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78550" y="1979930"/>
            <a:ext cx="38100" cy="2483866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7150" y="2233930"/>
            <a:ext cx="304800" cy="304800"/>
          </a:xfrm>
          <a:prstGeom prst="ellipse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7150" y="2297521"/>
            <a:ext cx="342900" cy="17759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018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7150" y="2678054"/>
            <a:ext cx="2212975" cy="311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Support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7150" y="3035615"/>
            <a:ext cx="2212975" cy="629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8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Set the NEMA VE-1 load class and</a:t>
            </a:r>
          </a:p>
          <a:p>
            <a:pPr algn="l">
              <a:lnSpc>
                <a:spcPts val="148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span, place splices and fitting</a:t>
            </a:r>
          </a:p>
          <a:p>
            <a:pPr algn="l">
              <a:lnSpc>
                <a:spcPts val="148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supports correctly.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7150" y="3955796"/>
            <a:ext cx="2124075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07150" y="4066753"/>
            <a:ext cx="2212975" cy="1612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NEMA VE-1/2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24925" y="1979930"/>
            <a:ext cx="2581275" cy="2483866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24925" y="1979930"/>
            <a:ext cx="38100" cy="2483866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153525" y="2233930"/>
            <a:ext cx="304800" cy="304800"/>
          </a:xfrm>
          <a:prstGeom prst="ellipse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53525" y="2297521"/>
            <a:ext cx="342900" cy="17759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018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3525" y="2678054"/>
            <a:ext cx="2212975" cy="311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Prove 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3525" y="3035615"/>
            <a:ext cx="2212975" cy="629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8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Walk a drawing through the six QA</a:t>
            </a:r>
          </a:p>
          <a:p>
            <a:pPr algn="l">
              <a:lnSpc>
                <a:spcPts val="148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gates — fill, radius, segregation,</a:t>
            </a:r>
          </a:p>
          <a:p>
            <a:pPr algn="l">
              <a:lnSpc>
                <a:spcPts val="148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supports, covers, penetrations.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53525" y="3955796"/>
            <a:ext cx="2124075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53525" y="4066753"/>
            <a:ext cx="2212975" cy="1612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QA GATE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85800" y="6324600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5800" y="6369975"/>
            <a:ext cx="664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Segoe UI Semibold"/>
                <a:ea typeface="Segoe UI Semibold"/>
                <a:cs typeface="Segoe UI Semibold"/>
              </a:rPr>
              <a:t>Cable Tray Routing &amp; Raceway Engineering · Industrial E&amp;I Design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82200" y="6369975"/>
            <a:ext cx="156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Consolas"/>
                <a:ea typeface="Consolas"/>
                <a:cs typeface="Consolas"/>
              </a:rPr>
              <a:t>03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77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55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11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89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6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44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22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00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778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55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11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89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667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44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022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378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556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33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911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89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267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445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622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800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978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156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334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11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689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867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045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223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578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756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934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112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289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467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645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823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001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178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356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712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890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067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245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23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779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956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134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312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490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845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1023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1201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1379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1557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1912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2090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0" y="177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0" y="355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0" y="533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0" y="711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0" y="889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0" y="1066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0" y="1244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0" y="1422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0" y="1600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0" y="1778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0" y="1955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0" y="2133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0" y="2311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0" y="2667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0" y="2844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0" y="3022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0" y="3200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0" y="3378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0" y="3556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0" y="3733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0" y="3911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0" y="4089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0" y="4445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0" y="4622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0" y="4800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0" y="4978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0" y="5156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0" y="5511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0" y="5689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0" y="5867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0" y="6045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0" y="6223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0" y="6578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0" y="6756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1" name="Picture 110" descr="al_watermark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0" y="3302000"/>
            <a:ext cx="3302000" cy="3302000"/>
          </a:xfrm>
          <a:prstGeom prst="rect">
            <a:avLst/>
          </a:prstGeom>
          <a:effectLst/>
        </p:spPr>
      </p:pic>
      <p:pic>
        <p:nvPicPr>
          <p:cNvPr id="112" name="Picture 111" descr="a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58800"/>
            <a:ext cx="1295400" cy="250444"/>
          </a:xfrm>
          <a:prstGeom prst="rect">
            <a:avLst/>
          </a:prstGeom>
          <a:effectLst/>
        </p:spPr>
      </p:pic>
      <p:sp>
        <p:nvSpPr>
          <p:cNvPr id="113" name="TextBox 112"/>
          <p:cNvSpPr txBox="1"/>
          <p:nvPr/>
        </p:nvSpPr>
        <p:spPr>
          <a:xfrm>
            <a:off x="685800" y="1595933"/>
            <a:ext cx="1816100" cy="14488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308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2F6EA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36600" y="2887929"/>
            <a:ext cx="6642100" cy="692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Segoe UI Black"/>
                <a:ea typeface="Segoe UI Black"/>
                <a:cs typeface="Segoe UI Black"/>
              </a:rPr>
              <a:t>Foundations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736600" y="3581400"/>
            <a:ext cx="584200" cy="38100"/>
          </a:xfrm>
          <a:prstGeom prst="roundRect">
            <a:avLst>
              <a:gd name="adj" fmla="val 50000"/>
            </a:avLst>
          </a:prstGeom>
          <a:solidFill>
            <a:srgbClr val="C0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36600" y="3725286"/>
            <a:ext cx="5880100" cy="4648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9CADD"/>
                </a:solidFill>
                <a:latin typeface="Segoe UI"/>
                <a:ea typeface="Segoe UI"/>
                <a:cs typeface="Segoe UI"/>
              </a:rPr>
              <a:t>What the tray system is, what it costs when it is wrong, and how to choose type and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9CADD"/>
                </a:solidFill>
                <a:latin typeface="Segoe UI"/>
                <a:ea typeface="Segoe UI"/>
                <a:cs typeface="Segoe UI"/>
              </a:rPr>
              <a:t>material.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975600" y="2382175"/>
            <a:ext cx="3340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5E86AE"/>
                </a:solidFill>
                <a:latin typeface="Segoe UI"/>
                <a:ea typeface="Segoe UI"/>
                <a:cs typeface="Segoe UI"/>
              </a:rPr>
              <a:t>IN THIS MODULE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7975600" y="2590800"/>
            <a:ext cx="762000" cy="0"/>
          </a:xfrm>
          <a:prstGeom prst="line">
            <a:avLst/>
          </a:prstGeom>
          <a:ln w="10160">
            <a:solidFill>
              <a:srgbClr val="2F5D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Oval 118"/>
          <p:cNvSpPr/>
          <p:nvPr/>
        </p:nvSpPr>
        <p:spPr>
          <a:xfrm>
            <a:off x="7975600" y="2794000"/>
            <a:ext cx="50800" cy="50800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153400" y="2696373"/>
            <a:ext cx="3390900" cy="2273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Why the code exists — the failure modes behind each rule.</a:t>
            </a:r>
          </a:p>
        </p:txBody>
      </p:sp>
      <p:sp>
        <p:nvSpPr>
          <p:cNvPr id="121" name="Oval 120"/>
          <p:cNvSpPr/>
          <p:nvPr/>
        </p:nvSpPr>
        <p:spPr>
          <a:xfrm>
            <a:off x="7975600" y="3114040"/>
            <a:ext cx="50800" cy="50800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153400" y="3016413"/>
            <a:ext cx="3390900" cy="3949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Anatomy of a tray run: tray, support, splice, bonding,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cover.</a:t>
            </a:r>
          </a:p>
        </p:txBody>
      </p:sp>
      <p:sp>
        <p:nvSpPr>
          <p:cNvPr id="123" name="Oval 122"/>
          <p:cNvSpPr/>
          <p:nvPr/>
        </p:nvSpPr>
        <p:spPr>
          <a:xfrm>
            <a:off x="7975600" y="3601720"/>
            <a:ext cx="50800" cy="50800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153400" y="3504093"/>
            <a:ext cx="3390900" cy="2273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Tray types and where each one is the wrong answer.</a:t>
            </a:r>
          </a:p>
        </p:txBody>
      </p:sp>
      <p:sp>
        <p:nvSpPr>
          <p:cNvPr id="125" name="Oval 124"/>
          <p:cNvSpPr/>
          <p:nvPr/>
        </p:nvSpPr>
        <p:spPr>
          <a:xfrm>
            <a:off x="7975600" y="3921760"/>
            <a:ext cx="50800" cy="50800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153400" y="3824133"/>
            <a:ext cx="3390900" cy="2273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Material selection including galvanic-pair traps.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685800" y="5486400"/>
            <a:ext cx="10820400" cy="0"/>
          </a:xfrm>
          <a:prstGeom prst="line">
            <a:avLst/>
          </a:prstGeom>
          <a:ln w="10160">
            <a:solidFill>
              <a:srgbClr val="224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685800" y="5653776"/>
            <a:ext cx="368300" cy="200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6FA8DC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16000" y="5637743"/>
            <a:ext cx="2235200" cy="2196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Foundations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85800" y="5467350"/>
            <a:ext cx="2374900" cy="38100"/>
          </a:xfrm>
          <a:prstGeom prst="roundRect">
            <a:avLst>
              <a:gd name="adj" fmla="val 50000"/>
            </a:avLst>
          </a:prstGeom>
          <a:solidFill>
            <a:srgbClr val="C0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390900" y="5653776"/>
            <a:ext cx="368300" cy="200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3A5C7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721100" y="5637743"/>
            <a:ext cx="2235200" cy="2196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4E7096"/>
                </a:solidFill>
                <a:latin typeface="Segoe UI"/>
                <a:ea typeface="Segoe UI"/>
                <a:cs typeface="Segoe UI"/>
              </a:rPr>
              <a:t>Electrical sizing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096000" y="5653776"/>
            <a:ext cx="368300" cy="200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3A5C7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426200" y="5637743"/>
            <a:ext cx="2235200" cy="2196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4E7096"/>
                </a:solidFill>
                <a:latin typeface="Segoe UI"/>
                <a:ea typeface="Segoe UI"/>
                <a:cs typeface="Segoe UI"/>
              </a:rPr>
              <a:t>Structural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801100" y="5653776"/>
            <a:ext cx="368300" cy="200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3A5C7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131300" y="5637743"/>
            <a:ext cx="2235200" cy="2196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4E7096"/>
                </a:solidFill>
                <a:latin typeface="Segoe UI"/>
                <a:ea typeface="Segoe UI"/>
                <a:cs typeface="Segoe UI"/>
              </a:rPr>
              <a:t>Safety &amp; QA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5800" y="6265875"/>
            <a:ext cx="5118100" cy="186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72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86AE"/>
                </a:solidFill>
                <a:latin typeface="Consolas"/>
                <a:ea typeface="Consolas"/>
                <a:cs typeface="Consolas"/>
              </a:rPr>
              <a:t>04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1800" y="3886200"/>
            <a:ext cx="2540000" cy="2540000"/>
          </a:xfrm>
          <a:prstGeom prst="rect">
            <a:avLst/>
          </a:prstGeom>
          <a:effectLst/>
        </p:spPr>
      </p:pic>
      <p:pic>
        <p:nvPicPr>
          <p:cNvPr id="3" name="Picture 2" descr="a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200" y="330200"/>
            <a:ext cx="1270000" cy="245533"/>
          </a:xfrm>
          <a:prstGeom prst="rect">
            <a:avLst/>
          </a:prstGeom>
          <a:effectLst/>
        </p:spPr>
      </p:pic>
      <p:sp>
        <p:nvSpPr>
          <p:cNvPr id="4" name="Rounded Rectangle 3"/>
          <p:cNvSpPr/>
          <p:nvPr/>
        </p:nvSpPr>
        <p:spPr>
          <a:xfrm>
            <a:off x="685800" y="533400"/>
            <a:ext cx="203200" cy="38100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" y="409509"/>
            <a:ext cx="7150100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WHY THIS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14680"/>
            <a:ext cx="9359900" cy="5657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1B2D"/>
                </a:solidFill>
                <a:latin typeface="Segoe UI Black"/>
                <a:ea typeface="Segoe UI Black"/>
                <a:cs typeface="Segoe UI Black"/>
              </a:rPr>
              <a:t>A tray run is cheap to design and expensive to 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52809"/>
            <a:ext cx="8928100" cy="2501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Three failure modes drive every rule in this deck. Each one is discovered late, after concrete, steel or cable is already installed.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43735"/>
            <a:ext cx="3479800" cy="2895295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943735"/>
            <a:ext cx="3479800" cy="38100"/>
          </a:xfrm>
          <a:prstGeom prst="roundRect">
            <a:avLst>
              <a:gd name="adj" fmla="val 50000"/>
            </a:avLst>
          </a:prstGeom>
          <a:solidFill>
            <a:srgbClr val="C0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76933"/>
            <a:ext cx="3060700" cy="677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86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C0172B"/>
                </a:solidFill>
                <a:latin typeface="Consolas"/>
                <a:ea typeface="Consolas"/>
                <a:cs typeface="Consolas"/>
              </a:rPr>
              <a:t>10–15%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7968"/>
            <a:ext cx="3060700" cy="299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Lost ampacity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42569"/>
            <a:ext cx="3060700" cy="806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A solid cover or four stacked layers can cost</a:t>
            </a:r>
          </a:p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10–15% of current-carrying capacity. The cable</a:t>
            </a:r>
          </a:p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is derated, the breaker is not — so the circuit</a:t>
            </a:r>
          </a:p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fails thermally, not electrically.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04"/>
            <a:ext cx="3060700" cy="1589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11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THERMAL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6100" y="1943735"/>
            <a:ext cx="3479800" cy="2895295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56100" y="1943735"/>
            <a:ext cx="3479800" cy="38100"/>
          </a:xfrm>
          <a:prstGeom prst="roundRect">
            <a:avLst>
              <a:gd name="adj" fmla="val 50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4700" y="2076933"/>
            <a:ext cx="3060700" cy="677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86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C98A12"/>
                </a:solidFill>
                <a:latin typeface="Consolas"/>
                <a:ea typeface="Consolas"/>
                <a:cs typeface="Consolas"/>
              </a:rPr>
              <a:t>1 width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4700" y="2717968"/>
            <a:ext cx="3060700" cy="299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The rework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4700" y="3042569"/>
            <a:ext cx="3060700" cy="806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One tray width short and every downstream</a:t>
            </a:r>
          </a:p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support, penetration and firestop is redrawn.</a:t>
            </a:r>
          </a:p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Sizing once with a 20% reserve is cheaper than</a:t>
            </a:r>
          </a:p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a change order.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4700" y="4480504"/>
            <a:ext cx="3060700" cy="1589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11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COST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6400" y="1943735"/>
            <a:ext cx="3479800" cy="2895295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26400" y="1943735"/>
            <a:ext cx="3479800" cy="38100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5000" y="2076933"/>
            <a:ext cx="3060700" cy="677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86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6 gates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5000" y="2717968"/>
            <a:ext cx="3060700" cy="299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What QA catches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5000" y="3042569"/>
            <a:ext cx="3060700" cy="806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Fill, radius, segregation, supports, covers,</a:t>
            </a:r>
          </a:p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penetrations. A missed gate typically surfaces</a:t>
            </a:r>
          </a:p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during installation, when the cable is already</a:t>
            </a:r>
          </a:p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pulled.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5000" y="4480504"/>
            <a:ext cx="3060700" cy="1589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11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SCHEDULE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118430"/>
            <a:ext cx="10820400" cy="477520"/>
          </a:xfrm>
          <a:prstGeom prst="roundRect">
            <a:avLst>
              <a:gd name="adj" fmla="val 18617"/>
            </a:avLst>
          </a:prstGeom>
          <a:solidFill>
            <a:srgbClr val="EEF3FA"/>
          </a:solidFill>
          <a:ln w="10160">
            <a:solidFill>
              <a:srgbClr val="C7D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" y="5118430"/>
            <a:ext cx="50800" cy="477520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9800" y="5229205"/>
            <a:ext cx="10350500" cy="2374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375F9B"/>
                </a:solidFill>
                <a:latin typeface="Segoe UI Semibold"/>
                <a:ea typeface="Segoe UI Semibold"/>
                <a:cs typeface="Segoe UI Semibold"/>
              </a:rPr>
              <a:t>Rule of thumb: the drawing should prove four things — it fits, it stands, it is separated, and it is bondable.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" y="6324600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5800" y="6369975"/>
            <a:ext cx="664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Segoe UI Semibold"/>
                <a:ea typeface="Segoe UI Semibold"/>
                <a:cs typeface="Segoe UI Semibold"/>
              </a:rPr>
              <a:t>Cable Tray Routing &amp; Raceway Engineering · Industrial E&amp;I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82200" y="6369975"/>
            <a:ext cx="156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Consolas"/>
                <a:ea typeface="Consolas"/>
                <a:cs typeface="Consolas"/>
              </a:rPr>
              <a:t>05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00" y="330200"/>
            <a:ext cx="1270000" cy="245533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685800" y="533400"/>
            <a:ext cx="203200" cy="38100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409509"/>
            <a:ext cx="7150100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SYSTEM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4680"/>
            <a:ext cx="9359900" cy="5657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1B2D"/>
                </a:solidFill>
                <a:latin typeface="Segoe UI Black"/>
                <a:ea typeface="Segoe UI Black"/>
                <a:cs typeface="Segoe UI Black"/>
              </a:rPr>
              <a:t>Every run is five decisions, not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52809"/>
            <a:ext cx="8166100" cy="2501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A tray line on a drawing is really five separate decisions — and each has its own standard, its own limit and its own QA check.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42135"/>
            <a:ext cx="5918200" cy="3810000"/>
          </a:xfrm>
          <a:prstGeom prst="roundRect">
            <a:avLst>
              <a:gd name="adj" fmla="val 2666"/>
            </a:avLst>
          </a:prstGeom>
          <a:solidFill>
            <a:srgbClr val="F5F8FC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178983" y="1943735"/>
            <a:ext cx="0" cy="360680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72167" y="1943735"/>
            <a:ext cx="0" cy="360680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65350" y="1943735"/>
            <a:ext cx="0" cy="360680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58533" y="1943735"/>
            <a:ext cx="0" cy="360680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151717" y="1943735"/>
            <a:ext cx="0" cy="360680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644900" y="1943735"/>
            <a:ext cx="0" cy="360680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38083" y="1943735"/>
            <a:ext cx="0" cy="360680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31267" y="1943735"/>
            <a:ext cx="0" cy="360680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124450" y="1943735"/>
            <a:ext cx="0" cy="360680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617633" y="1943735"/>
            <a:ext cx="0" cy="360680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10817" y="1943735"/>
            <a:ext cx="0" cy="360680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7400" y="2477135"/>
            <a:ext cx="5715000" cy="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7400" y="3112135"/>
            <a:ext cx="5715000" cy="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7400" y="3747135"/>
            <a:ext cx="5715000" cy="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7400" y="4382135"/>
            <a:ext cx="5715000" cy="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7400" y="5017135"/>
            <a:ext cx="5715000" cy="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93800" y="3391535"/>
            <a:ext cx="4902200" cy="0"/>
          </a:xfrm>
          <a:prstGeom prst="line">
            <a:avLst/>
          </a:prstGeom>
          <a:ln w="25400">
            <a:solidFill>
              <a:srgbClr val="8FA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320800" y="3391535"/>
            <a:ext cx="0" cy="279400"/>
          </a:xfrm>
          <a:prstGeom prst="line">
            <a:avLst/>
          </a:prstGeom>
          <a:ln w="13970">
            <a:solidFill>
              <a:srgbClr val="8FA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69000" y="3391535"/>
            <a:ext cx="0" cy="279400"/>
          </a:xfrm>
          <a:prstGeom prst="line">
            <a:avLst/>
          </a:prstGeom>
          <a:ln w="13970">
            <a:solidFill>
              <a:srgbClr val="8FA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244600" y="3772535"/>
            <a:ext cx="4800600" cy="114300"/>
          </a:xfrm>
          <a:prstGeom prst="rect">
            <a:avLst/>
          </a:prstGeom>
          <a:solidFill>
            <a:srgbClr val="2E5F92"/>
          </a:solidFill>
          <a:ln w="8890">
            <a:solidFill>
              <a:srgbClr val="1B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4600" y="4229735"/>
            <a:ext cx="4800600" cy="114300"/>
          </a:xfrm>
          <a:prstGeom prst="rect">
            <a:avLst/>
          </a:prstGeom>
          <a:solidFill>
            <a:srgbClr val="2E5F92"/>
          </a:solidFill>
          <a:ln w="8890">
            <a:solidFill>
              <a:srgbClr val="1B4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1346200" y="3886835"/>
            <a:ext cx="0" cy="342900"/>
          </a:xfrm>
          <a:prstGeom prst="line">
            <a:avLst/>
          </a:prstGeom>
          <a:ln w="15240">
            <a:solidFill>
              <a:srgbClr val="4E8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674586" y="3886835"/>
            <a:ext cx="0" cy="342900"/>
          </a:xfrm>
          <a:prstGeom prst="line">
            <a:avLst/>
          </a:prstGeom>
          <a:ln w="15240">
            <a:solidFill>
              <a:srgbClr val="4E8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02971" y="3886835"/>
            <a:ext cx="0" cy="342900"/>
          </a:xfrm>
          <a:prstGeom prst="line">
            <a:avLst/>
          </a:prstGeom>
          <a:ln w="15240">
            <a:solidFill>
              <a:srgbClr val="4E8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331357" y="3886835"/>
            <a:ext cx="0" cy="342900"/>
          </a:xfrm>
          <a:prstGeom prst="line">
            <a:avLst/>
          </a:prstGeom>
          <a:ln w="15240">
            <a:solidFill>
              <a:srgbClr val="4E8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659743" y="3886835"/>
            <a:ext cx="0" cy="342900"/>
          </a:xfrm>
          <a:prstGeom prst="line">
            <a:avLst/>
          </a:prstGeom>
          <a:ln w="15240">
            <a:solidFill>
              <a:srgbClr val="4E8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988129" y="3886835"/>
            <a:ext cx="0" cy="342900"/>
          </a:xfrm>
          <a:prstGeom prst="line">
            <a:avLst/>
          </a:prstGeom>
          <a:ln w="15240">
            <a:solidFill>
              <a:srgbClr val="4E8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16514" y="3886835"/>
            <a:ext cx="0" cy="342900"/>
          </a:xfrm>
          <a:prstGeom prst="line">
            <a:avLst/>
          </a:prstGeom>
          <a:ln w="15240">
            <a:solidFill>
              <a:srgbClr val="4E8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44900" y="3886835"/>
            <a:ext cx="0" cy="342900"/>
          </a:xfrm>
          <a:prstGeom prst="line">
            <a:avLst/>
          </a:prstGeom>
          <a:ln w="15240">
            <a:solidFill>
              <a:srgbClr val="4E8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973286" y="3886835"/>
            <a:ext cx="0" cy="342900"/>
          </a:xfrm>
          <a:prstGeom prst="line">
            <a:avLst/>
          </a:prstGeom>
          <a:ln w="15240">
            <a:solidFill>
              <a:srgbClr val="4E8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301671" y="3886835"/>
            <a:ext cx="0" cy="342900"/>
          </a:xfrm>
          <a:prstGeom prst="line">
            <a:avLst/>
          </a:prstGeom>
          <a:ln w="15240">
            <a:solidFill>
              <a:srgbClr val="4E8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630057" y="3886835"/>
            <a:ext cx="0" cy="342900"/>
          </a:xfrm>
          <a:prstGeom prst="line">
            <a:avLst/>
          </a:prstGeom>
          <a:ln w="15240">
            <a:solidFill>
              <a:srgbClr val="4E8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958443" y="3886835"/>
            <a:ext cx="0" cy="342900"/>
          </a:xfrm>
          <a:prstGeom prst="line">
            <a:avLst/>
          </a:prstGeom>
          <a:ln w="15240">
            <a:solidFill>
              <a:srgbClr val="4E8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286829" y="3886835"/>
            <a:ext cx="0" cy="342900"/>
          </a:xfrm>
          <a:prstGeom prst="line">
            <a:avLst/>
          </a:prstGeom>
          <a:ln w="15240">
            <a:solidFill>
              <a:srgbClr val="4E8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615214" y="3886835"/>
            <a:ext cx="0" cy="342900"/>
          </a:xfrm>
          <a:prstGeom prst="line">
            <a:avLst/>
          </a:prstGeom>
          <a:ln w="15240">
            <a:solidFill>
              <a:srgbClr val="4E8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943600" y="3886835"/>
            <a:ext cx="0" cy="342900"/>
          </a:xfrm>
          <a:prstGeom prst="line">
            <a:avLst/>
          </a:prstGeom>
          <a:ln w="15240">
            <a:solidFill>
              <a:srgbClr val="4E8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371600" y="3988435"/>
            <a:ext cx="4546600" cy="0"/>
          </a:xfrm>
          <a:prstGeom prst="line">
            <a:avLst/>
          </a:prstGeom>
          <a:ln w="26670">
            <a:solidFill>
              <a:srgbClr val="C017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371600" y="4002405"/>
            <a:ext cx="4546600" cy="0"/>
          </a:xfrm>
          <a:prstGeom prst="line">
            <a:avLst/>
          </a:prstGeom>
          <a:ln w="26670">
            <a:solidFill>
              <a:srgbClr val="D9A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371600" y="4016375"/>
            <a:ext cx="4546600" cy="0"/>
          </a:xfrm>
          <a:prstGeom prst="line">
            <a:avLst/>
          </a:prstGeom>
          <a:ln w="26670">
            <a:solidFill>
              <a:srgbClr val="3F9C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371600" y="4030345"/>
            <a:ext cx="4546600" cy="0"/>
          </a:xfrm>
          <a:prstGeom prst="line">
            <a:avLst/>
          </a:prstGeom>
          <a:ln w="26670">
            <a:solidFill>
              <a:srgbClr val="8FB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981200" y="4344035"/>
            <a:ext cx="63500" cy="635000"/>
          </a:xfrm>
          <a:prstGeom prst="rect">
            <a:avLst/>
          </a:prstGeom>
          <a:solidFill>
            <a:srgbClr val="93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816100" y="4979035"/>
            <a:ext cx="393700" cy="0"/>
          </a:xfrm>
          <a:prstGeom prst="line">
            <a:avLst/>
          </a:prstGeom>
          <a:ln w="38100">
            <a:solidFill>
              <a:srgbClr val="93A8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5003800" y="4344035"/>
            <a:ext cx="63500" cy="635000"/>
          </a:xfrm>
          <a:prstGeom prst="rect">
            <a:avLst/>
          </a:prstGeom>
          <a:solidFill>
            <a:srgbClr val="93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4838700" y="4979035"/>
            <a:ext cx="393700" cy="0"/>
          </a:xfrm>
          <a:prstGeom prst="line">
            <a:avLst/>
          </a:prstGeom>
          <a:ln w="38100">
            <a:solidFill>
              <a:srgbClr val="93A8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876804" y="3340735"/>
            <a:ext cx="0" cy="1041400"/>
          </a:xfrm>
          <a:prstGeom prst="line">
            <a:avLst/>
          </a:prstGeom>
          <a:ln w="13970">
            <a:solidFill>
              <a:srgbClr val="0F4C8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2552700" y="3390900"/>
            <a:ext cx="660400" cy="228600"/>
          </a:xfrm>
          <a:custGeom>
            <a:avLst/>
            <a:gdLst/>
            <a:ahLst/>
            <a:cxnLst/>
            <a:rect l="l" t="t" r="r" b="b"/>
            <a:pathLst>
              <a:path w="52" h="18">
                <a:moveTo>
                  <a:pt x="0" y="18"/>
                </a:moveTo>
                <a:lnTo>
                  <a:pt x="26" y="0"/>
                </a:lnTo>
                <a:lnTo>
                  <a:pt x="52" y="18"/>
                </a:lnTo>
              </a:path>
            </a:pathLst>
          </a:custGeom>
          <a:noFill/>
          <a:ln w="20320">
            <a:solidFill>
              <a:srgbClr val="1F7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116832" y="3998595"/>
            <a:ext cx="208280" cy="20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75F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6832" y="4019403"/>
            <a:ext cx="246380" cy="168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56" name="Oval 55"/>
          <p:cNvSpPr/>
          <p:nvPr/>
        </p:nvSpPr>
        <p:spPr>
          <a:xfrm>
            <a:off x="2385060" y="4557395"/>
            <a:ext cx="208280" cy="20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75F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85060" y="4578203"/>
            <a:ext cx="246380" cy="168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cxnSp>
        <p:nvCxnSpPr>
          <p:cNvPr id="58" name="Connector 57"/>
          <p:cNvCxnSpPr/>
          <p:nvPr/>
        </p:nvCxnSpPr>
        <p:spPr>
          <a:xfrm flipH="1">
            <a:off x="2006600" y="4661535"/>
            <a:ext cx="482600" cy="0"/>
          </a:xfrm>
          <a:prstGeom prst="line">
            <a:avLst/>
          </a:prstGeom>
          <a:ln w="8890">
            <a:solidFill>
              <a:srgbClr val="375F9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2772664" y="2957195"/>
            <a:ext cx="208280" cy="20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75F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72664" y="2978003"/>
            <a:ext cx="246380" cy="168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876804" y="3061335"/>
            <a:ext cx="0" cy="254000"/>
          </a:xfrm>
          <a:prstGeom prst="line">
            <a:avLst/>
          </a:prstGeom>
          <a:ln w="8890">
            <a:solidFill>
              <a:srgbClr val="375F9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2213864" y="3287395"/>
            <a:ext cx="208280" cy="20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75F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13864" y="3308203"/>
            <a:ext cx="246380" cy="168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318004" y="3391535"/>
            <a:ext cx="406400" cy="101600"/>
          </a:xfrm>
          <a:prstGeom prst="line">
            <a:avLst/>
          </a:prstGeom>
          <a:ln w="8890">
            <a:solidFill>
              <a:srgbClr val="375F9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5864860" y="2957195"/>
            <a:ext cx="208280" cy="20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75F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64860" y="2978003"/>
            <a:ext cx="246380" cy="168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969000" y="3061335"/>
            <a:ext cx="0" cy="304800"/>
          </a:xfrm>
          <a:prstGeom prst="line">
            <a:avLst/>
          </a:prstGeom>
          <a:ln w="8890">
            <a:solidFill>
              <a:srgbClr val="375F9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89000" y="5321508"/>
            <a:ext cx="3086100" cy="1448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3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TYPICAL ELEVATION · NOT TO SCALE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59600" y="1836710"/>
            <a:ext cx="45847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93A2B4"/>
                </a:solidFill>
                <a:latin typeface="Segoe UI"/>
                <a:ea typeface="Segoe UI"/>
                <a:cs typeface="Segoe UI"/>
              </a:rPr>
              <a:t>FIVE DECISIONS</a:t>
            </a:r>
          </a:p>
        </p:txBody>
      </p:sp>
      <p:sp>
        <p:nvSpPr>
          <p:cNvPr id="70" name="Oval 69"/>
          <p:cNvSpPr/>
          <p:nvPr/>
        </p:nvSpPr>
        <p:spPr>
          <a:xfrm>
            <a:off x="6946900" y="2121535"/>
            <a:ext cx="228600" cy="228600"/>
          </a:xfrm>
          <a:prstGeom prst="ellipse">
            <a:avLst/>
          </a:prstGeom>
          <a:solidFill>
            <a:srgbClr val="EEF3FA"/>
          </a:solidFill>
          <a:ln w="10160">
            <a:solidFill>
              <a:srgbClr val="C7D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59600" y="2156750"/>
            <a:ext cx="2540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89800" y="2079046"/>
            <a:ext cx="4254500" cy="23835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Tray section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89800" y="2272706"/>
            <a:ext cx="4254500" cy="2044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4768C"/>
                </a:solidFill>
                <a:latin typeface="Segoe UI"/>
                <a:ea typeface="Segoe UI"/>
                <a:cs typeface="Segoe UI"/>
              </a:rPr>
              <a:t>Type, width, depth, material — NEC 392 + NEMA VE-1</a:t>
            </a:r>
          </a:p>
        </p:txBody>
      </p:sp>
      <p:sp>
        <p:nvSpPr>
          <p:cNvPr id="74" name="Oval 73"/>
          <p:cNvSpPr/>
          <p:nvPr/>
        </p:nvSpPr>
        <p:spPr>
          <a:xfrm>
            <a:off x="6946900" y="2665095"/>
            <a:ext cx="228600" cy="228600"/>
          </a:xfrm>
          <a:prstGeom prst="ellipse">
            <a:avLst/>
          </a:prstGeom>
          <a:solidFill>
            <a:srgbClr val="EEF3FA"/>
          </a:solidFill>
          <a:ln w="10160">
            <a:solidFill>
              <a:srgbClr val="C7D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59600" y="2700310"/>
            <a:ext cx="2540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89800" y="2622606"/>
            <a:ext cx="4254500" cy="23835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Support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89800" y="2816266"/>
            <a:ext cx="4254500" cy="2044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4768C"/>
                </a:solidFill>
                <a:latin typeface="Segoe UI"/>
                <a:ea typeface="Segoe UI"/>
                <a:cs typeface="Segoe UI"/>
              </a:rPr>
              <a:t>Load class, span, cantilever or trapeze — NEMA VE-1</a:t>
            </a:r>
          </a:p>
        </p:txBody>
      </p:sp>
      <p:sp>
        <p:nvSpPr>
          <p:cNvPr id="78" name="Oval 77"/>
          <p:cNvSpPr/>
          <p:nvPr/>
        </p:nvSpPr>
        <p:spPr>
          <a:xfrm>
            <a:off x="6946900" y="3208655"/>
            <a:ext cx="228600" cy="228600"/>
          </a:xfrm>
          <a:prstGeom prst="ellipse">
            <a:avLst/>
          </a:prstGeom>
          <a:solidFill>
            <a:srgbClr val="EEF3FA"/>
          </a:solidFill>
          <a:ln w="10160">
            <a:solidFill>
              <a:srgbClr val="C7D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959600" y="3243870"/>
            <a:ext cx="2540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89800" y="3166166"/>
            <a:ext cx="4254500" cy="23835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Splice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89800" y="3359826"/>
            <a:ext cx="4254500" cy="2044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4768C"/>
                </a:solidFill>
                <a:latin typeface="Segoe UI"/>
                <a:ea typeface="Segoe UI"/>
                <a:cs typeface="Segoe UI"/>
              </a:rPr>
              <a:t>Location rule: between support and quarter point</a:t>
            </a:r>
          </a:p>
        </p:txBody>
      </p:sp>
      <p:sp>
        <p:nvSpPr>
          <p:cNvPr id="82" name="Oval 81"/>
          <p:cNvSpPr/>
          <p:nvPr/>
        </p:nvSpPr>
        <p:spPr>
          <a:xfrm>
            <a:off x="6946900" y="3752215"/>
            <a:ext cx="228600" cy="228600"/>
          </a:xfrm>
          <a:prstGeom prst="ellipse">
            <a:avLst/>
          </a:prstGeom>
          <a:solidFill>
            <a:srgbClr val="EEF3FA"/>
          </a:solidFill>
          <a:ln w="10160">
            <a:solidFill>
              <a:srgbClr val="C7D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959600" y="3787430"/>
            <a:ext cx="2540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89800" y="3709726"/>
            <a:ext cx="4254500" cy="23835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Bonding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89800" y="3903386"/>
            <a:ext cx="4254500" cy="2044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4768C"/>
                </a:solidFill>
                <a:latin typeface="Segoe UI"/>
                <a:ea typeface="Segoe UI"/>
                <a:cs typeface="Segoe UI"/>
              </a:rPr>
              <a:t>Electrical continuity — NEC 250.96 / 392.60</a:t>
            </a:r>
          </a:p>
        </p:txBody>
      </p:sp>
      <p:sp>
        <p:nvSpPr>
          <p:cNvPr id="86" name="Oval 85"/>
          <p:cNvSpPr/>
          <p:nvPr/>
        </p:nvSpPr>
        <p:spPr>
          <a:xfrm>
            <a:off x="6946900" y="4295775"/>
            <a:ext cx="228600" cy="228600"/>
          </a:xfrm>
          <a:prstGeom prst="ellipse">
            <a:avLst/>
          </a:prstGeom>
          <a:solidFill>
            <a:srgbClr val="EEF3FA"/>
          </a:solidFill>
          <a:ln w="10160">
            <a:solidFill>
              <a:srgbClr val="C7D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959600" y="4330990"/>
            <a:ext cx="2540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89800" y="4253286"/>
            <a:ext cx="4254500" cy="23835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Cover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289800" y="4446946"/>
            <a:ext cx="4254500" cy="2044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4768C"/>
                </a:solidFill>
                <a:latin typeface="Segoe UI"/>
                <a:ea typeface="Segoe UI"/>
                <a:cs typeface="Segoe UI"/>
              </a:rPr>
              <a:t>Weather, mechanical protection, derating trade-off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85800" y="6324600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85800" y="6369975"/>
            <a:ext cx="664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Segoe UI Semibold"/>
                <a:ea typeface="Segoe UI Semibold"/>
                <a:cs typeface="Segoe UI Semibold"/>
              </a:rPr>
              <a:t>Cable Tray Routing &amp; Raceway Engineering · Industrial E&amp;I Design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982200" y="6369975"/>
            <a:ext cx="156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Consolas"/>
                <a:ea typeface="Consolas"/>
                <a:cs typeface="Consolas"/>
              </a:rPr>
              <a:t>06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00" y="330200"/>
            <a:ext cx="1270000" cy="245533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685800" y="533400"/>
            <a:ext cx="203200" cy="38100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409509"/>
            <a:ext cx="7150100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COMPONENT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4680"/>
            <a:ext cx="9359900" cy="5657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1B2D"/>
                </a:solidFill>
                <a:latin typeface="Segoe UI Black"/>
                <a:ea typeface="Segoe UI Black"/>
                <a:cs typeface="Segoe UI Black"/>
              </a:rPr>
              <a:t>Four tray families and where each belongs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52809"/>
            <a:ext cx="8928100" cy="2501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Geometry decides ventilation, support continuity and EMI behaviour. Pick by cable mix first, then by environment.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42135"/>
            <a:ext cx="2581275" cy="3836670"/>
          </a:xfrm>
          <a:prstGeom prst="roundRect">
            <a:avLst>
              <a:gd name="adj" fmla="val 3936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9000" y="2070735"/>
            <a:ext cx="2174875" cy="63500"/>
          </a:xfrm>
          <a:prstGeom prst="roundRect">
            <a:avLst>
              <a:gd name="adj" fmla="val 20000"/>
            </a:avLst>
          </a:prstGeom>
          <a:solidFill>
            <a:srgbClr val="2E5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9000" y="2667635"/>
            <a:ext cx="2174875" cy="63500"/>
          </a:xfrm>
          <a:prstGeom prst="roundRect">
            <a:avLst>
              <a:gd name="adj" fmla="val 20000"/>
            </a:avLst>
          </a:prstGeom>
          <a:solidFill>
            <a:srgbClr val="2E5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965200" y="2134235"/>
            <a:ext cx="0" cy="533400"/>
          </a:xfrm>
          <a:prstGeom prst="line">
            <a:avLst/>
          </a:prstGeom>
          <a:ln w="25400">
            <a:solidFill>
              <a:srgbClr val="4E8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69695" y="2134235"/>
            <a:ext cx="0" cy="533400"/>
          </a:xfrm>
          <a:prstGeom prst="line">
            <a:avLst/>
          </a:prstGeom>
          <a:ln w="25400">
            <a:solidFill>
              <a:srgbClr val="4E8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774190" y="2134235"/>
            <a:ext cx="0" cy="533400"/>
          </a:xfrm>
          <a:prstGeom prst="line">
            <a:avLst/>
          </a:prstGeom>
          <a:ln w="25400">
            <a:solidFill>
              <a:srgbClr val="4E8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78685" y="2134235"/>
            <a:ext cx="0" cy="533400"/>
          </a:xfrm>
          <a:prstGeom prst="line">
            <a:avLst/>
          </a:prstGeom>
          <a:ln w="25400">
            <a:solidFill>
              <a:srgbClr val="4E8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583180" y="2134235"/>
            <a:ext cx="0" cy="533400"/>
          </a:xfrm>
          <a:prstGeom prst="line">
            <a:avLst/>
          </a:prstGeom>
          <a:ln w="25400">
            <a:solidFill>
              <a:srgbClr val="4E8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87675" y="2134235"/>
            <a:ext cx="0" cy="533400"/>
          </a:xfrm>
          <a:prstGeom prst="line">
            <a:avLst/>
          </a:prstGeom>
          <a:ln w="25400">
            <a:solidFill>
              <a:srgbClr val="4E8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89000" y="2872877"/>
            <a:ext cx="2212975" cy="2933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Ladder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000" y="3143956"/>
            <a:ext cx="2212975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Rung spacing 229 / 305 mm (9 /</a:t>
            </a:r>
          </a:p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12 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000" y="3560638"/>
            <a:ext cx="2212975" cy="401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Heavy power cables with maximum</a:t>
            </a:r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ventilation and easy tie-off.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9000" y="4190365"/>
            <a:ext cx="2174875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89000" y="4340672"/>
            <a:ext cx="2212975" cy="1542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4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1F7A55"/>
                </a:solidFill>
                <a:latin typeface="Segoe UI"/>
                <a:ea typeface="Segoe UI"/>
                <a:cs typeface="Segoe UI"/>
              </a:rPr>
              <a:t>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000" y="4483837"/>
            <a:ext cx="2212975" cy="361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Long power runs, cable ladders on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racks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000" y="4950272"/>
            <a:ext cx="2212975" cy="1542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4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C0172B"/>
                </a:solidFill>
                <a:latin typeface="Segoe UI"/>
                <a:ea typeface="Segoe UI"/>
                <a:cs typeface="Segoe UI"/>
              </a:rPr>
              <a:t>AVOID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" y="5095946"/>
            <a:ext cx="2212975" cy="350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4768C"/>
                </a:solidFill>
                <a:latin typeface="Segoe UI"/>
                <a:ea typeface="Segoe UI"/>
                <a:cs typeface="Segoe UI"/>
              </a:rPr>
              <a:t>Small signal cables — they sag between</a:t>
            </a:r>
          </a:p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4768C"/>
                </a:solidFill>
                <a:latin typeface="Segoe UI"/>
                <a:ea typeface="Segoe UI"/>
                <a:cs typeface="Segoe UI"/>
              </a:rPr>
              <a:t>rungs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32175" y="1842135"/>
            <a:ext cx="2581275" cy="3836670"/>
          </a:xfrm>
          <a:prstGeom prst="roundRect">
            <a:avLst>
              <a:gd name="adj" fmla="val 3936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35375" y="2070735"/>
            <a:ext cx="2174875" cy="63500"/>
          </a:xfrm>
          <a:prstGeom prst="roundRect">
            <a:avLst>
              <a:gd name="adj" fmla="val 20000"/>
            </a:avLst>
          </a:prstGeom>
          <a:solidFill>
            <a:srgbClr val="2E5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35375" y="2667635"/>
            <a:ext cx="2174875" cy="63500"/>
          </a:xfrm>
          <a:prstGeom prst="roundRect">
            <a:avLst>
              <a:gd name="adj" fmla="val 20000"/>
            </a:avLst>
          </a:prstGeom>
          <a:solidFill>
            <a:srgbClr val="2E5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35375" y="2134235"/>
            <a:ext cx="2174875" cy="533400"/>
          </a:xfrm>
          <a:prstGeom prst="rect">
            <a:avLst/>
          </a:prstGeom>
          <a:solidFill>
            <a:srgbClr val="E3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3711575" y="2261235"/>
            <a:ext cx="2022475" cy="0"/>
          </a:xfrm>
          <a:prstGeom prst="line">
            <a:avLst/>
          </a:prstGeom>
          <a:ln w="27940">
            <a:solidFill>
              <a:srgbClr val="C017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711575" y="2400935"/>
            <a:ext cx="2022475" cy="0"/>
          </a:xfrm>
          <a:prstGeom prst="line">
            <a:avLst/>
          </a:prstGeom>
          <a:ln w="27940">
            <a:solidFill>
              <a:srgbClr val="D9A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11575" y="2540635"/>
            <a:ext cx="2022475" cy="0"/>
          </a:xfrm>
          <a:prstGeom prst="line">
            <a:avLst/>
          </a:prstGeom>
          <a:ln w="27940">
            <a:solidFill>
              <a:srgbClr val="3F9C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635375" y="2872877"/>
            <a:ext cx="2212975" cy="2933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Solid bottom / trough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5375" y="3143956"/>
            <a:ext cx="2212975" cy="205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Continuous metallic 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5375" y="3410778"/>
            <a:ext cx="2212975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Full support for small cables and a</a:t>
            </a:r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metallic shield when bonded at both</a:t>
            </a:r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ends.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635375" y="4337685"/>
            <a:ext cx="2174875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635375" y="4487992"/>
            <a:ext cx="2212975" cy="1542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4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1F7A55"/>
                </a:solidFill>
                <a:latin typeface="Segoe UI"/>
                <a:ea typeface="Segoe UI"/>
                <a:cs typeface="Segoe UI"/>
              </a:rPr>
              <a:t>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5375" y="4631157"/>
            <a:ext cx="2212975" cy="361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Instrumentation, control, sensitive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signals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35375" y="5097592"/>
            <a:ext cx="2212975" cy="1542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4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C0172B"/>
                </a:solidFill>
                <a:latin typeface="Segoe UI"/>
                <a:ea typeface="Segoe UI"/>
                <a:cs typeface="Segoe UI"/>
              </a:rPr>
              <a:t>AVOID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35375" y="5243266"/>
            <a:ext cx="2212975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4768C"/>
                </a:solidFill>
                <a:latin typeface="Segoe UI"/>
                <a:ea typeface="Segoe UI"/>
                <a:cs typeface="Segoe UI"/>
              </a:rPr>
              <a:t>Uncapped outdoors — it holds water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8550" y="1842135"/>
            <a:ext cx="2581275" cy="3836670"/>
          </a:xfrm>
          <a:prstGeom prst="roundRect">
            <a:avLst>
              <a:gd name="adj" fmla="val 3936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81750" y="2070735"/>
            <a:ext cx="2174875" cy="660400"/>
          </a:xfrm>
          <a:prstGeom prst="rect">
            <a:avLst/>
          </a:prstGeom>
          <a:solidFill>
            <a:srgbClr val="FFFFFF"/>
          </a:solidFill>
          <a:ln w="8890">
            <a:solidFill>
              <a:srgbClr val="7FA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6599238" y="2070735"/>
            <a:ext cx="0" cy="660400"/>
          </a:xfrm>
          <a:prstGeom prst="line">
            <a:avLst/>
          </a:prstGeom>
          <a:ln w="10160">
            <a:solidFill>
              <a:srgbClr val="A8C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16725" y="2070735"/>
            <a:ext cx="0" cy="660400"/>
          </a:xfrm>
          <a:prstGeom prst="line">
            <a:avLst/>
          </a:prstGeom>
          <a:ln w="10160">
            <a:solidFill>
              <a:srgbClr val="A8C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034212" y="2070735"/>
            <a:ext cx="0" cy="660400"/>
          </a:xfrm>
          <a:prstGeom prst="line">
            <a:avLst/>
          </a:prstGeom>
          <a:ln w="10160">
            <a:solidFill>
              <a:srgbClr val="A8C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251700" y="2070735"/>
            <a:ext cx="0" cy="660400"/>
          </a:xfrm>
          <a:prstGeom prst="line">
            <a:avLst/>
          </a:prstGeom>
          <a:ln w="10160">
            <a:solidFill>
              <a:srgbClr val="A8C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469188" y="2070735"/>
            <a:ext cx="0" cy="660400"/>
          </a:xfrm>
          <a:prstGeom prst="line">
            <a:avLst/>
          </a:prstGeom>
          <a:ln w="10160">
            <a:solidFill>
              <a:srgbClr val="A8C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686675" y="2070735"/>
            <a:ext cx="0" cy="660400"/>
          </a:xfrm>
          <a:prstGeom prst="line">
            <a:avLst/>
          </a:prstGeom>
          <a:ln w="10160">
            <a:solidFill>
              <a:srgbClr val="A8C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904162" y="2070735"/>
            <a:ext cx="0" cy="660400"/>
          </a:xfrm>
          <a:prstGeom prst="line">
            <a:avLst/>
          </a:prstGeom>
          <a:ln w="10160">
            <a:solidFill>
              <a:srgbClr val="A8C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121650" y="2070735"/>
            <a:ext cx="0" cy="660400"/>
          </a:xfrm>
          <a:prstGeom prst="line">
            <a:avLst/>
          </a:prstGeom>
          <a:ln w="10160">
            <a:solidFill>
              <a:srgbClr val="A8C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339138" y="2070735"/>
            <a:ext cx="0" cy="660400"/>
          </a:xfrm>
          <a:prstGeom prst="line">
            <a:avLst/>
          </a:prstGeom>
          <a:ln w="10160">
            <a:solidFill>
              <a:srgbClr val="A8C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381750" y="2235835"/>
            <a:ext cx="2174875" cy="0"/>
          </a:xfrm>
          <a:prstGeom prst="line">
            <a:avLst/>
          </a:prstGeom>
          <a:ln w="10160">
            <a:solidFill>
              <a:srgbClr val="A8C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381750" y="2400935"/>
            <a:ext cx="2174875" cy="0"/>
          </a:xfrm>
          <a:prstGeom prst="line">
            <a:avLst/>
          </a:prstGeom>
          <a:ln w="10160">
            <a:solidFill>
              <a:srgbClr val="A8C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381750" y="2566035"/>
            <a:ext cx="2174875" cy="0"/>
          </a:xfrm>
          <a:prstGeom prst="line">
            <a:avLst/>
          </a:prstGeom>
          <a:ln w="10160">
            <a:solidFill>
              <a:srgbClr val="A8C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432550" y="2324735"/>
            <a:ext cx="2073275" cy="0"/>
          </a:xfrm>
          <a:prstGeom prst="line">
            <a:avLst/>
          </a:prstGeom>
          <a:ln w="25400">
            <a:solidFill>
              <a:srgbClr val="C017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432550" y="2477135"/>
            <a:ext cx="2073275" cy="0"/>
          </a:xfrm>
          <a:prstGeom prst="line">
            <a:avLst/>
          </a:prstGeom>
          <a:ln w="25400">
            <a:solidFill>
              <a:srgbClr val="3F9C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381750" y="2872877"/>
            <a:ext cx="2212975" cy="2933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Wire mesh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81750" y="3143956"/>
            <a:ext cx="2212975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Field-adaptable grid, light</a:t>
            </a:r>
          </a:p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weight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81750" y="3560638"/>
            <a:ext cx="2212975" cy="401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Fast to route and re-route; excellent</a:t>
            </a:r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for data and fibre drops.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381750" y="4342765"/>
            <a:ext cx="2174875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381750" y="4493072"/>
            <a:ext cx="2212975" cy="1542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4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1F7A55"/>
                </a:solidFill>
                <a:latin typeface="Segoe UI"/>
                <a:ea typeface="Segoe UI"/>
                <a:cs typeface="Segoe UI"/>
              </a:rPr>
              <a:t>USE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81750" y="4636237"/>
            <a:ext cx="2212975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Cat6 / fibre, data-centre overhead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81750" y="4950272"/>
            <a:ext cx="2212975" cy="1542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4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C0172B"/>
                </a:solidFill>
                <a:latin typeface="Segoe UI"/>
                <a:ea typeface="Segoe UI"/>
                <a:cs typeface="Segoe UI"/>
              </a:rPr>
              <a:t>AVOID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81750" y="5095946"/>
            <a:ext cx="2212975" cy="350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4768C"/>
                </a:solidFill>
                <a:latin typeface="Segoe UI"/>
                <a:ea typeface="Segoe UI"/>
                <a:cs typeface="Segoe UI"/>
              </a:rPr>
              <a:t>Heavy power — deflection and no</a:t>
            </a:r>
          </a:p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4768C"/>
                </a:solidFill>
                <a:latin typeface="Segoe UI"/>
                <a:ea typeface="Segoe UI"/>
                <a:cs typeface="Segoe UI"/>
              </a:rPr>
              <a:t>shielding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24925" y="1842135"/>
            <a:ext cx="2581275" cy="3836670"/>
          </a:xfrm>
          <a:prstGeom prst="roundRect">
            <a:avLst>
              <a:gd name="adj" fmla="val 3936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867582" y="2070735"/>
            <a:ext cx="695960" cy="660400"/>
          </a:xfrm>
          <a:prstGeom prst="rect">
            <a:avLst/>
          </a:prstGeom>
          <a:solidFill>
            <a:srgbClr val="E3EBF5"/>
          </a:solidFill>
          <a:ln w="16510">
            <a:solidFill>
              <a:srgbClr val="2E5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0019824" y="2400935"/>
            <a:ext cx="391477" cy="0"/>
          </a:xfrm>
          <a:prstGeom prst="line">
            <a:avLst/>
          </a:prstGeom>
          <a:ln w="27940">
            <a:solidFill>
              <a:srgbClr val="C017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128125" y="2872877"/>
            <a:ext cx="2212975" cy="2933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Channel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28125" y="3143956"/>
            <a:ext cx="2212975" cy="205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75–150 mm (3–6 in) narrow track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28125" y="3410778"/>
            <a:ext cx="2212975" cy="401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A single narrow run for a small,</a:t>
            </a:r>
          </a:p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known cable group.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128125" y="4490085"/>
            <a:ext cx="2174875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128125" y="4640392"/>
            <a:ext cx="2212975" cy="1542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4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1F7A55"/>
                </a:solidFill>
                <a:latin typeface="Segoe UI"/>
                <a:ea typeface="Segoe UI"/>
                <a:cs typeface="Segoe UI"/>
              </a:rPr>
              <a:t>USE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28125" y="4783557"/>
            <a:ext cx="2212975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Single equipment branch drops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28125" y="5097592"/>
            <a:ext cx="2212975" cy="1542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4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C0172B"/>
                </a:solidFill>
                <a:latin typeface="Segoe UI"/>
                <a:ea typeface="Segoe UI"/>
                <a:cs typeface="Segoe UI"/>
              </a:rPr>
              <a:t>AVOID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28125" y="5243266"/>
            <a:ext cx="2212975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4768C"/>
                </a:solidFill>
                <a:latin typeface="Segoe UI"/>
                <a:ea typeface="Segoe UI"/>
                <a:cs typeface="Segoe UI"/>
              </a:rPr>
              <a:t>Mixed voltages without a divider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85800" y="6324600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85800" y="6369975"/>
            <a:ext cx="664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Segoe UI Semibold"/>
                <a:ea typeface="Segoe UI Semibold"/>
                <a:cs typeface="Segoe UI Semibold"/>
              </a:rPr>
              <a:t>Cable Tray Routing &amp; Raceway Engineering · Industrial E&amp;I Design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82200" y="6369975"/>
            <a:ext cx="156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Consolas"/>
                <a:ea typeface="Consolas"/>
                <a:cs typeface="Consolas"/>
              </a:rPr>
              <a:t>07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00" y="330200"/>
            <a:ext cx="1270000" cy="245533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685800" y="533400"/>
            <a:ext cx="203200" cy="38100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409509"/>
            <a:ext cx="7150100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MATERIAL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4680"/>
            <a:ext cx="9359900" cy="5657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1B2D"/>
                </a:solidFill>
                <a:latin typeface="Segoe UI Black"/>
                <a:ea typeface="Segoe UI Black"/>
                <a:cs typeface="Segoe UI Black"/>
              </a:rPr>
              <a:t>Material is a corrosion decision, then a cost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52809"/>
            <a:ext cx="8928100" cy="2501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Default is hot-dip galvanised steel. Everything else has to earn its place with an environment.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84655"/>
            <a:ext cx="10820400" cy="381000"/>
          </a:xfrm>
          <a:prstGeom prst="roundRect">
            <a:avLst>
              <a:gd name="adj" fmla="val 16666"/>
            </a:avLst>
          </a:prstGeom>
          <a:solidFill>
            <a:srgbClr val="0A1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1780830"/>
            <a:ext cx="194818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C9D8EA"/>
                </a:solidFill>
                <a:latin typeface="Segoe UI"/>
                <a:ea typeface="Segoe UI"/>
                <a:cs typeface="Segoe UI"/>
              </a:rPr>
              <a:t>MATERIAL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02280" y="1780830"/>
            <a:ext cx="303022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C9D8EA"/>
                </a:solidFill>
                <a:latin typeface="Segoe UI"/>
                <a:ea typeface="Segoe UI"/>
                <a:cs typeface="Segoe UI"/>
              </a:rPr>
              <a:t>ENVIRONMENT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0" y="1780830"/>
            <a:ext cx="2597404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C9D8EA"/>
                </a:solidFill>
                <a:latin typeface="Segoe UI"/>
                <a:ea typeface="Segoe UI"/>
                <a:cs typeface="Segoe UI"/>
              </a:rPr>
              <a:t>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61704" y="1780830"/>
            <a:ext cx="2380996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C9D8EA"/>
                </a:solidFill>
                <a:latin typeface="Segoe UI"/>
                <a:ea typeface="Segoe UI"/>
                <a:cs typeface="Segoe UI"/>
              </a:rPr>
              <a:t>WATCH OUT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065655"/>
            <a:ext cx="10820400" cy="79340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685800" y="2859057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8200" y="2345750"/>
            <a:ext cx="1922780" cy="2149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Hot-dip galv. steel (HDG)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2280" y="2350820"/>
            <a:ext cx="3004820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General outdoor, industrial, coastal with coating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8400" y="2275940"/>
            <a:ext cx="2572004" cy="35539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Cheapest robust default; covers NEMA load</a:t>
            </a:r>
          </a:p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classes A–C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61704" y="2275940"/>
            <a:ext cx="2355596" cy="35539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Coating damage at cut ends — repair with</a:t>
            </a:r>
          </a:p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zinc-rich paint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859057"/>
            <a:ext cx="10820400" cy="683313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85800" y="3542370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85800" y="2859057"/>
            <a:ext cx="38100" cy="683313"/>
          </a:xfrm>
          <a:prstGeom prst="rect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3084107"/>
            <a:ext cx="1922780" cy="2149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Stainless 304 / 316L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2280" y="3089177"/>
            <a:ext cx="3004820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Chemical plant, chlorides, washdown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8400" y="3089177"/>
            <a:ext cx="2572004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No coating to repair; 316L for chloride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1704" y="3089177"/>
            <a:ext cx="2355596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Cost; galvanic isolation from carbon steel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542370"/>
            <a:ext cx="10820400" cy="79340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685800" y="4335772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38200" y="3822465"/>
            <a:ext cx="1922780" cy="2149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Aluminium 6063-T6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02280" y="3827535"/>
            <a:ext cx="3004820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Clean indoor, long lightweight runs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8400" y="3827535"/>
            <a:ext cx="2572004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Light, no painting, good with aluminium cable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61704" y="3752655"/>
            <a:ext cx="2355596" cy="35539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Bare copper in contact = galvanic</a:t>
            </a:r>
          </a:p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corrosion; not for chloride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335772"/>
            <a:ext cx="10820400" cy="7934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5800" y="5129174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8200" y="4615867"/>
            <a:ext cx="1922780" cy="2149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FRP / composite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02280" y="4620937"/>
            <a:ext cx="3004820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Very corrosive, EMC-neutral areas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8400" y="4620937"/>
            <a:ext cx="2572004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Non-conductive, chemically inert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1704" y="4546058"/>
            <a:ext cx="2355596" cy="35539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Lower stiffness — closer supports; UV</a:t>
            </a:r>
          </a:p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degradation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1684655"/>
            <a:ext cx="10820400" cy="3444519"/>
          </a:xfrm>
          <a:prstGeom prst="roundRect">
            <a:avLst>
              <a:gd name="adj" fmla="val 1843"/>
            </a:avLst>
          </a:prstGeom>
          <a:noFill/>
          <a:ln w="1143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85800" y="5281574"/>
            <a:ext cx="10820400" cy="461366"/>
          </a:xfrm>
          <a:prstGeom prst="roundRect">
            <a:avLst>
              <a:gd name="adj" fmla="val 16516"/>
            </a:avLst>
          </a:prstGeom>
          <a:solidFill>
            <a:srgbClr val="FDF4E5"/>
          </a:solidFill>
          <a:ln w="10160">
            <a:solidFill>
              <a:srgbClr val="EBD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85800" y="5281574"/>
            <a:ext cx="43180" cy="461366"/>
          </a:xfrm>
          <a:prstGeom prst="roundRect">
            <a:avLst>
              <a:gd name="adj" fmla="val 50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9000" y="5395651"/>
            <a:ext cx="10452100" cy="2149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6B4700"/>
                </a:solidFill>
                <a:latin typeface="Segoe UI Semibold"/>
                <a:ea typeface="Segoe UI Semibold"/>
                <a:cs typeface="Segoe UI Semibold"/>
              </a:rPr>
              <a:t>Galvanic rule: separate dissimilar metals with a plated barrier, and never lay bare copper EGC in an aluminium tray.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859714"/>
            <a:ext cx="10858500" cy="187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93A2B4"/>
                </a:solidFill>
                <a:latin typeface="Segoe UI"/>
                <a:ea typeface="Segoe UI"/>
                <a:cs typeface="Segoe UI"/>
              </a:rPr>
              <a:t>Grades and finishes to be confirmed against the project material specification.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85800" y="6324600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85800" y="6369975"/>
            <a:ext cx="664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Segoe UI Semibold"/>
                <a:ea typeface="Segoe UI Semibold"/>
                <a:cs typeface="Segoe UI Semibold"/>
              </a:rPr>
              <a:t>Cable Tray Routing &amp; Raceway Engineering · Industrial E&amp;I Design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82200" y="6369975"/>
            <a:ext cx="156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Consolas"/>
                <a:ea typeface="Consolas"/>
                <a:cs typeface="Consolas"/>
              </a:rPr>
              <a:t>08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77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55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11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89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6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44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22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00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778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55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11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89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667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44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022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378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556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33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911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89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267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445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622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800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978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156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334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11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689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867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045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223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578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756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934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112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289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467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645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823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001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178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356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712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890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067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245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23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779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956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134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312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490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845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1023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1201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1379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1557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1912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2090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0" y="177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0" y="355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0" y="533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0" y="711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0" y="889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0" y="1066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0" y="1244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0" y="1422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0" y="1600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0" y="1778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0" y="1955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0" y="2133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0" y="2311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0" y="2667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0" y="2844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0" y="3022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0" y="3200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0" y="3378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0" y="3556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0" y="3733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0" y="3911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0" y="4089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0" y="4445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0" y="4622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0" y="4800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0" y="4978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0" y="5156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0" y="5511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0" y="5689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0" y="5867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0" y="6045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0" y="6223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0" y="6578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0" y="6756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1" name="Picture 110" descr="al_watermark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0" y="3302000"/>
            <a:ext cx="3302000" cy="3302000"/>
          </a:xfrm>
          <a:prstGeom prst="rect">
            <a:avLst/>
          </a:prstGeom>
          <a:effectLst/>
        </p:spPr>
      </p:pic>
      <p:pic>
        <p:nvPicPr>
          <p:cNvPr id="112" name="Picture 111" descr="a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58800"/>
            <a:ext cx="1295400" cy="250444"/>
          </a:xfrm>
          <a:prstGeom prst="rect">
            <a:avLst/>
          </a:prstGeom>
          <a:effectLst/>
        </p:spPr>
      </p:pic>
      <p:sp>
        <p:nvSpPr>
          <p:cNvPr id="113" name="TextBox 112"/>
          <p:cNvSpPr txBox="1"/>
          <p:nvPr/>
        </p:nvSpPr>
        <p:spPr>
          <a:xfrm>
            <a:off x="685800" y="1595933"/>
            <a:ext cx="1816100" cy="14488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308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2F6EA8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36600" y="2887929"/>
            <a:ext cx="6642100" cy="692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Segoe UI Black"/>
                <a:ea typeface="Segoe UI Black"/>
                <a:cs typeface="Segoe UI Black"/>
              </a:rPr>
              <a:t>Electrical sizing &amp; segregation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736600" y="3581400"/>
            <a:ext cx="584200" cy="38100"/>
          </a:xfrm>
          <a:prstGeom prst="roundRect">
            <a:avLst>
              <a:gd name="adj" fmla="val 50000"/>
            </a:avLst>
          </a:prstGeom>
          <a:solidFill>
            <a:srgbClr val="C0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36600" y="3725286"/>
            <a:ext cx="5880100" cy="4648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9CADD"/>
                </a:solidFill>
                <a:latin typeface="Segoe UI"/>
                <a:ea typeface="Segoe UI"/>
                <a:cs typeface="Segoe UI"/>
              </a:rPr>
              <a:t>Fill limits, a worked sizing example, voltage segregation, laying geometry and thermal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9CADD"/>
                </a:solidFill>
                <a:latin typeface="Segoe UI"/>
                <a:ea typeface="Segoe UI"/>
                <a:cs typeface="Segoe UI"/>
              </a:rPr>
              <a:t>derating.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975600" y="2382175"/>
            <a:ext cx="3340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5E86AE"/>
                </a:solidFill>
                <a:latin typeface="Segoe UI"/>
                <a:ea typeface="Segoe UI"/>
                <a:cs typeface="Segoe UI"/>
              </a:rPr>
              <a:t>IN THIS MODULE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7975600" y="2590800"/>
            <a:ext cx="762000" cy="0"/>
          </a:xfrm>
          <a:prstGeom prst="line">
            <a:avLst/>
          </a:prstGeom>
          <a:ln w="10160">
            <a:solidFill>
              <a:srgbClr val="2F5D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Oval 118"/>
          <p:cNvSpPr/>
          <p:nvPr/>
        </p:nvSpPr>
        <p:spPr>
          <a:xfrm>
            <a:off x="7975600" y="2794000"/>
            <a:ext cx="50800" cy="50800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153400" y="2696373"/>
            <a:ext cx="3390900" cy="3949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NEC 392 fill limits — including the solid-bottom case most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people miss.</a:t>
            </a:r>
          </a:p>
        </p:txBody>
      </p:sp>
      <p:sp>
        <p:nvSpPr>
          <p:cNvPr id="121" name="Oval 120"/>
          <p:cNvSpPr/>
          <p:nvPr/>
        </p:nvSpPr>
        <p:spPr>
          <a:xfrm>
            <a:off x="7975600" y="3281680"/>
            <a:ext cx="50800" cy="50800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153400" y="3184053"/>
            <a:ext cx="3390900" cy="3949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A worked width calculation from cable list to a purchased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tray size.</a:t>
            </a:r>
          </a:p>
        </p:txBody>
      </p:sp>
      <p:sp>
        <p:nvSpPr>
          <p:cNvPr id="123" name="Oval 122"/>
          <p:cNvSpPr/>
          <p:nvPr/>
        </p:nvSpPr>
        <p:spPr>
          <a:xfrm>
            <a:off x="7975600" y="3769360"/>
            <a:ext cx="50800" cy="50800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153400" y="3671733"/>
            <a:ext cx="3390900" cy="2273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Voltage segregation and the EMI rules behind the tier table.</a:t>
            </a:r>
          </a:p>
        </p:txBody>
      </p:sp>
      <p:sp>
        <p:nvSpPr>
          <p:cNvPr id="125" name="Oval 124"/>
          <p:cNvSpPr/>
          <p:nvPr/>
        </p:nvSpPr>
        <p:spPr>
          <a:xfrm>
            <a:off x="7975600" y="4089400"/>
            <a:ext cx="50800" cy="50800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153400" y="3991773"/>
            <a:ext cx="3390900" cy="2273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Laying geometry, cleating and thermal derating.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685800" y="5486400"/>
            <a:ext cx="10820400" cy="0"/>
          </a:xfrm>
          <a:prstGeom prst="line">
            <a:avLst/>
          </a:prstGeom>
          <a:ln w="10160">
            <a:solidFill>
              <a:srgbClr val="224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685800" y="5653776"/>
            <a:ext cx="368300" cy="200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3A5C7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16000" y="5637743"/>
            <a:ext cx="2235200" cy="2196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4E7096"/>
                </a:solidFill>
                <a:latin typeface="Segoe UI"/>
                <a:ea typeface="Segoe UI"/>
                <a:cs typeface="Segoe UI"/>
              </a:rPr>
              <a:t>Foundations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390900" y="5653776"/>
            <a:ext cx="368300" cy="200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6FA8DC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721100" y="5637743"/>
            <a:ext cx="2235200" cy="2196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Electrical sizing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3390900" y="5467350"/>
            <a:ext cx="2374900" cy="38100"/>
          </a:xfrm>
          <a:prstGeom prst="roundRect">
            <a:avLst>
              <a:gd name="adj" fmla="val 50000"/>
            </a:avLst>
          </a:prstGeom>
          <a:solidFill>
            <a:srgbClr val="C0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096000" y="5653776"/>
            <a:ext cx="368300" cy="200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3A5C7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426200" y="5637743"/>
            <a:ext cx="2235200" cy="2196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4E7096"/>
                </a:solidFill>
                <a:latin typeface="Segoe UI"/>
                <a:ea typeface="Segoe UI"/>
                <a:cs typeface="Segoe UI"/>
              </a:rPr>
              <a:t>Structural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801100" y="5653776"/>
            <a:ext cx="368300" cy="200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3A5C7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131300" y="5637743"/>
            <a:ext cx="2235200" cy="2196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4E7096"/>
                </a:solidFill>
                <a:latin typeface="Segoe UI"/>
                <a:ea typeface="Segoe UI"/>
                <a:cs typeface="Segoe UI"/>
              </a:rPr>
              <a:t>Safety &amp; QA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5800" y="6265875"/>
            <a:ext cx="5118100" cy="186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72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86AE"/>
                </a:solidFill>
                <a:latin typeface="Consolas"/>
                <a:ea typeface="Consolas"/>
                <a:cs typeface="Consolas"/>
              </a:rPr>
              <a:t>09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00" y="330200"/>
            <a:ext cx="1270000" cy="245533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685800" y="533400"/>
            <a:ext cx="203200" cy="38100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409509"/>
            <a:ext cx="7150100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NEC 392.22 · FILL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4680"/>
            <a:ext cx="9359900" cy="5657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1B2D"/>
                </a:solidFill>
                <a:latin typeface="Segoe UI Black"/>
                <a:ea typeface="Segoe UI Black"/>
                <a:cs typeface="Segoe UI Black"/>
              </a:rPr>
              <a:t>Fill limits are heat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52809"/>
            <a:ext cx="8166100" cy="2501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The percentages exist so cables can shed heat. They are a limit on the sum of cable cross-sections against the usable interior area.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6555"/>
            <a:ext cx="4978400" cy="4058285"/>
          </a:xfrm>
          <a:prstGeom prst="roundRect">
            <a:avLst>
              <a:gd name="adj" fmla="val 2503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9000" y="1768963"/>
            <a:ext cx="2578100" cy="168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93A2B4"/>
                </a:solidFill>
                <a:latin typeface="Segoe UI"/>
                <a:ea typeface="Segoe UI"/>
                <a:cs typeface="Segoe UI"/>
              </a:rPr>
              <a:t>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73200" y="4968240"/>
            <a:ext cx="3911600" cy="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89000" y="4890780"/>
            <a:ext cx="520700" cy="149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857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73200" y="4296569"/>
            <a:ext cx="3911600" cy="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89000" y="4219109"/>
            <a:ext cx="520700" cy="149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857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73200" y="3624897"/>
            <a:ext cx="3911600" cy="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89000" y="3547438"/>
            <a:ext cx="520700" cy="149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857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73200" y="2953226"/>
            <a:ext cx="3911600" cy="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89000" y="2875766"/>
            <a:ext cx="520700" cy="149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857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45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73200" y="2281555"/>
            <a:ext cx="3911600" cy="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9000" y="2204095"/>
            <a:ext cx="520700" cy="149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857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60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78000" y="3177117"/>
            <a:ext cx="596900" cy="1791123"/>
          </a:xfrm>
          <a:prstGeom prst="roundRect">
            <a:avLst>
              <a:gd name="adj" fmla="val 6382"/>
            </a:avLst>
          </a:prstGeom>
          <a:solidFill>
            <a:srgbClr val="C0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01800" y="2881664"/>
            <a:ext cx="787400" cy="303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742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172B"/>
                </a:solidFill>
                <a:latin typeface="Consolas"/>
                <a:ea typeface="Consolas"/>
                <a:cs typeface="Consolas"/>
              </a:rPr>
              <a:t>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5600" y="5027910"/>
            <a:ext cx="939800" cy="3213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06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33465E"/>
                </a:solidFill>
                <a:latin typeface="Segoe UI Semibold"/>
                <a:ea typeface="Segoe UI Semibold"/>
                <a:cs typeface="Segoe UI Semibold"/>
              </a:rPr>
              <a:t>Power &amp;</a:t>
            </a:r>
          </a:p>
          <a:p>
            <a:pPr algn="ctr">
              <a:lnSpc>
                <a:spcPts val="106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33465E"/>
                </a:solidFill>
                <a:latin typeface="Segoe UI Semibold"/>
                <a:ea typeface="Segoe UI Semibold"/>
                <a:cs typeface="Segoe UI Semibold"/>
              </a:rPr>
              <a:t>lighting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5600" y="5333197"/>
            <a:ext cx="939800" cy="1612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93A2B4"/>
                </a:solidFill>
                <a:latin typeface="Segoe UI"/>
                <a:ea typeface="Segoe UI"/>
                <a:cs typeface="Segoe UI"/>
              </a:rPr>
              <a:t>hard limit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79700" y="2729336"/>
            <a:ext cx="596900" cy="2238904"/>
          </a:xfrm>
          <a:prstGeom prst="roundRect">
            <a:avLst>
              <a:gd name="adj" fmla="val 6382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03500" y="2433883"/>
            <a:ext cx="787400" cy="303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742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7300" y="5027910"/>
            <a:ext cx="939800" cy="3213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06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33465E"/>
                </a:solidFill>
                <a:latin typeface="Segoe UI Semibold"/>
                <a:ea typeface="Segoe UI Semibold"/>
                <a:cs typeface="Segoe UI Semibold"/>
              </a:rPr>
              <a:t>Control &amp;</a:t>
            </a:r>
          </a:p>
          <a:p>
            <a:pPr algn="ctr">
              <a:lnSpc>
                <a:spcPts val="106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33465E"/>
                </a:solidFill>
                <a:latin typeface="Segoe UI Semibold"/>
                <a:ea typeface="Segoe UI Semibold"/>
                <a:cs typeface="Segoe UI Semibold"/>
              </a:rPr>
              <a:t>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7300" y="5333197"/>
            <a:ext cx="939800" cy="1612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93A2B4"/>
                </a:solidFill>
                <a:latin typeface="Segoe UI"/>
                <a:ea typeface="Segoe UI"/>
                <a:cs typeface="Segoe UI"/>
              </a:rPr>
              <a:t>hard limit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81400" y="3401007"/>
            <a:ext cx="596900" cy="1567233"/>
          </a:xfrm>
          <a:prstGeom prst="roundRect">
            <a:avLst>
              <a:gd name="adj" fmla="val 6382"/>
            </a:avLst>
          </a:prstGeom>
          <a:solidFill>
            <a:srgbClr val="C0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5200" y="3105554"/>
            <a:ext cx="787400" cy="303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742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172B"/>
                </a:solidFill>
                <a:latin typeface="Consolas"/>
                <a:ea typeface="Consolas"/>
                <a:cs typeface="Consolas"/>
              </a:rPr>
              <a:t>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5027910"/>
            <a:ext cx="939800" cy="3213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06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33465E"/>
                </a:solidFill>
                <a:latin typeface="Segoe UI Semibold"/>
                <a:ea typeface="Segoe UI Semibold"/>
                <a:cs typeface="Segoe UI Semibold"/>
              </a:rPr>
              <a:t>Solid-bottom</a:t>
            </a:r>
          </a:p>
          <a:p>
            <a:pPr algn="ctr">
              <a:lnSpc>
                <a:spcPts val="106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33465E"/>
                </a:solidFill>
                <a:latin typeface="Segoe UI Semibold"/>
                <a:ea typeface="Segoe UI Semibold"/>
                <a:cs typeface="Segoe UI Semibold"/>
              </a:rPr>
              <a:t>tray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5333197"/>
            <a:ext cx="939800" cy="1612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93A2B4"/>
                </a:solidFill>
                <a:latin typeface="Segoe UI"/>
                <a:ea typeface="Segoe UI"/>
                <a:cs typeface="Segoe UI"/>
              </a:rPr>
              <a:t>stricter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3100" y="4072678"/>
            <a:ext cx="596900" cy="895562"/>
          </a:xfrm>
          <a:prstGeom prst="roundRect">
            <a:avLst>
              <a:gd name="adj" fmla="val 6382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06900" y="3777226"/>
            <a:ext cx="787400" cy="303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742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98A12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30700" y="5027910"/>
            <a:ext cx="939800" cy="3213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06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33465E"/>
                </a:solidFill>
                <a:latin typeface="Segoe UI Semibold"/>
                <a:ea typeface="Segoe UI Semibold"/>
                <a:cs typeface="Segoe UI Semibold"/>
              </a:rPr>
              <a:t>Reserve</a:t>
            </a:r>
          </a:p>
          <a:p>
            <a:pPr algn="ctr">
              <a:lnSpc>
                <a:spcPts val="106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33465E"/>
                </a:solidFill>
                <a:latin typeface="Segoe UI Semibold"/>
                <a:ea typeface="Segoe UI Semibold"/>
                <a:cs typeface="Segoe UI Semibold"/>
              </a:rPr>
              <a:t>(practice)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30700" y="5333197"/>
            <a:ext cx="939800" cy="1612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93A2B4"/>
                </a:solidFill>
                <a:latin typeface="Segoe UI"/>
                <a:ea typeface="Segoe UI"/>
                <a:cs typeface="Segoe UI"/>
              </a:rPr>
              <a:t>not code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473200" y="4968240"/>
            <a:ext cx="3911600" cy="0"/>
          </a:xfrm>
          <a:prstGeom prst="line">
            <a:avLst/>
          </a:prstGeom>
          <a:ln w="11430">
            <a:solidFill>
              <a:srgbClr val="C9D5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969000" y="2230437"/>
            <a:ext cx="5537200" cy="828040"/>
          </a:xfrm>
          <a:prstGeom prst="roundRect">
            <a:avLst>
              <a:gd name="adj" fmla="val 10736"/>
            </a:avLst>
          </a:prstGeom>
          <a:solidFill>
            <a:srgbClr val="F5F8FC"/>
          </a:solidFill>
          <a:ln w="889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46800" y="2314115"/>
            <a:ext cx="5219700" cy="2430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93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40% — power and lighting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6800" y="2518799"/>
            <a:ext cx="5219700" cy="2108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Multi-conductor power cables rated ≤ 2000 V in ladder or ventilated trough tray.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6800" y="2815085"/>
            <a:ext cx="5219700" cy="1542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4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NEC 392.22(A)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69000" y="3261678"/>
            <a:ext cx="5537200" cy="828040"/>
          </a:xfrm>
          <a:prstGeom prst="roundRect">
            <a:avLst>
              <a:gd name="adj" fmla="val 10736"/>
            </a:avLst>
          </a:prstGeom>
          <a:solidFill>
            <a:srgbClr val="F5F8FC"/>
          </a:solidFill>
          <a:ln w="889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46800" y="3345355"/>
            <a:ext cx="5219700" cy="2430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93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50% — control and signal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46800" y="3550039"/>
            <a:ext cx="5219700" cy="2108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Control, instrumentation and similar cables. Mixed trays use the stricter limit per cable type.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46800" y="3846325"/>
            <a:ext cx="5219700" cy="1542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4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NEC 392.22(A)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69000" y="4292918"/>
            <a:ext cx="5537200" cy="828040"/>
          </a:xfrm>
          <a:prstGeom prst="roundRect">
            <a:avLst>
              <a:gd name="adj" fmla="val 10736"/>
            </a:avLst>
          </a:prstGeom>
          <a:solidFill>
            <a:srgbClr val="F5F8FC"/>
          </a:solidFill>
          <a:ln w="889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46800" y="4376595"/>
            <a:ext cx="5219700" cy="2430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93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20% future reserve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6800" y="4581279"/>
            <a:ext cx="5219700" cy="2108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Not a code requirement. It is the margin that keeps the next revamp from becoming a re-route.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46800" y="4877565"/>
            <a:ext cx="5219700" cy="1542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4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PRACTICE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796214"/>
            <a:ext cx="10858500" cy="187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93A2B4"/>
                </a:solidFill>
                <a:latin typeface="Segoe UI"/>
                <a:ea typeface="Segoe UI"/>
                <a:cs typeface="Segoe UI"/>
              </a:rPr>
              <a:t>Solid-bottom and covered trays trap heat: NEC applies stricter fill and manufacturer derating applies on top.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85800" y="6324600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85800" y="6369975"/>
            <a:ext cx="664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Segoe UI Semibold"/>
                <a:ea typeface="Segoe UI Semibold"/>
                <a:cs typeface="Segoe UI Semibold"/>
              </a:rPr>
              <a:t>Cable Tray Routing &amp; Raceway Engineering · Industrial E&amp;I Design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82200" y="6369975"/>
            <a:ext cx="156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Consolas"/>
                <a:ea typeface="Consolas"/>
                <a:cs typeface="Consolas"/>
              </a:rPr>
              <a:t>10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00" y="330200"/>
            <a:ext cx="1270000" cy="245533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685800" y="533400"/>
            <a:ext cx="203200" cy="38100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409509"/>
            <a:ext cx="7150100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WORKED EXAMPLE · TRAY WIDTH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6432"/>
            <a:ext cx="9359900" cy="5448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B2D"/>
                </a:solidFill>
                <a:latin typeface="Segoe UI Black"/>
                <a:ea typeface="Segoe UI Black"/>
                <a:cs typeface="Segoe UI Black"/>
              </a:rPr>
              <a:t>From cable list to a purchased width in four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0714"/>
            <a:ext cx="63881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Single-layer assumption. OD = overall diameter from the cable datasheet.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141730"/>
            <a:ext cx="4191000" cy="762000"/>
          </a:xfrm>
          <a:prstGeom prst="roundRect">
            <a:avLst>
              <a:gd name="adj" fmla="val 13333"/>
            </a:avLst>
          </a:prstGeom>
          <a:solidFill>
            <a:srgbClr val="EEF3FA"/>
          </a:solidFill>
          <a:ln w="11430">
            <a:solidFill>
              <a:srgbClr val="C7D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05700" y="1249975"/>
            <a:ext cx="3848100" cy="24770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W ≥ Σ(OD²) ÷ usable 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5700" y="1524173"/>
            <a:ext cx="3848100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4E7AA8"/>
                </a:solidFill>
                <a:latin typeface="Consolas"/>
                <a:ea typeface="Consolas"/>
                <a:cs typeface="Consolas"/>
              </a:rPr>
              <a:t>× 1.25 reserve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052371"/>
            <a:ext cx="4229100" cy="1635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3A2B4"/>
                </a:solidFill>
                <a:latin typeface="Segoe UI"/>
                <a:ea typeface="Segoe UI"/>
                <a:cs typeface="Segoe UI"/>
              </a:rPr>
              <a:t>CABLE 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246630"/>
            <a:ext cx="4191000" cy="304800"/>
          </a:xfrm>
          <a:prstGeom prst="roundRect">
            <a:avLst>
              <a:gd name="adj" fmla="val 16666"/>
            </a:avLst>
          </a:prstGeom>
          <a:solidFill>
            <a:srgbClr val="0A1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4100" y="2322403"/>
            <a:ext cx="1419860" cy="1448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30"/>
              </a:lnSpc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C9D8EA"/>
                </a:solidFill>
                <a:latin typeface="Segoe UI"/>
                <a:ea typeface="Segoe UI"/>
                <a:cs typeface="Segoe UI"/>
              </a:rPr>
              <a:t>CABLE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2860" y="2322403"/>
            <a:ext cx="455930" cy="1448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30"/>
              </a:lnSpc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C9D8EA"/>
                </a:solidFill>
                <a:latin typeface="Segoe UI"/>
                <a:ea typeface="Segoe UI"/>
                <a:cs typeface="Segoe UI"/>
              </a:rPr>
              <a:t>QTY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57690" y="2322403"/>
            <a:ext cx="581660" cy="1448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30"/>
              </a:lnSpc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C9D8EA"/>
                </a:solidFill>
                <a:latin typeface="Segoe UI"/>
                <a:ea typeface="Segoe UI"/>
                <a:cs typeface="Segoe UI"/>
              </a:rPr>
              <a:t>OD (MM)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28250" y="2322403"/>
            <a:ext cx="581660" cy="1448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30"/>
              </a:lnSpc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C9D8EA"/>
                </a:solidFill>
                <a:latin typeface="Segoe UI"/>
                <a:ea typeface="Segoe UI"/>
                <a:cs typeface="Segoe UI"/>
              </a:rPr>
              <a:t>OD²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98810" y="2322403"/>
            <a:ext cx="707390" cy="1448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30"/>
              </a:lnSpc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C9D8EA"/>
                </a:solidFill>
                <a:latin typeface="Segoe UI"/>
                <a:ea typeface="Segoe UI"/>
                <a:cs typeface="Segoe UI"/>
              </a:rPr>
              <a:t>Σ OD² (MM²)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551430"/>
            <a:ext cx="4191000" cy="3429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7315200" y="2894330"/>
            <a:ext cx="4191000" cy="0"/>
          </a:xfrm>
          <a:prstGeom prst="line">
            <a:avLst/>
          </a:prstGeom>
          <a:ln w="762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04100" y="2621107"/>
            <a:ext cx="1419860" cy="170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3C × 95 mm² LV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2860" y="2621107"/>
            <a:ext cx="455930" cy="170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7690" y="2621107"/>
            <a:ext cx="581660" cy="170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28250" y="2621107"/>
            <a:ext cx="581660" cy="170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2 025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98810" y="2621107"/>
            <a:ext cx="707390" cy="170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16 200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2894330"/>
            <a:ext cx="41910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7315200" y="3237230"/>
            <a:ext cx="4191000" cy="0"/>
          </a:xfrm>
          <a:prstGeom prst="line">
            <a:avLst/>
          </a:prstGeom>
          <a:ln w="762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404100" y="2964007"/>
            <a:ext cx="1419860" cy="170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0F1B2D"/>
                </a:solidFill>
                <a:latin typeface="Segoe UI Semibold"/>
                <a:ea typeface="Segoe UI Semibold"/>
                <a:cs typeface="Segoe UI Semibold"/>
              </a:rPr>
              <a:t>Required inside width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98810" y="2964007"/>
            <a:ext cx="707390" cy="170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0F1B2D"/>
                </a:solidFill>
                <a:latin typeface="Segoe UI Semibold"/>
                <a:ea typeface="Segoe UI Semibold"/>
                <a:cs typeface="Segoe UI Semibold"/>
              </a:rPr>
              <a:t>162 mm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3237230"/>
            <a:ext cx="4191000" cy="3429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7315200" y="3580130"/>
            <a:ext cx="4191000" cy="0"/>
          </a:xfrm>
          <a:prstGeom prst="line">
            <a:avLst/>
          </a:prstGeom>
          <a:ln w="762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404100" y="3306907"/>
            <a:ext cx="1419860" cy="170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0F1B2D"/>
                </a:solidFill>
                <a:latin typeface="Segoe UI Semibold"/>
                <a:ea typeface="Segoe UI Semibold"/>
                <a:cs typeface="Segoe UI Semibold"/>
              </a:rPr>
              <a:t>With 1.25 reserve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98810" y="3306907"/>
            <a:ext cx="707390" cy="170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0F1B2D"/>
                </a:solidFill>
                <a:latin typeface="Segoe UI Semibold"/>
                <a:ea typeface="Segoe UI Semibold"/>
                <a:cs typeface="Segoe UI Semibold"/>
              </a:rPr>
              <a:t>203 mm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580130"/>
            <a:ext cx="41910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315200" y="3923030"/>
            <a:ext cx="4191000" cy="0"/>
          </a:xfrm>
          <a:prstGeom prst="line">
            <a:avLst/>
          </a:prstGeom>
          <a:ln w="762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04100" y="3649807"/>
            <a:ext cx="1419860" cy="1701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0F1B2D"/>
                </a:solidFill>
                <a:latin typeface="Segoe UI Semibold"/>
                <a:ea typeface="Segoe UI Semibold"/>
                <a:cs typeface="Segoe UI Semibold"/>
              </a:rPr>
              <a:t>Selected tray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98810" y="3649807"/>
            <a:ext cx="707390" cy="294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0F1B2D"/>
                </a:solidFill>
                <a:latin typeface="Segoe UI Semibold"/>
                <a:ea typeface="Segoe UI Semibold"/>
                <a:cs typeface="Segoe UI Semibold"/>
              </a:rPr>
              <a:t>300 mm × 100</a:t>
            </a:r>
          </a:p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0F1B2D"/>
                </a:solidFill>
                <a:latin typeface="Segoe UI Semibold"/>
                <a:ea typeface="Segoe UI Semibold"/>
                <a:cs typeface="Segoe UI Semibold"/>
              </a:rPr>
              <a:t>mm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2246630"/>
            <a:ext cx="4191000" cy="1676400"/>
          </a:xfrm>
          <a:prstGeom prst="roundRect">
            <a:avLst>
              <a:gd name="adj" fmla="val 3030"/>
            </a:avLst>
          </a:prstGeom>
          <a:noFill/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85800" y="5106670"/>
            <a:ext cx="10820400" cy="461366"/>
          </a:xfrm>
          <a:prstGeom prst="roundRect">
            <a:avLst>
              <a:gd name="adj" fmla="val 16516"/>
            </a:avLst>
          </a:prstGeom>
          <a:solidFill>
            <a:srgbClr val="FDF4E5"/>
          </a:solidFill>
          <a:ln w="10160">
            <a:solidFill>
              <a:srgbClr val="EBD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85800" y="5106670"/>
            <a:ext cx="43180" cy="461366"/>
          </a:xfrm>
          <a:prstGeom prst="roundRect">
            <a:avLst>
              <a:gd name="adj" fmla="val 50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9000" y="5220746"/>
            <a:ext cx="10452100" cy="2149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6B4700"/>
                </a:solidFill>
                <a:latin typeface="Segoe UI Semibold"/>
                <a:ea typeface="Segoe UI Semibold"/>
                <a:cs typeface="Segoe UI Semibold"/>
              </a:rPr>
              <a:t>The sum-of-squares method is a single-layer rule of thumb: it fails if cables are stacked or if any OD exceeds the usable depth.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855470"/>
            <a:ext cx="6299200" cy="660400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889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38200" y="2071370"/>
            <a:ext cx="228600" cy="228600"/>
          </a:xfrm>
          <a:prstGeom prst="ellipse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8200" y="2096861"/>
            <a:ext cx="266700" cy="17759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018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93800" y="1927281"/>
            <a:ext cx="5676900" cy="23835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List cables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93800" y="2134926"/>
            <a:ext cx="5676900" cy="2051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8 × 3C × 95 mm² LV power, OD 45 mm. Usable depth of a 4 in tray: 100 mm.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2617470"/>
            <a:ext cx="6299200" cy="660400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889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38200" y="2833370"/>
            <a:ext cx="228600" cy="228600"/>
          </a:xfrm>
          <a:prstGeom prst="ellipse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8200" y="2858861"/>
            <a:ext cx="266700" cy="17759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018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93800" y="2689281"/>
            <a:ext cx="5676900" cy="23835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Square and sum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93800" y="2896926"/>
            <a:ext cx="5676900" cy="2051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Σ OD² = 8 × 45² = 8 × 2 025 = 16 200 mm².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3379470"/>
            <a:ext cx="6299200" cy="660400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889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38200" y="3595370"/>
            <a:ext cx="228600" cy="228600"/>
          </a:xfrm>
          <a:prstGeom prst="ellipse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8200" y="3620861"/>
            <a:ext cx="266700" cy="17759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018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93800" y="3451281"/>
            <a:ext cx="5676900" cy="23835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Divide by depth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93800" y="3658926"/>
            <a:ext cx="5676900" cy="2051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16 200 ÷ 100 = 162 mm minimum inside width.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4141470"/>
            <a:ext cx="6299200" cy="660400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889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38200" y="4357370"/>
            <a:ext cx="228600" cy="228600"/>
          </a:xfrm>
          <a:prstGeom prst="ellipse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8200" y="4382861"/>
            <a:ext cx="266700" cy="17759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018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93800" y="4213281"/>
            <a:ext cx="5676900" cy="23835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Apply reserve, round up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93800" y="4420926"/>
            <a:ext cx="5676900" cy="2051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162 × 1.25 = 203 mm → select the next standard width: 300 mm tray.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85800" y="6324600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85800" y="6369975"/>
            <a:ext cx="664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Segoe UI Semibold"/>
                <a:ea typeface="Segoe UI Semibold"/>
                <a:cs typeface="Segoe UI Semibold"/>
              </a:rPr>
              <a:t>Cable Tray Routing &amp; Raceway Engineering · Industrial E&amp;I Design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82200" y="6369975"/>
            <a:ext cx="156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Consolas"/>
                <a:ea typeface="Consolas"/>
                <a:cs typeface="Consolas"/>
              </a:rPr>
              <a:t>11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00" y="330200"/>
            <a:ext cx="1270000" cy="245533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685800" y="533400"/>
            <a:ext cx="203200" cy="38100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409509"/>
            <a:ext cx="7150100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ELECTROMAGNETIC COMPATIBILITY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4680"/>
            <a:ext cx="9359900" cy="5657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1B2D"/>
                </a:solidFill>
                <a:latin typeface="Segoe UI Black"/>
                <a:ea typeface="Segoe UI Black"/>
                <a:cs typeface="Segoe UI Black"/>
              </a:rPr>
              <a:t>Segregation is a tier order, not a preference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52809"/>
            <a:ext cx="8928100" cy="2501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Highest voltage on top, most sensitive signal at the bottom, and a barrier whenever the two share steel.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42008"/>
            <a:ext cx="10820400" cy="381000"/>
          </a:xfrm>
          <a:prstGeom prst="roundRect">
            <a:avLst>
              <a:gd name="adj" fmla="val 16666"/>
            </a:avLst>
          </a:prstGeom>
          <a:solidFill>
            <a:srgbClr val="0A1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1838183"/>
            <a:ext cx="1190752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C9D8EA"/>
                </a:solidFill>
                <a:latin typeface="Segoe UI"/>
                <a:ea typeface="Segoe UI"/>
                <a:cs typeface="Segoe UI"/>
              </a:rPr>
              <a:t>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4852" y="1838183"/>
            <a:ext cx="2380996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C9D8EA"/>
                </a:solidFill>
                <a:latin typeface="Segoe UI"/>
                <a:ea typeface="Segoe UI"/>
                <a:cs typeface="Segoe UI"/>
              </a:rPr>
              <a:t>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1748" y="1838183"/>
            <a:ext cx="194818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C9D8EA"/>
                </a:solidFill>
                <a:latin typeface="Segoe UI"/>
                <a:ea typeface="Segoe UI"/>
                <a:cs typeface="Segoe UI"/>
              </a:rPr>
              <a:t>VOLTAGE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5828" y="1838183"/>
            <a:ext cx="2164588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C9D8EA"/>
                </a:solidFill>
                <a:latin typeface="Segoe UI"/>
                <a:ea typeface="Segoe UI"/>
                <a:cs typeface="Segoe UI"/>
              </a:rPr>
              <a:t>SEPARATION FROM THE TIER ABOVE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86316" y="1838183"/>
            <a:ext cx="2056384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C9D8EA"/>
                </a:solidFill>
                <a:latin typeface="Segoe UI"/>
                <a:ea typeface="Segoe UI"/>
                <a:cs typeface="Segoe UI"/>
              </a:rPr>
              <a:t>DIVIDER / RULE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123008"/>
            <a:ext cx="10820400" cy="7086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85800" y="2831668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38200" y="2360732"/>
            <a:ext cx="1165352" cy="2149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1 — 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4852" y="2365802"/>
            <a:ext cx="2355596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HV power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1748" y="2365802"/>
            <a:ext cx="1922780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&gt; 1 kV to 33 kV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5828" y="2365802"/>
            <a:ext cx="2139188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Top position, own tray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6316" y="2365802"/>
            <a:ext cx="2030984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No shared services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831668"/>
            <a:ext cx="10820400" cy="70866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85800" y="3540328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85800" y="2831668"/>
            <a:ext cx="38100" cy="708660"/>
          </a:xfrm>
          <a:prstGeom prst="rect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" y="3069392"/>
            <a:ext cx="1165352" cy="2149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4852" y="3074462"/>
            <a:ext cx="2355596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LV power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1748" y="3074462"/>
            <a:ext cx="1922780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≤ 1 kV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5828" y="3074462"/>
            <a:ext cx="2139188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≥ 300 mm below HV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6316" y="3074462"/>
            <a:ext cx="2030984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Solid metallic barrier if shared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540328"/>
            <a:ext cx="10820400" cy="7086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85800" y="4248988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8200" y="3778052"/>
            <a:ext cx="1165352" cy="2149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4852" y="3783122"/>
            <a:ext cx="2355596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Control &amp; interlock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1748" y="3783122"/>
            <a:ext cx="1922780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110 / 230 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5828" y="3783122"/>
            <a:ext cx="2139188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≥ 250 mm below LV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86316" y="3783122"/>
            <a:ext cx="2030984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Perforated barrier minimum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4248988"/>
            <a:ext cx="10820400" cy="822833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685800" y="5071821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85800" y="4248988"/>
            <a:ext cx="38100" cy="822833"/>
          </a:xfrm>
          <a:prstGeom prst="rect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8200" y="4543798"/>
            <a:ext cx="1165352" cy="2149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4 — bottom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4852" y="4548868"/>
            <a:ext cx="2355596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Analog &amp; fieldbus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1748" y="4548868"/>
            <a:ext cx="1922780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&lt; 50 V / 4–20 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05828" y="4548868"/>
            <a:ext cx="2139188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≥ 450 mm below power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86316" y="4473989"/>
            <a:ext cx="2030984" cy="35539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Dedicated solid-bottom tray or</a:t>
            </a:r>
          </a:p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conduit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1742008"/>
            <a:ext cx="10820400" cy="3329813"/>
          </a:xfrm>
          <a:prstGeom prst="roundRect">
            <a:avLst>
              <a:gd name="adj" fmla="val 1907"/>
            </a:avLst>
          </a:prstGeom>
          <a:noFill/>
          <a:ln w="1143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85800" y="5224221"/>
            <a:ext cx="10820400" cy="461366"/>
          </a:xfrm>
          <a:prstGeom prst="roundRect">
            <a:avLst>
              <a:gd name="adj" fmla="val 16516"/>
            </a:avLst>
          </a:prstGeom>
          <a:solidFill>
            <a:srgbClr val="FDF4E5"/>
          </a:solidFill>
          <a:ln w="10160">
            <a:solidFill>
              <a:srgbClr val="EBD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85800" y="5224221"/>
            <a:ext cx="43180" cy="461366"/>
          </a:xfrm>
          <a:prstGeom prst="roundRect">
            <a:avLst>
              <a:gd name="adj" fmla="val 50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9000" y="5338298"/>
            <a:ext cx="10452100" cy="2149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6B4700"/>
                </a:solidFill>
                <a:latin typeface="Segoe UI Semibold"/>
                <a:ea typeface="Segoe UI Semibold"/>
                <a:cs typeface="Segoe UI Semibold"/>
              </a:rPr>
              <a:t>Where signal and power must cross, cross at 90°. Parallel runs couple; perpendicular crossings do not.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5802361"/>
            <a:ext cx="10858500" cy="187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93A2B4"/>
                </a:solidFill>
                <a:latin typeface="Segoe UI"/>
                <a:ea typeface="Segoe UI"/>
                <a:cs typeface="Segoe UI"/>
              </a:rPr>
              <a:t>Tier spacing shown is project design practice — NEC does not prescribe tier distances; it prescribes electrical continuity and safe installation.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85800" y="6324600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85800" y="6369975"/>
            <a:ext cx="664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Segoe UI Semibold"/>
                <a:ea typeface="Segoe UI Semibold"/>
                <a:cs typeface="Segoe UI Semibold"/>
              </a:rPr>
              <a:t>Cable Tray Routing &amp; Raceway Engineering · Industrial E&amp;I Design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82200" y="6369975"/>
            <a:ext cx="156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Consolas"/>
                <a:ea typeface="Consolas"/>
                <a:cs typeface="Consolas"/>
              </a:rPr>
              <a:t>12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00" y="330200"/>
            <a:ext cx="1270000" cy="245533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685800" y="533400"/>
            <a:ext cx="203200" cy="38100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409509"/>
            <a:ext cx="7150100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INSTALLATION 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4680"/>
            <a:ext cx="9359900" cy="5657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1B2D"/>
                </a:solidFill>
                <a:latin typeface="Segoe UI Black"/>
                <a:ea typeface="Segoe UI Black"/>
                <a:cs typeface="Segoe UI Black"/>
              </a:rPr>
              <a:t>Single-core and multi-core are not laid the same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52809"/>
            <a:ext cx="8928100" cy="2501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Bundling single-core cables the wrong way creates circulating currents and eddy heating; multi-core is mostly about heat and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02155"/>
            <a:ext cx="5295900" cy="2575154"/>
          </a:xfrm>
          <a:prstGeom prst="roundRect">
            <a:avLst>
              <a:gd name="adj" fmla="val 3945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002155"/>
            <a:ext cx="38100" cy="2575154"/>
          </a:xfrm>
          <a:prstGeom prst="roundRect">
            <a:avLst>
              <a:gd name="adj" fmla="val 50000"/>
            </a:avLst>
          </a:prstGeom>
          <a:solidFill>
            <a:srgbClr val="C0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9800" y="2149536"/>
            <a:ext cx="4826000" cy="3131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Single-core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" y="2410831"/>
            <a:ext cx="4826000" cy="200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C0172B"/>
                </a:solidFill>
                <a:latin typeface="Segoe UI Semibold"/>
                <a:ea typeface="Segoe UI Semibold"/>
                <a:cs typeface="Segoe UI Semibold"/>
              </a:rPr>
              <a:t>Trefoil, one layer, non-magnetic hardware</a:t>
            </a:r>
          </a:p>
        </p:txBody>
      </p:sp>
      <p:sp>
        <p:nvSpPr>
          <p:cNvPr id="11" name="Oval 10"/>
          <p:cNvSpPr/>
          <p:nvPr/>
        </p:nvSpPr>
        <p:spPr>
          <a:xfrm>
            <a:off x="948690" y="2783776"/>
            <a:ext cx="48260" cy="48260"/>
          </a:xfrm>
          <a:prstGeom prst="ellipse">
            <a:avLst/>
          </a:prstGeom>
          <a:solidFill>
            <a:srgbClr val="C0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2200" y="2695001"/>
            <a:ext cx="4673600" cy="23385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46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Trefoil groups balance the induced field in each phase.</a:t>
            </a:r>
          </a:p>
        </p:txBody>
      </p:sp>
      <p:sp>
        <p:nvSpPr>
          <p:cNvPr id="13" name="Oval 12"/>
          <p:cNvSpPr/>
          <p:nvPr/>
        </p:nvSpPr>
        <p:spPr>
          <a:xfrm>
            <a:off x="948690" y="3069069"/>
            <a:ext cx="48260" cy="48260"/>
          </a:xfrm>
          <a:prstGeom prst="ellipse">
            <a:avLst/>
          </a:prstGeom>
          <a:solidFill>
            <a:srgbClr val="C0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2200" y="2980294"/>
            <a:ext cx="4673600" cy="23385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46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One layer only — never stacked; separate groups by 2 × OD.</a:t>
            </a:r>
          </a:p>
        </p:txBody>
      </p:sp>
      <p:sp>
        <p:nvSpPr>
          <p:cNvPr id="15" name="Oval 14"/>
          <p:cNvSpPr/>
          <p:nvPr/>
        </p:nvSpPr>
        <p:spPr>
          <a:xfrm>
            <a:off x="948690" y="3354362"/>
            <a:ext cx="48260" cy="48260"/>
          </a:xfrm>
          <a:prstGeom prst="ellipse">
            <a:avLst/>
          </a:prstGeom>
          <a:solidFill>
            <a:srgbClr val="C0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2200" y="3265587"/>
            <a:ext cx="4673600" cy="23385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46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Non-magnetic clamps (stainless or aluminium) to stop eddy heating.</a:t>
            </a:r>
          </a:p>
        </p:txBody>
      </p:sp>
      <p:sp>
        <p:nvSpPr>
          <p:cNvPr id="17" name="Oval 16"/>
          <p:cNvSpPr/>
          <p:nvPr/>
        </p:nvSpPr>
        <p:spPr>
          <a:xfrm>
            <a:off x="948690" y="3639655"/>
            <a:ext cx="48260" cy="48260"/>
          </a:xfrm>
          <a:prstGeom prst="ellipse">
            <a:avLst/>
          </a:prstGeom>
          <a:solidFill>
            <a:srgbClr val="C0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2200" y="3550879"/>
            <a:ext cx="4673600" cy="4048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46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Cleats: rated for the short-circuit burst — spacing per the SC calculation,</a:t>
            </a:r>
          </a:p>
          <a:p>
            <a:pPr algn="l">
              <a:lnSpc>
                <a:spcPts val="1346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typically ≈ 1.5 m for LV.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300" y="2002155"/>
            <a:ext cx="5295900" cy="2575154"/>
          </a:xfrm>
          <a:prstGeom prst="roundRect">
            <a:avLst>
              <a:gd name="adj" fmla="val 3945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0300" y="2002155"/>
            <a:ext cx="38100" cy="2575154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300" y="2149536"/>
            <a:ext cx="4826000" cy="3131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Multi-core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300" y="2410831"/>
            <a:ext cx="4826000" cy="200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375F9B"/>
                </a:solidFill>
                <a:latin typeface="Segoe UI Semibold"/>
                <a:ea typeface="Segoe UI Semibold"/>
                <a:cs typeface="Segoe UI Semibold"/>
              </a:rPr>
              <a:t>Flat, touching, trefoil unnecessary</a:t>
            </a:r>
          </a:p>
        </p:txBody>
      </p:sp>
      <p:sp>
        <p:nvSpPr>
          <p:cNvPr id="23" name="Oval 22"/>
          <p:cNvSpPr/>
          <p:nvPr/>
        </p:nvSpPr>
        <p:spPr>
          <a:xfrm>
            <a:off x="6473190" y="2783776"/>
            <a:ext cx="48260" cy="48260"/>
          </a:xfrm>
          <a:prstGeom prst="ellipse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16700" y="2695001"/>
            <a:ext cx="4673600" cy="23385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46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Lay flat side by side, touching or at 1 × OD for LV power.</a:t>
            </a:r>
          </a:p>
        </p:txBody>
      </p:sp>
      <p:sp>
        <p:nvSpPr>
          <p:cNvPr id="25" name="Oval 24"/>
          <p:cNvSpPr/>
          <p:nvPr/>
        </p:nvSpPr>
        <p:spPr>
          <a:xfrm>
            <a:off x="6473190" y="3069069"/>
            <a:ext cx="48260" cy="48260"/>
          </a:xfrm>
          <a:prstGeom prst="ellipse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6700" y="2980294"/>
            <a:ext cx="4673600" cy="23385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46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Stacking is allowed only with ampacity derating applied.</a:t>
            </a:r>
          </a:p>
        </p:txBody>
      </p:sp>
      <p:sp>
        <p:nvSpPr>
          <p:cNvPr id="27" name="Oval 26"/>
          <p:cNvSpPr/>
          <p:nvPr/>
        </p:nvSpPr>
        <p:spPr>
          <a:xfrm>
            <a:off x="6473190" y="3354362"/>
            <a:ext cx="48260" cy="48260"/>
          </a:xfrm>
          <a:prstGeom prst="ellipse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6700" y="3265587"/>
            <a:ext cx="4673600" cy="23385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46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UV-resistant ties on rungs; no sharp edges under the tie.</a:t>
            </a:r>
          </a:p>
        </p:txBody>
      </p:sp>
      <p:sp>
        <p:nvSpPr>
          <p:cNvPr id="29" name="Oval 28"/>
          <p:cNvSpPr/>
          <p:nvPr/>
        </p:nvSpPr>
        <p:spPr>
          <a:xfrm>
            <a:off x="6473190" y="3639655"/>
            <a:ext cx="48260" cy="48260"/>
          </a:xfrm>
          <a:prstGeom prst="ellipse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6700" y="3550879"/>
            <a:ext cx="4673600" cy="23385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46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Vertical risers: support at ≈ 450 mm on rungs.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755109"/>
            <a:ext cx="10820400" cy="461366"/>
          </a:xfrm>
          <a:prstGeom prst="roundRect">
            <a:avLst>
              <a:gd name="adj" fmla="val 16516"/>
            </a:avLst>
          </a:prstGeom>
          <a:solidFill>
            <a:srgbClr val="EEF3FA"/>
          </a:solidFill>
          <a:ln w="10160">
            <a:solidFill>
              <a:srgbClr val="C7D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4755109"/>
            <a:ext cx="43180" cy="461366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9000" y="4869185"/>
            <a:ext cx="10452100" cy="2149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375F9B"/>
                </a:solidFill>
                <a:latin typeface="Segoe UI Semibold"/>
                <a:ea typeface="Segoe UI Semibold"/>
                <a:cs typeface="Segoe UI Semibold"/>
              </a:rPr>
              <a:t>Wrong bundling of single-core cables is a design error, not an installation error — it is decided on the drawing.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5800" y="6324600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5800" y="6369975"/>
            <a:ext cx="664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Segoe UI Semibold"/>
                <a:ea typeface="Segoe UI Semibold"/>
                <a:cs typeface="Segoe UI Semibold"/>
              </a:rPr>
              <a:t>Cable Tray Routing &amp; Raceway Engineering · Industrial E&amp;I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82200" y="6369975"/>
            <a:ext cx="156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Consolas"/>
                <a:ea typeface="Consolas"/>
                <a:cs typeface="Consolas"/>
              </a:rPr>
              <a:t>13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00" y="330200"/>
            <a:ext cx="1270000" cy="245533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685800" y="533400"/>
            <a:ext cx="203200" cy="38100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409509"/>
            <a:ext cx="7150100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ENVIRONMENTAL &amp; THERMAL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4680"/>
            <a:ext cx="93599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1B2D"/>
                </a:solidFill>
                <a:latin typeface="Segoe UI Black"/>
                <a:ea typeface="Segoe UI Black"/>
                <a:cs typeface="Segoe UI Black"/>
              </a:rPr>
              <a:t>A cover buys weather protection and pays for it in</a:t>
            </a:r>
          </a:p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1B2D"/>
                </a:solidFill>
                <a:latin typeface="Segoe UI Black"/>
                <a:ea typeface="Segoe UI Black"/>
                <a:cs typeface="Segoe UI Black"/>
              </a:rPr>
              <a:t>ampacity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47144"/>
            <a:ext cx="8166100" cy="2501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The derating factor multiplies the cable’s tabulated current. Never specify a cover without telling the cable sizing calculation.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40890"/>
            <a:ext cx="4978400" cy="366395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9000" y="2163298"/>
            <a:ext cx="2578100" cy="168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93A2B4"/>
                </a:solidFill>
                <a:latin typeface="Segoe UI"/>
                <a:ea typeface="Segoe UI"/>
                <a:cs typeface="Segoe UI"/>
              </a:rPr>
              <a:t>×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73200" y="4968240"/>
            <a:ext cx="3911600" cy="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89000" y="4890780"/>
            <a:ext cx="520700" cy="149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857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73200" y="4395152"/>
            <a:ext cx="3911600" cy="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89000" y="4317693"/>
            <a:ext cx="520700" cy="149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857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0.275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73200" y="3822065"/>
            <a:ext cx="3911600" cy="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89000" y="3744605"/>
            <a:ext cx="520700" cy="149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857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0.55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73200" y="3248978"/>
            <a:ext cx="3911600" cy="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89000" y="3171518"/>
            <a:ext cx="520700" cy="149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857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0.825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73200" y="2675890"/>
            <a:ext cx="3911600" cy="0"/>
          </a:xfrm>
          <a:prstGeom prst="line">
            <a:avLst/>
          </a:prstGeom>
          <a:ln w="7620">
            <a:solidFill>
              <a:srgbClr val="E9E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9000" y="2598430"/>
            <a:ext cx="520700" cy="149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857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1.1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78000" y="2884285"/>
            <a:ext cx="596900" cy="2083955"/>
          </a:xfrm>
          <a:prstGeom prst="roundRect">
            <a:avLst>
              <a:gd name="adj" fmla="val 6382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01800" y="2588833"/>
            <a:ext cx="787400" cy="303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742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1.00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5600" y="5027910"/>
            <a:ext cx="939800" cy="3213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06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33465E"/>
                </a:solidFill>
                <a:latin typeface="Segoe UI Semibold"/>
                <a:ea typeface="Segoe UI Semibold"/>
                <a:cs typeface="Segoe UI Semibold"/>
              </a:rPr>
              <a:t>Open</a:t>
            </a:r>
          </a:p>
          <a:p>
            <a:pPr algn="ctr">
              <a:lnSpc>
                <a:spcPts val="106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33465E"/>
                </a:solidFill>
                <a:latin typeface="Segoe UI Semibold"/>
                <a:ea typeface="Segoe UI Semibold"/>
                <a:cs typeface="Segoe UI Semibold"/>
              </a:rPr>
              <a:t>ladder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5600" y="5333197"/>
            <a:ext cx="939800" cy="1612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93A2B4"/>
                </a:solidFill>
                <a:latin typeface="Segoe UI"/>
                <a:ea typeface="Segoe UI"/>
                <a:cs typeface="Segoe UI"/>
              </a:rPr>
              <a:t>reference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79700" y="2988483"/>
            <a:ext cx="596900" cy="1979757"/>
          </a:xfrm>
          <a:prstGeom prst="roundRect">
            <a:avLst>
              <a:gd name="adj" fmla="val 6382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03500" y="2693030"/>
            <a:ext cx="787400" cy="303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742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0.95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7300" y="5027910"/>
            <a:ext cx="939800" cy="3213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06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33465E"/>
                </a:solidFill>
                <a:latin typeface="Segoe UI Semibold"/>
                <a:ea typeface="Segoe UI Semibold"/>
                <a:cs typeface="Segoe UI Semibold"/>
              </a:rPr>
              <a:t>Ventilated</a:t>
            </a:r>
          </a:p>
          <a:p>
            <a:pPr algn="ctr">
              <a:lnSpc>
                <a:spcPts val="106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33465E"/>
                </a:solidFill>
                <a:latin typeface="Segoe UI Semibold"/>
                <a:ea typeface="Segoe UI Semibold"/>
                <a:cs typeface="Segoe UI Semibold"/>
              </a:rPr>
              <a:t>cover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7300" y="5333197"/>
            <a:ext cx="939800" cy="1612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93A2B4"/>
                </a:solidFill>
                <a:latin typeface="Segoe UI"/>
                <a:ea typeface="Segoe UI"/>
                <a:cs typeface="Segoe UI"/>
              </a:rPr>
              <a:t>practical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81400" y="3196879"/>
            <a:ext cx="596900" cy="1771361"/>
          </a:xfrm>
          <a:prstGeom prst="roundRect">
            <a:avLst>
              <a:gd name="adj" fmla="val 6382"/>
            </a:avLst>
          </a:prstGeom>
          <a:solidFill>
            <a:srgbClr val="C0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5200" y="2901426"/>
            <a:ext cx="787400" cy="303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742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172B"/>
                </a:solidFill>
                <a:latin typeface="Consolas"/>
                <a:ea typeface="Consolas"/>
                <a:cs typeface="Consolas"/>
              </a:rPr>
              <a:t>0.85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5027910"/>
            <a:ext cx="939800" cy="3213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06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33465E"/>
                </a:solidFill>
                <a:latin typeface="Segoe UI Semibold"/>
                <a:ea typeface="Segoe UI Semibold"/>
                <a:cs typeface="Segoe UI Semibold"/>
              </a:rPr>
              <a:t>Solid</a:t>
            </a:r>
          </a:p>
          <a:p>
            <a:pPr algn="ctr">
              <a:lnSpc>
                <a:spcPts val="106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33465E"/>
                </a:solidFill>
                <a:latin typeface="Segoe UI Semibold"/>
                <a:ea typeface="Segoe UI Semibold"/>
                <a:cs typeface="Segoe UI Semibold"/>
              </a:rPr>
              <a:t>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5333197"/>
            <a:ext cx="939800" cy="1612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93A2B4"/>
                </a:solidFill>
                <a:latin typeface="Segoe UI"/>
                <a:ea typeface="Segoe UI"/>
                <a:cs typeface="Segoe UI"/>
              </a:rPr>
              <a:t>worst case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3100" y="3051002"/>
            <a:ext cx="596900" cy="1917238"/>
          </a:xfrm>
          <a:prstGeom prst="roundRect">
            <a:avLst>
              <a:gd name="adj" fmla="val 6382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06900" y="2755549"/>
            <a:ext cx="787400" cy="3037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742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98A12"/>
                </a:solidFill>
                <a:latin typeface="Consolas"/>
                <a:ea typeface="Consolas"/>
                <a:cs typeface="Consolas"/>
              </a:rPr>
              <a:t>0.92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30700" y="5027910"/>
            <a:ext cx="939800" cy="3213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06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33465E"/>
                </a:solidFill>
                <a:latin typeface="Segoe UI Semibold"/>
                <a:ea typeface="Segoe UI Semibold"/>
                <a:cs typeface="Segoe UI Semibold"/>
              </a:rPr>
              <a:t>Solid +</a:t>
            </a:r>
          </a:p>
          <a:p>
            <a:pPr algn="ctr">
              <a:lnSpc>
                <a:spcPts val="106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33465E"/>
                </a:solidFill>
                <a:latin typeface="Segoe UI Semibold"/>
                <a:ea typeface="Segoe UI Semibold"/>
                <a:cs typeface="Segoe UI Semibold"/>
              </a:rPr>
              <a:t>standoff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30700" y="5333197"/>
            <a:ext cx="939800" cy="1612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93A2B4"/>
                </a:solidFill>
                <a:latin typeface="Segoe UI"/>
                <a:ea typeface="Segoe UI"/>
                <a:cs typeface="Segoe UI"/>
              </a:rPr>
              <a:t>recovered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473200" y="4968240"/>
            <a:ext cx="3911600" cy="0"/>
          </a:xfrm>
          <a:prstGeom prst="line">
            <a:avLst/>
          </a:prstGeom>
          <a:ln w="11430">
            <a:solidFill>
              <a:srgbClr val="C9D5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969000" y="2427605"/>
            <a:ext cx="5537200" cy="828040"/>
          </a:xfrm>
          <a:prstGeom prst="roundRect">
            <a:avLst>
              <a:gd name="adj" fmla="val 10736"/>
            </a:avLst>
          </a:prstGeom>
          <a:solidFill>
            <a:srgbClr val="F5F8FC"/>
          </a:solidFill>
          <a:ln w="889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46800" y="2511283"/>
            <a:ext cx="5219700" cy="2430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93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Peaked / flanged cover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6800" y="2715966"/>
            <a:ext cx="5219700" cy="2108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Pitched profile sheds rain, snow and process deposits on outdoor racks and pipe bridges.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6800" y="3012252"/>
            <a:ext cx="5219700" cy="1542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4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OUTDOOR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69000" y="3458845"/>
            <a:ext cx="5537200" cy="828040"/>
          </a:xfrm>
          <a:prstGeom prst="roundRect">
            <a:avLst>
              <a:gd name="adj" fmla="val 10736"/>
            </a:avLst>
          </a:prstGeom>
          <a:solidFill>
            <a:srgbClr val="F5F8FC"/>
          </a:solidFill>
          <a:ln w="889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46800" y="3542523"/>
            <a:ext cx="5219700" cy="2430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93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Solid where things fall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46800" y="3747206"/>
            <a:ext cx="5219700" cy="2108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Mandatory within 1.8 m of platforms, stairs and crane corridors — falling tools and slag.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46800" y="4043492"/>
            <a:ext cx="5219700" cy="1542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4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PROTECTION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69000" y="4490085"/>
            <a:ext cx="5537200" cy="828040"/>
          </a:xfrm>
          <a:prstGeom prst="roundRect">
            <a:avLst>
              <a:gd name="adj" fmla="val 10736"/>
            </a:avLst>
          </a:prstGeom>
          <a:solidFill>
            <a:srgbClr val="F5F8FC"/>
          </a:solidFill>
          <a:ln w="889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46800" y="4573763"/>
            <a:ext cx="5219700" cy="2430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93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Raised standoff spacers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6800" y="4778446"/>
            <a:ext cx="5219700" cy="2108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25–50 mm brackets restore convective airflow while still blocking sunlight.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46800" y="5074732"/>
            <a:ext cx="5219700" cy="1542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4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RECOVERY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796214"/>
            <a:ext cx="10858500" cy="187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93A2B4"/>
                </a:solidFill>
                <a:latin typeface="Segoe UI"/>
                <a:ea typeface="Segoe UI"/>
                <a:cs typeface="Segoe UI"/>
              </a:rPr>
              <a:t>Values are indicative engineering practice (≈0.85–0.90 for solid covers); confirm against the cable manufacturer’s derating table and IEEE 525 guidance.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85800" y="6324600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85800" y="6369975"/>
            <a:ext cx="664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Segoe UI Semibold"/>
                <a:ea typeface="Segoe UI Semibold"/>
                <a:cs typeface="Segoe UI Semibold"/>
              </a:rPr>
              <a:t>Cable Tray Routing &amp; Raceway Engineering · Industrial E&amp;I Design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82200" y="6369975"/>
            <a:ext cx="156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Consolas"/>
                <a:ea typeface="Consolas"/>
                <a:cs typeface="Consolas"/>
              </a:rPr>
              <a:t>14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77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55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11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89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6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44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22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00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778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55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11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89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667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44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022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378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556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33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911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89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267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445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622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800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978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156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334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11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689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867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045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223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578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756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934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112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289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467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645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823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001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178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356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712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890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067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245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23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779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956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134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312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490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845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1023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1201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1379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1557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1912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2090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0" y="177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0" y="355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0" y="533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0" y="711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0" y="889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0" y="1066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0" y="1244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0" y="1422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0" y="1600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0" y="1778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0" y="1955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0" y="2133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0" y="2311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0" y="2667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0" y="2844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0" y="3022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0" y="3200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0" y="3378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0" y="3556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0" y="3733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0" y="3911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0" y="4089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0" y="4445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0" y="4622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0" y="4800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0" y="4978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0" y="5156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0" y="5511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0" y="5689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0" y="5867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0" y="6045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0" y="6223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0" y="6578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0" y="6756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1" name="Picture 110" descr="al_watermark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0" y="3302000"/>
            <a:ext cx="3302000" cy="3302000"/>
          </a:xfrm>
          <a:prstGeom prst="rect">
            <a:avLst/>
          </a:prstGeom>
          <a:effectLst/>
        </p:spPr>
      </p:pic>
      <p:pic>
        <p:nvPicPr>
          <p:cNvPr id="112" name="Picture 111" descr="a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58800"/>
            <a:ext cx="1295400" cy="250444"/>
          </a:xfrm>
          <a:prstGeom prst="rect">
            <a:avLst/>
          </a:prstGeom>
          <a:effectLst/>
        </p:spPr>
      </p:pic>
      <p:sp>
        <p:nvSpPr>
          <p:cNvPr id="113" name="TextBox 112"/>
          <p:cNvSpPr txBox="1"/>
          <p:nvPr/>
        </p:nvSpPr>
        <p:spPr>
          <a:xfrm>
            <a:off x="685800" y="1595933"/>
            <a:ext cx="1816100" cy="14488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308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2F6EA8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36600" y="2887929"/>
            <a:ext cx="6642100" cy="692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Segoe UI Black"/>
                <a:ea typeface="Segoe UI Black"/>
                <a:cs typeface="Segoe UI Black"/>
              </a:rPr>
              <a:t>Structural &amp; installation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736600" y="3581400"/>
            <a:ext cx="584200" cy="38100"/>
          </a:xfrm>
          <a:prstGeom prst="roundRect">
            <a:avLst>
              <a:gd name="adj" fmla="val 50000"/>
            </a:avLst>
          </a:prstGeom>
          <a:solidFill>
            <a:srgbClr val="C0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36600" y="3725286"/>
            <a:ext cx="5880100" cy="266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9CADD"/>
                </a:solidFill>
                <a:latin typeface="Segoe UI"/>
                <a:ea typeface="Segoe UI"/>
                <a:cs typeface="Segoe UI"/>
              </a:rPr>
              <a:t>NEMA load classes, support spacing, clearances, bend radii and thermal expansion.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975600" y="2382175"/>
            <a:ext cx="3340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5E86AE"/>
                </a:solidFill>
                <a:latin typeface="Segoe UI"/>
                <a:ea typeface="Segoe UI"/>
                <a:cs typeface="Segoe UI"/>
              </a:rPr>
              <a:t>IN THIS MODULE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7975600" y="2590800"/>
            <a:ext cx="762000" cy="0"/>
          </a:xfrm>
          <a:prstGeom prst="line">
            <a:avLst/>
          </a:prstGeom>
          <a:ln w="10160">
            <a:solidFill>
              <a:srgbClr val="2F5D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Oval 118"/>
          <p:cNvSpPr/>
          <p:nvPr/>
        </p:nvSpPr>
        <p:spPr>
          <a:xfrm>
            <a:off x="7975600" y="2794000"/>
            <a:ext cx="50800" cy="50800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153400" y="2696373"/>
            <a:ext cx="3390900" cy="3949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NEMA VE-1 load classes and what the letters actually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mean.</a:t>
            </a:r>
          </a:p>
        </p:txBody>
      </p:sp>
      <p:sp>
        <p:nvSpPr>
          <p:cNvPr id="121" name="Oval 120"/>
          <p:cNvSpPr/>
          <p:nvPr/>
        </p:nvSpPr>
        <p:spPr>
          <a:xfrm>
            <a:off x="7975600" y="3281680"/>
            <a:ext cx="50800" cy="50800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153400" y="3184053"/>
            <a:ext cx="3390900" cy="2273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Support and splice placement, including the 0.25 L rule.</a:t>
            </a:r>
          </a:p>
        </p:txBody>
      </p:sp>
      <p:sp>
        <p:nvSpPr>
          <p:cNvPr id="123" name="Oval 122"/>
          <p:cNvSpPr/>
          <p:nvPr/>
        </p:nvSpPr>
        <p:spPr>
          <a:xfrm>
            <a:off x="7975600" y="3601720"/>
            <a:ext cx="50800" cy="50800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153400" y="3504093"/>
            <a:ext cx="3390900" cy="2273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Clearances that make the run buildable.</a:t>
            </a:r>
          </a:p>
        </p:txBody>
      </p:sp>
      <p:sp>
        <p:nvSpPr>
          <p:cNvPr id="125" name="Oval 124"/>
          <p:cNvSpPr/>
          <p:nvPr/>
        </p:nvSpPr>
        <p:spPr>
          <a:xfrm>
            <a:off x="7975600" y="3921760"/>
            <a:ext cx="50800" cy="50800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153400" y="3824133"/>
            <a:ext cx="3390900" cy="2273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Bend radius and thermal expansion.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685800" y="5486400"/>
            <a:ext cx="10820400" cy="0"/>
          </a:xfrm>
          <a:prstGeom prst="line">
            <a:avLst/>
          </a:prstGeom>
          <a:ln w="10160">
            <a:solidFill>
              <a:srgbClr val="224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685800" y="5653776"/>
            <a:ext cx="368300" cy="200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3A5C7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16000" y="5637743"/>
            <a:ext cx="2235200" cy="2196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4E7096"/>
                </a:solidFill>
                <a:latin typeface="Segoe UI"/>
                <a:ea typeface="Segoe UI"/>
                <a:cs typeface="Segoe UI"/>
              </a:rPr>
              <a:t>Foundations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390900" y="5653776"/>
            <a:ext cx="368300" cy="200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3A5C7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721100" y="5637743"/>
            <a:ext cx="2235200" cy="2196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4E7096"/>
                </a:solidFill>
                <a:latin typeface="Segoe UI"/>
                <a:ea typeface="Segoe UI"/>
                <a:cs typeface="Segoe UI"/>
              </a:rPr>
              <a:t>Electrical sizing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096000" y="5653776"/>
            <a:ext cx="368300" cy="200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6FA8DC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426200" y="5637743"/>
            <a:ext cx="2235200" cy="2196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Structural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096000" y="5467350"/>
            <a:ext cx="2374900" cy="38100"/>
          </a:xfrm>
          <a:prstGeom prst="roundRect">
            <a:avLst>
              <a:gd name="adj" fmla="val 50000"/>
            </a:avLst>
          </a:prstGeom>
          <a:solidFill>
            <a:srgbClr val="C0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801100" y="5653776"/>
            <a:ext cx="368300" cy="200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3A5C7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131300" y="5637743"/>
            <a:ext cx="2235200" cy="2196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4E7096"/>
                </a:solidFill>
                <a:latin typeface="Segoe UI"/>
                <a:ea typeface="Segoe UI"/>
                <a:cs typeface="Segoe UI"/>
              </a:rPr>
              <a:t>Safety &amp; QA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5800" y="6265875"/>
            <a:ext cx="5118100" cy="186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72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86AE"/>
                </a:solidFill>
                <a:latin typeface="Consolas"/>
                <a:ea typeface="Consolas"/>
                <a:cs typeface="Consolas"/>
              </a:rPr>
              <a:t>15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00" y="330200"/>
            <a:ext cx="1270000" cy="245533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685800" y="533400"/>
            <a:ext cx="203200" cy="38100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409509"/>
            <a:ext cx="7150100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STRUCTURAL ENGINEERING · NEMA VE-1 / VE-2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4680"/>
            <a:ext cx="9359900" cy="5657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1B2D"/>
                </a:solidFill>
                <a:latin typeface="Segoe UI Black"/>
                <a:ea typeface="Segoe UI Black"/>
                <a:cs typeface="Segoe UI Black"/>
              </a:rPr>
              <a:t>The load class is a span and a weight, read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52809"/>
            <a:ext cx="8928100" cy="2501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Class designation = support span in feet + working load designation. Tested as a simple span with a 1.5 safety factor.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75777"/>
            <a:ext cx="2184400" cy="1320800"/>
          </a:xfrm>
          <a:prstGeom prst="roundRect">
            <a:avLst>
              <a:gd name="adj" fmla="val 7692"/>
            </a:avLst>
          </a:prstGeom>
          <a:solidFill>
            <a:srgbClr val="0A1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9000" y="2032368"/>
            <a:ext cx="1816100" cy="537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82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12C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" y="2550386"/>
            <a:ext cx="1816100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C9D8EA"/>
                </a:solidFill>
                <a:latin typeface="Segoe UI Semibold"/>
                <a:ea typeface="Segoe UI Semibold"/>
                <a:cs typeface="Segoe UI Semibold"/>
              </a:rPr>
              <a:t>12 ft (3.66 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" y="2728186"/>
            <a:ext cx="1816100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9FB6D0"/>
                </a:solidFill>
                <a:latin typeface="Segoe UI"/>
                <a:ea typeface="Segoe UI"/>
                <a:cs typeface="Segoe UI"/>
              </a:rPr>
              <a:t>100 lb/ft (149 kg/m)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2911472"/>
            <a:ext cx="18161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7C94B2"/>
                </a:solidFill>
                <a:latin typeface="Segoe UI"/>
                <a:ea typeface="Segoe UI"/>
                <a:cs typeface="Segoe UI"/>
              </a:rPr>
              <a:t>Class C = 100 lb/ft working 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8000" y="1975777"/>
            <a:ext cx="2184400" cy="1320800"/>
          </a:xfrm>
          <a:prstGeom prst="roundRect">
            <a:avLst>
              <a:gd name="adj" fmla="val 7692"/>
            </a:avLst>
          </a:prstGeom>
          <a:solidFill>
            <a:srgbClr val="F5F8FC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1200" y="2032368"/>
            <a:ext cx="1816100" cy="537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82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20C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1200" y="2550386"/>
            <a:ext cx="1816100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0F1B2D"/>
                </a:solidFill>
                <a:latin typeface="Segoe UI Semibold"/>
                <a:ea typeface="Segoe UI Semibold"/>
                <a:cs typeface="Segoe UI Semibold"/>
              </a:rPr>
              <a:t>20 ft (6.09 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1200" y="2728186"/>
            <a:ext cx="1816100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4768C"/>
                </a:solidFill>
                <a:latin typeface="Segoe UI"/>
                <a:ea typeface="Segoe UI"/>
                <a:cs typeface="Segoe UI"/>
              </a:rPr>
              <a:t>100 lb/ft (149 kg/m)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1200" y="2911472"/>
            <a:ext cx="1816100" cy="264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93A2B4"/>
                </a:solidFill>
                <a:latin typeface="Segoe UI"/>
                <a:ea typeface="Segoe UI"/>
                <a:cs typeface="Segoe UI"/>
              </a:rPr>
              <a:t>Same load over a longer span → heavier</a:t>
            </a:r>
          </a:p>
          <a:p>
            <a:pPr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93A2B4"/>
                </a:solidFill>
                <a:latin typeface="Segoe UI"/>
                <a:ea typeface="Segoe UI"/>
                <a:cs typeface="Segoe UI"/>
              </a:rPr>
              <a:t>section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10200" y="1975777"/>
            <a:ext cx="2184400" cy="1320800"/>
          </a:xfrm>
          <a:prstGeom prst="roundRect">
            <a:avLst>
              <a:gd name="adj" fmla="val 7692"/>
            </a:avLst>
          </a:prstGeom>
          <a:solidFill>
            <a:srgbClr val="F5F8FC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13400" y="2032368"/>
            <a:ext cx="1816100" cy="537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82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A /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13400" y="2550386"/>
            <a:ext cx="1816100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0F1B2D"/>
                </a:solidFill>
                <a:latin typeface="Segoe UI Semibold"/>
                <a:ea typeface="Segoe UI Semibold"/>
                <a:cs typeface="Segoe UI Semibold"/>
              </a:rPr>
              <a:t>8–20 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3400" y="2728186"/>
            <a:ext cx="1816100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4768C"/>
                </a:solidFill>
                <a:latin typeface="Segoe UI"/>
                <a:ea typeface="Segoe UI"/>
                <a:cs typeface="Segoe UI"/>
              </a:rPr>
              <a:t>50 / 75 lb/ft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3400" y="2911472"/>
            <a:ext cx="18161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93A2B4"/>
                </a:solidFill>
                <a:latin typeface="Segoe UI"/>
                <a:ea typeface="Segoe UI"/>
                <a:cs typeface="Segoe UI"/>
              </a:rPr>
              <a:t>A = 50 lb/ft, B = 75 lb/ft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474377"/>
            <a:ext cx="3488267" cy="1292860"/>
          </a:xfrm>
          <a:prstGeom prst="roundRect">
            <a:avLst>
              <a:gd name="adj" fmla="val 7858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3474377"/>
            <a:ext cx="38100" cy="1292860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3600" y="3585751"/>
            <a:ext cx="3170767" cy="1589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11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NEMA VE-1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600" y="3735012"/>
            <a:ext cx="3170767" cy="2273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1.5 safety factor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3600" y="3976068"/>
            <a:ext cx="3170767" cy="3594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A 100 lb/ft tray is proven at 150 lb/ft. Newer editions mark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rated load and span directly instead of the letter code.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51867" y="3474377"/>
            <a:ext cx="3488267" cy="1292860"/>
          </a:xfrm>
          <a:prstGeom prst="roundRect">
            <a:avLst>
              <a:gd name="adj" fmla="val 7858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51867" y="3474377"/>
            <a:ext cx="38100" cy="1292860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9667" y="3585751"/>
            <a:ext cx="3170767" cy="1589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11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NEMA VE-2 §4.3.1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9667" y="3735012"/>
            <a:ext cx="3170767" cy="2273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Splice at the quarter point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9667" y="3976068"/>
            <a:ext cx="3170767" cy="5118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Keep joints between the support and the quarter point; never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at mid-span or directly over a support. One splice between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supports.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7933" y="3474377"/>
            <a:ext cx="3488267" cy="1292860"/>
          </a:xfrm>
          <a:prstGeom prst="roundRect">
            <a:avLst>
              <a:gd name="adj" fmla="val 7858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17933" y="3474377"/>
            <a:ext cx="38100" cy="1292860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5733" y="3585751"/>
            <a:ext cx="3170767" cy="1589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11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NEMA VE-2 §4.4.1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5733" y="3735012"/>
            <a:ext cx="3170767" cy="2273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Support the fittings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5733" y="3976068"/>
            <a:ext cx="3170767" cy="3594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Horizontal elbows, tees, crosses and reducers supported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within 600 mm (2 ft) of each fitting extremity.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945037"/>
            <a:ext cx="10820400" cy="461366"/>
          </a:xfrm>
          <a:prstGeom prst="roundRect">
            <a:avLst>
              <a:gd name="adj" fmla="val 16516"/>
            </a:avLst>
          </a:prstGeom>
          <a:solidFill>
            <a:srgbClr val="FDF4E5"/>
          </a:solidFill>
          <a:ln w="10160">
            <a:solidFill>
              <a:srgbClr val="EBD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85800" y="4945037"/>
            <a:ext cx="43180" cy="461366"/>
          </a:xfrm>
          <a:prstGeom prst="roundRect">
            <a:avLst>
              <a:gd name="adj" fmla="val 50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9000" y="5059114"/>
            <a:ext cx="10452100" cy="2149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6B4700"/>
                </a:solidFill>
                <a:latin typeface="Segoe UI Semibold"/>
                <a:ea typeface="Segoe UI Semibold"/>
                <a:cs typeface="Segoe UI Semibold"/>
              </a:rPr>
              <a:t>Project spec may add a concentrated load case (commonly 200 lb / 90 kg at mid-span) plus wind and ice — that is a specification requirement, not a NEMA class.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85800" y="6324600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5800" y="6369975"/>
            <a:ext cx="664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Segoe UI Semibold"/>
                <a:ea typeface="Segoe UI Semibold"/>
                <a:cs typeface="Segoe UI Semibold"/>
              </a:rPr>
              <a:t>Cable Tray Routing &amp; Raceway Engineering · Industrial E&amp;I Design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82200" y="6369975"/>
            <a:ext cx="156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Consolas"/>
                <a:ea typeface="Consolas"/>
                <a:cs typeface="Consolas"/>
              </a:rPr>
              <a:t>16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00" y="330200"/>
            <a:ext cx="1270000" cy="245533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685800" y="533400"/>
            <a:ext cx="203200" cy="38100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409509"/>
            <a:ext cx="7150100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INSTALLABILITY &amp; ERGONOMICS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4680"/>
            <a:ext cx="9359900" cy="5657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1B2D"/>
                </a:solidFill>
                <a:latin typeface="Segoe UI Black"/>
                <a:ea typeface="Segoe UI Black"/>
                <a:cs typeface="Segoe UI Black"/>
              </a:rPr>
              <a:t>If it cannot be built, it is not designed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52809"/>
            <a:ext cx="8928100" cy="2501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Three clearances decide whether the installer can pull cable and whether the operator can walk underneath.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76755"/>
            <a:ext cx="3471333" cy="2424735"/>
          </a:xfrm>
          <a:prstGeom prst="roundRect">
            <a:avLst>
              <a:gd name="adj" fmla="val 4190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9000" y="2179955"/>
            <a:ext cx="584200" cy="584200"/>
          </a:xfrm>
          <a:prstGeom prst="roundRect">
            <a:avLst>
              <a:gd name="adj" fmla="val 13043"/>
            </a:avLst>
          </a:prstGeom>
          <a:solidFill>
            <a:srgbClr val="F5F8FC"/>
          </a:solidFill>
          <a:ln w="762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181100" y="2306955"/>
            <a:ext cx="0" cy="216916"/>
          </a:xfrm>
          <a:prstGeom prst="line">
            <a:avLst/>
          </a:prstGeom>
          <a:ln w="13970">
            <a:solidFill>
              <a:srgbClr val="375F9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60196" y="2523871"/>
            <a:ext cx="241808" cy="0"/>
          </a:xfrm>
          <a:prstGeom prst="line">
            <a:avLst/>
          </a:prstGeom>
          <a:ln w="13970">
            <a:solidFill>
              <a:srgbClr val="375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1100" y="2523871"/>
            <a:ext cx="51816" cy="103632"/>
          </a:xfrm>
          <a:prstGeom prst="line">
            <a:avLst/>
          </a:prstGeom>
          <a:ln w="13970">
            <a:solidFill>
              <a:srgbClr val="375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153160" y="2271395"/>
            <a:ext cx="55880" cy="55880"/>
          </a:xfrm>
          <a:prstGeom prst="ellipse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5600" y="2139112"/>
            <a:ext cx="2569633" cy="514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48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300 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5600" y="2572598"/>
            <a:ext cx="2569633" cy="2196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TOP HEADROOM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" y="3144200"/>
            <a:ext cx="3103033" cy="436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Clear above the side rail for pulling rollers and</a:t>
            </a:r>
          </a:p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cable guides.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0333" y="1976755"/>
            <a:ext cx="3471333" cy="2424735"/>
          </a:xfrm>
          <a:prstGeom prst="roundRect">
            <a:avLst>
              <a:gd name="adj" fmla="val 4190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63533" y="2179955"/>
            <a:ext cx="584200" cy="584200"/>
          </a:xfrm>
          <a:prstGeom prst="roundRect">
            <a:avLst>
              <a:gd name="adj" fmla="val 13043"/>
            </a:avLst>
          </a:prstGeom>
          <a:solidFill>
            <a:srgbClr val="F5F8FC"/>
          </a:solidFill>
          <a:ln w="762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741333" y="2332355"/>
            <a:ext cx="0" cy="279400"/>
          </a:xfrm>
          <a:prstGeom prst="line">
            <a:avLst/>
          </a:prstGeom>
          <a:ln w="13970">
            <a:solidFill>
              <a:srgbClr val="375F9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741333" y="2472055"/>
            <a:ext cx="228600" cy="0"/>
          </a:xfrm>
          <a:prstGeom prst="line">
            <a:avLst/>
          </a:prstGeom>
          <a:ln w="13970">
            <a:solidFill>
              <a:srgbClr val="375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741333" y="2408555"/>
            <a:ext cx="0" cy="127000"/>
          </a:xfrm>
          <a:prstGeom prst="line">
            <a:avLst/>
          </a:prstGeom>
          <a:ln w="13970">
            <a:solidFill>
              <a:srgbClr val="375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969933" y="2408555"/>
            <a:ext cx="0" cy="127000"/>
          </a:xfrm>
          <a:prstGeom prst="line">
            <a:avLst/>
          </a:prstGeom>
          <a:ln w="13970">
            <a:solidFill>
              <a:srgbClr val="375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941993" y="2444115"/>
            <a:ext cx="55880" cy="55880"/>
          </a:xfrm>
          <a:prstGeom prst="ellipse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0133" y="2139112"/>
            <a:ext cx="2569633" cy="514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48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600 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0133" y="2572598"/>
            <a:ext cx="2569633" cy="2196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SIDE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3533" y="3144200"/>
            <a:ext cx="3103033" cy="436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Between the tray edge and wall or column, for</a:t>
            </a:r>
          </a:p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hands and tools.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4867" y="1976755"/>
            <a:ext cx="3471333" cy="2424735"/>
          </a:xfrm>
          <a:prstGeom prst="roundRect">
            <a:avLst>
              <a:gd name="adj" fmla="val 4190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38067" y="2179955"/>
            <a:ext cx="584200" cy="584200"/>
          </a:xfrm>
          <a:prstGeom prst="roundRect">
            <a:avLst>
              <a:gd name="adj" fmla="val 13043"/>
            </a:avLst>
          </a:prstGeom>
          <a:solidFill>
            <a:srgbClr val="F5F8FC"/>
          </a:solidFill>
          <a:ln w="762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403167" y="2332355"/>
            <a:ext cx="0" cy="279400"/>
          </a:xfrm>
          <a:prstGeom prst="line">
            <a:avLst/>
          </a:prstGeom>
          <a:ln w="19050">
            <a:solidFill>
              <a:srgbClr val="334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03167" y="2332355"/>
            <a:ext cx="266700" cy="0"/>
          </a:xfrm>
          <a:prstGeom prst="line">
            <a:avLst/>
          </a:prstGeom>
          <a:ln w="19050">
            <a:solidFill>
              <a:srgbClr val="334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03167" y="2611755"/>
            <a:ext cx="266700" cy="0"/>
          </a:xfrm>
          <a:prstGeom prst="line">
            <a:avLst/>
          </a:prstGeom>
          <a:ln w="10160">
            <a:solidFill>
              <a:srgbClr val="B9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481653" y="2436495"/>
            <a:ext cx="114300" cy="114300"/>
          </a:xfrm>
          <a:prstGeom prst="ellipse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74667" y="2139112"/>
            <a:ext cx="2569633" cy="514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48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2.1 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4667" y="2572598"/>
            <a:ext cx="2569633" cy="2196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WALKWAY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8067" y="3144200"/>
            <a:ext cx="3103033" cy="622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Clear below the lowest tray. OSHA</a:t>
            </a:r>
          </a:p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walking-working surfaces baseline is 2.03 m (6</a:t>
            </a:r>
          </a:p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ft 8 in).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625497"/>
            <a:ext cx="10858500" cy="168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93A2B4"/>
                </a:solidFill>
                <a:latin typeface="Segoe UI"/>
                <a:ea typeface="Segoe UI"/>
                <a:cs typeface="Segoe UI"/>
              </a:rPr>
              <a:t>ALSO ON THE DRAWING</a:t>
            </a:r>
          </a:p>
        </p:txBody>
      </p:sp>
      <p:sp>
        <p:nvSpPr>
          <p:cNvPr id="36" name="Oval 35"/>
          <p:cNvSpPr/>
          <p:nvPr/>
        </p:nvSpPr>
        <p:spPr>
          <a:xfrm>
            <a:off x="694690" y="4942510"/>
            <a:ext cx="48260" cy="48260"/>
          </a:xfrm>
          <a:prstGeom prst="ellipse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8200" y="4852594"/>
            <a:ext cx="10706100" cy="2362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Align overhead trays with switchgear top-entry plates — an S-bend at the panel is a pulling problem and an inspection problem.</a:t>
            </a:r>
          </a:p>
        </p:txBody>
      </p:sp>
      <p:sp>
        <p:nvSpPr>
          <p:cNvPr id="38" name="Oval 37"/>
          <p:cNvSpPr/>
          <p:nvPr/>
        </p:nvSpPr>
        <p:spPr>
          <a:xfrm>
            <a:off x="694690" y="5254930"/>
            <a:ext cx="48260" cy="48260"/>
          </a:xfrm>
          <a:prstGeom prst="ellipse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8200" y="5165014"/>
            <a:ext cx="10706100" cy="2362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Keep tray out of crane lift corridors and away from relief-valve discharge paths.</a:t>
            </a:r>
          </a:p>
        </p:txBody>
      </p:sp>
      <p:sp>
        <p:nvSpPr>
          <p:cNvPr id="40" name="Oval 39"/>
          <p:cNvSpPr/>
          <p:nvPr/>
        </p:nvSpPr>
        <p:spPr>
          <a:xfrm>
            <a:off x="694690" y="5567350"/>
            <a:ext cx="48260" cy="48260"/>
          </a:xfrm>
          <a:prstGeom prst="ellipse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8200" y="5477434"/>
            <a:ext cx="10706100" cy="2362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Reserve the maintenance zone on the drawing, not in the installer’s imagination.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85800" y="6324600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85800" y="6369975"/>
            <a:ext cx="664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Segoe UI Semibold"/>
                <a:ea typeface="Segoe UI Semibold"/>
                <a:cs typeface="Segoe UI Semibold"/>
              </a:rPr>
              <a:t>Cable Tray Routing &amp; Raceway Engineering · Industrial E&amp;I Design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82200" y="6369975"/>
            <a:ext cx="156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Consolas"/>
                <a:ea typeface="Consolas"/>
                <a:cs typeface="Consolas"/>
              </a:rPr>
              <a:t>17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00" y="330200"/>
            <a:ext cx="1270000" cy="245533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685800" y="533400"/>
            <a:ext cx="203200" cy="38100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409509"/>
            <a:ext cx="7150100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PULLING STRESS &amp; FITTINGS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4680"/>
            <a:ext cx="9359900" cy="5657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1B2D"/>
                </a:solidFill>
                <a:latin typeface="Segoe UI Black"/>
                <a:ea typeface="Segoe UI Black"/>
                <a:cs typeface="Segoe UI Black"/>
              </a:rPr>
              <a:t>The fitting has to be at least as generous as the cable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52809"/>
            <a:ext cx="8928100" cy="2501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Rule: R_fitting ≥ MBR_max, where MBR is the minimum bending radius of the stiffest cable in the run.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39125" y="1181735"/>
            <a:ext cx="3267075" cy="457200"/>
          </a:xfrm>
          <a:prstGeom prst="roundRect">
            <a:avLst>
              <a:gd name="adj" fmla="val 16666"/>
            </a:avLst>
          </a:prstGeom>
          <a:solidFill>
            <a:srgbClr val="EEF3FA"/>
          </a:solidFill>
          <a:ln w="10160">
            <a:solidFill>
              <a:srgbClr val="C7D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1525" y="1251880"/>
            <a:ext cx="3000375" cy="24770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R fitting ≥ MBR (max) = k × 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99095"/>
            <a:ext cx="10820400" cy="381000"/>
          </a:xfrm>
          <a:prstGeom prst="roundRect">
            <a:avLst>
              <a:gd name="adj" fmla="val 16666"/>
            </a:avLst>
          </a:prstGeom>
          <a:solidFill>
            <a:srgbClr val="0A1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1895269"/>
            <a:ext cx="2597404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C9D8EA"/>
                </a:solidFill>
                <a:latin typeface="Segoe UI"/>
                <a:ea typeface="Segoe UI"/>
                <a:cs typeface="Segoe UI"/>
              </a:rPr>
              <a:t>CABLE 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1504" y="1895269"/>
            <a:ext cx="1731772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C9D8EA"/>
                </a:solidFill>
                <a:latin typeface="Segoe UI"/>
                <a:ea typeface="Segoe UI"/>
                <a:cs typeface="Segoe UI"/>
              </a:rPr>
              <a:t>MBR FACTOR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9176" y="1895269"/>
            <a:ext cx="2597404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C9D8EA"/>
                </a:solidFill>
                <a:latin typeface="Segoe UI"/>
                <a:ea typeface="Segoe UI"/>
                <a:cs typeface="Segoe UI"/>
              </a:rPr>
              <a:t>TYPICAL FITTING RADIUS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895269"/>
            <a:ext cx="303022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C9D8EA"/>
                </a:solidFill>
                <a:latin typeface="Segoe UI"/>
                <a:ea typeface="Segoe UI"/>
                <a:cs typeface="Segoe UI"/>
              </a:rPr>
              <a:t>WHY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180095"/>
            <a:ext cx="10820400" cy="7086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85800" y="2888755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8200" y="2417818"/>
            <a:ext cx="2572004" cy="2149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Control /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1504" y="2422888"/>
            <a:ext cx="1706372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6 × 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9176" y="2422888"/>
            <a:ext cx="2572004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300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422888"/>
            <a:ext cx="3004820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Small conductors, tight but still safe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888755"/>
            <a:ext cx="10820400" cy="70866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85800" y="3597415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85800" y="2888755"/>
            <a:ext cx="38100" cy="708660"/>
          </a:xfrm>
          <a:prstGeom prst="rect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" y="3126478"/>
            <a:ext cx="2572004" cy="2149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LV power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1504" y="3131548"/>
            <a:ext cx="1706372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8–12 × 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9176" y="3131548"/>
            <a:ext cx="2572004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450 mm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131548"/>
            <a:ext cx="3004820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Armoured and unarmoured LV power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597415"/>
            <a:ext cx="10820400" cy="7086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685800" y="4306075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38200" y="3835138"/>
            <a:ext cx="2572004" cy="2149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MV / HV shielded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1504" y="3840208"/>
            <a:ext cx="1706372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12–15 × 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99176" y="3840208"/>
            <a:ext cx="2572004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600–900 mm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840208"/>
            <a:ext cx="3004820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Tape shield damage = partial discharge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306075"/>
            <a:ext cx="10820400" cy="70866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85800" y="5014735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85800" y="4306075"/>
            <a:ext cx="38100" cy="708660"/>
          </a:xfrm>
          <a:prstGeom prst="rect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200" y="4543798"/>
            <a:ext cx="2572004" cy="2149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Optical fibre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1504" y="4548868"/>
            <a:ext cx="1706372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20 × OD (pulling)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99176" y="4548868"/>
            <a:ext cx="2572004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Per cable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548868"/>
            <a:ext cx="3004820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Internal glass micro-fracture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799095"/>
            <a:ext cx="10820400" cy="3215640"/>
          </a:xfrm>
          <a:prstGeom prst="roundRect">
            <a:avLst>
              <a:gd name="adj" fmla="val 1974"/>
            </a:avLst>
          </a:prstGeom>
          <a:noFill/>
          <a:ln w="1143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85800" y="5167135"/>
            <a:ext cx="10820400" cy="461366"/>
          </a:xfrm>
          <a:prstGeom prst="roundRect">
            <a:avLst>
              <a:gd name="adj" fmla="val 16516"/>
            </a:avLst>
          </a:prstGeom>
          <a:solidFill>
            <a:srgbClr val="FDF4E5"/>
          </a:solidFill>
          <a:ln w="10160">
            <a:solidFill>
              <a:srgbClr val="EBD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85800" y="5167135"/>
            <a:ext cx="43180" cy="461366"/>
          </a:xfrm>
          <a:prstGeom prst="roundRect">
            <a:avLst>
              <a:gd name="adj" fmla="val 50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9000" y="5281211"/>
            <a:ext cx="10452100" cy="2149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6B4700"/>
                </a:solidFill>
                <a:latin typeface="Segoe UI Semibold"/>
                <a:ea typeface="Segoe UI Semibold"/>
                <a:cs typeface="Segoe UI Semibold"/>
              </a:rPr>
              <a:t>Bend radius is a cable property. If the fitting radius is not on the drawing, the installer will build what the tray catalogue offers.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745274"/>
            <a:ext cx="10858500" cy="187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93A2B4"/>
                </a:solidFill>
                <a:latin typeface="Segoe UI"/>
                <a:ea typeface="Segoe UI"/>
                <a:cs typeface="Segoe UI"/>
              </a:rPr>
              <a:t>Factors are typical values — always use the cable manufacturer’s MBR for the actual cable, and the larger value for the run.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85800" y="6324600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85800" y="6369975"/>
            <a:ext cx="664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Segoe UI Semibold"/>
                <a:ea typeface="Segoe UI Semibold"/>
                <a:cs typeface="Segoe UI Semibold"/>
              </a:rPr>
              <a:t>Cable Tray Routing &amp; Raceway Engineering · Industrial E&amp;I Design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82200" y="6369975"/>
            <a:ext cx="156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Consolas"/>
                <a:ea typeface="Consolas"/>
                <a:cs typeface="Consolas"/>
              </a:rPr>
              <a:t>18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00" y="330200"/>
            <a:ext cx="1270000" cy="245533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685800" y="533400"/>
            <a:ext cx="203200" cy="38100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409509"/>
            <a:ext cx="7150100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OUTDOOR RUNS · THERMAL MOVEMENT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4680"/>
            <a:ext cx="9359900" cy="5657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1B2D"/>
                </a:solidFill>
                <a:latin typeface="Segoe UI Black"/>
                <a:ea typeface="Segoe UI Black"/>
                <a:cs typeface="Segoe UI Black"/>
              </a:rPr>
              <a:t>Long runs move — plan where they move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52809"/>
            <a:ext cx="8928100" cy="2501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Aluminium expands about twice as much as steel. On a 100 m outdoor run the movement is real, and it has to happen somewhere.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05355"/>
            <a:ext cx="5295900" cy="1329944"/>
          </a:xfrm>
          <a:prstGeom prst="roundRect">
            <a:avLst>
              <a:gd name="adj" fmla="val 7639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205355"/>
            <a:ext cx="38100" cy="1329944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9000" y="2743327"/>
            <a:ext cx="254000" cy="254000"/>
          </a:xfrm>
          <a:prstGeom prst="ellipse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777627"/>
            <a:ext cx="292100" cy="149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857"/>
              </a:lnSpc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0000" y="2330262"/>
            <a:ext cx="4368800" cy="1542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4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0000" y="2449134"/>
            <a:ext cx="4368800" cy="27106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Expansion splice plates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0000" y="2695753"/>
            <a:ext cx="4368800" cy="5556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Provide expansion joints on long straight runs and at building transitions;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the gap is set from the installation temperature. Commonly a joint every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~30 m on aluminium — confirm with the manufacturer.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300" y="2205355"/>
            <a:ext cx="5295900" cy="1329944"/>
          </a:xfrm>
          <a:prstGeom prst="roundRect">
            <a:avLst>
              <a:gd name="adj" fmla="val 7639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0300" y="2205355"/>
            <a:ext cx="38100" cy="1329944"/>
          </a:xfrm>
          <a:prstGeom prst="roundRect">
            <a:avLst>
              <a:gd name="adj" fmla="val 50000"/>
            </a:avLst>
          </a:prstGeom>
          <a:solidFill>
            <a:srgbClr val="C0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3500" y="2743327"/>
            <a:ext cx="254000" cy="254000"/>
          </a:xfrm>
          <a:prstGeom prst="ellipse">
            <a:avLst/>
          </a:prstGeom>
          <a:solidFill>
            <a:srgbClr val="C0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3500" y="2777627"/>
            <a:ext cx="292100" cy="149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857"/>
              </a:lnSpc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4500" y="2330262"/>
            <a:ext cx="4368800" cy="1542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4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NEMA VE-2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4500" y="2449134"/>
            <a:ext cx="4368800" cy="27106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Anchor at the middle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4500" y="2695753"/>
            <a:ext cx="4368800" cy="5556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Anchor the tray between expansion plates at the support nearest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mid-length; allow movement at all other supports. Support within 600 mm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of each side of an expansion plate.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13099"/>
            <a:ext cx="5295900" cy="1329944"/>
          </a:xfrm>
          <a:prstGeom prst="roundRect">
            <a:avLst>
              <a:gd name="adj" fmla="val 7639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713099"/>
            <a:ext cx="38100" cy="1329944"/>
          </a:xfrm>
          <a:prstGeom prst="roundRect">
            <a:avLst>
              <a:gd name="adj" fmla="val 50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9000" y="4251071"/>
            <a:ext cx="254000" cy="254000"/>
          </a:xfrm>
          <a:prstGeom prst="ellipse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9000" y="4285371"/>
            <a:ext cx="292100" cy="149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857"/>
              </a:lnSpc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0000" y="3838006"/>
            <a:ext cx="4368800" cy="1542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4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NEC 250.96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0000" y="3956878"/>
            <a:ext cx="4368800" cy="27106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Bond across the joint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70000" y="4203497"/>
            <a:ext cx="4368800" cy="3905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Every expansion plate breaks the metallic path. A bonding jumper sized per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NEC 250.102 must bridge it, or continuity is lost.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0300" y="3713099"/>
            <a:ext cx="5295900" cy="1329944"/>
          </a:xfrm>
          <a:prstGeom prst="roundRect">
            <a:avLst>
              <a:gd name="adj" fmla="val 7639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0300" y="3713099"/>
            <a:ext cx="38100" cy="1329944"/>
          </a:xfrm>
          <a:prstGeom prst="roundRect">
            <a:avLst>
              <a:gd name="adj" fmla="val 50000"/>
            </a:avLst>
          </a:prstGeom>
          <a:solidFill>
            <a:srgbClr val="1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13500" y="4251071"/>
            <a:ext cx="254000" cy="254000"/>
          </a:xfrm>
          <a:prstGeom prst="ellipse">
            <a:avLst/>
          </a:prstGeom>
          <a:solidFill>
            <a:srgbClr val="1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3500" y="4285371"/>
            <a:ext cx="292100" cy="149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857"/>
              </a:lnSpc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94500" y="3838006"/>
            <a:ext cx="4368800" cy="1542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4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DETAIL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4500" y="3956878"/>
            <a:ext cx="4368800" cy="27106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Never bolt it solid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94500" y="4203497"/>
            <a:ext cx="4368800" cy="3905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A clamped expansion plate becomes a buckle point. Slotted holes and the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specified hardware, not a bolted splice.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5800" y="6324600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85800" y="6369975"/>
            <a:ext cx="664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Segoe UI Semibold"/>
                <a:ea typeface="Segoe UI Semibold"/>
                <a:cs typeface="Segoe UI Semibold"/>
              </a:rPr>
              <a:t>Cable Tray Routing &amp; Raceway Engineering · Industrial E&amp;I Design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82200" y="6369975"/>
            <a:ext cx="156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Consolas"/>
                <a:ea typeface="Consolas"/>
                <a:cs typeface="Consolas"/>
              </a:rPr>
              <a:t>19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77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55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11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89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6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44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22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00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778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55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11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89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667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44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022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378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556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33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911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89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267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445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622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800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978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156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334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11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689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867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045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223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578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756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934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112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289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467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645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823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001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178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356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712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890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067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245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23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779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956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134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312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490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845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1023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1201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1379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1557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1912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2090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0" y="177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0" y="355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0" y="533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0" y="711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0" y="889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0" y="1066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0" y="1244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0" y="1422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0" y="1600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0" y="1778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0" y="1955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0" y="2133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0" y="2311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0" y="2667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0" y="2844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0" y="3022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0" y="3200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0" y="3378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0" y="3556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0" y="3733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0" y="3911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0" y="4089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0" y="4445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0" y="4622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0" y="4800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0" y="4978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0" y="5156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0" y="5511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0" y="5689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0" y="5867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0" y="6045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0" y="6223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0" y="6578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0" y="6756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1" name="Picture 110" descr="al_watermark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0" y="3302000"/>
            <a:ext cx="3302000" cy="3302000"/>
          </a:xfrm>
          <a:prstGeom prst="rect">
            <a:avLst/>
          </a:prstGeom>
          <a:effectLst/>
        </p:spPr>
      </p:pic>
      <p:pic>
        <p:nvPicPr>
          <p:cNvPr id="112" name="Picture 111" descr="a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58800"/>
            <a:ext cx="1295400" cy="250444"/>
          </a:xfrm>
          <a:prstGeom prst="rect">
            <a:avLst/>
          </a:prstGeom>
          <a:effectLst/>
        </p:spPr>
      </p:pic>
      <p:sp>
        <p:nvSpPr>
          <p:cNvPr id="113" name="TextBox 112"/>
          <p:cNvSpPr txBox="1"/>
          <p:nvPr/>
        </p:nvSpPr>
        <p:spPr>
          <a:xfrm>
            <a:off x="685800" y="1595933"/>
            <a:ext cx="1816100" cy="14488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308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2F6EA8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36600" y="2887929"/>
            <a:ext cx="6642100" cy="692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Segoe UI Black"/>
                <a:ea typeface="Segoe UI Black"/>
                <a:cs typeface="Segoe UI Black"/>
              </a:rPr>
              <a:t>Safety, QA &amp; digital deliverable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736600" y="3581400"/>
            <a:ext cx="584200" cy="38100"/>
          </a:xfrm>
          <a:prstGeom prst="roundRect">
            <a:avLst>
              <a:gd name="adj" fmla="val 50000"/>
            </a:avLst>
          </a:prstGeom>
          <a:solidFill>
            <a:srgbClr val="C0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36600" y="3725286"/>
            <a:ext cx="5880100" cy="4648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9CADD"/>
                </a:solidFill>
                <a:latin typeface="Segoe UI"/>
                <a:ea typeface="Segoe UI"/>
                <a:cs typeface="Segoe UI"/>
              </a:rPr>
              <a:t>Earthing and bonding, BIM clash coordination, the QA gate, and the numbers to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9CADD"/>
                </a:solidFill>
                <a:latin typeface="Segoe UI"/>
                <a:ea typeface="Segoe UI"/>
                <a:cs typeface="Segoe UI"/>
              </a:rPr>
              <a:t>remember.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975600" y="2382175"/>
            <a:ext cx="3340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5E86AE"/>
                </a:solidFill>
                <a:latin typeface="Segoe UI"/>
                <a:ea typeface="Segoe UI"/>
                <a:cs typeface="Segoe UI"/>
              </a:rPr>
              <a:t>IN THIS MODULE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7975600" y="2590800"/>
            <a:ext cx="762000" cy="0"/>
          </a:xfrm>
          <a:prstGeom prst="line">
            <a:avLst/>
          </a:prstGeom>
          <a:ln w="10160">
            <a:solidFill>
              <a:srgbClr val="2F5D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Oval 118"/>
          <p:cNvSpPr/>
          <p:nvPr/>
        </p:nvSpPr>
        <p:spPr>
          <a:xfrm>
            <a:off x="7975600" y="2794000"/>
            <a:ext cx="50800" cy="50800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153400" y="2696373"/>
            <a:ext cx="3390900" cy="2273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Earthing and bonding — what the tray may and may not be.</a:t>
            </a:r>
          </a:p>
        </p:txBody>
      </p:sp>
      <p:sp>
        <p:nvSpPr>
          <p:cNvPr id="121" name="Oval 120"/>
          <p:cNvSpPr/>
          <p:nvPr/>
        </p:nvSpPr>
        <p:spPr>
          <a:xfrm>
            <a:off x="7975600" y="3114040"/>
            <a:ext cx="50800" cy="50800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153400" y="3016413"/>
            <a:ext cx="3390900" cy="2273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Clash coordination rules in the 3-D model.</a:t>
            </a:r>
          </a:p>
        </p:txBody>
      </p:sp>
      <p:sp>
        <p:nvSpPr>
          <p:cNvPr id="123" name="Oval 122"/>
          <p:cNvSpPr/>
          <p:nvPr/>
        </p:nvSpPr>
        <p:spPr>
          <a:xfrm>
            <a:off x="7975600" y="3434080"/>
            <a:ext cx="50800" cy="50800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153400" y="3336453"/>
            <a:ext cx="3390900" cy="2273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The six-gate QA checklist before IFC issue.</a:t>
            </a:r>
          </a:p>
        </p:txBody>
      </p:sp>
      <p:sp>
        <p:nvSpPr>
          <p:cNvPr id="125" name="Oval 124"/>
          <p:cNvSpPr/>
          <p:nvPr/>
        </p:nvSpPr>
        <p:spPr>
          <a:xfrm>
            <a:off x="7975600" y="3754120"/>
            <a:ext cx="50800" cy="50800"/>
          </a:xfrm>
          <a:prstGeom prst="ellipse">
            <a:avLst/>
          </a:prstGeom>
          <a:solidFill>
            <a:srgbClr val="6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153400" y="3656493"/>
            <a:ext cx="3390900" cy="2273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The numbers to carry in your pocket.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685800" y="5486400"/>
            <a:ext cx="10820400" cy="0"/>
          </a:xfrm>
          <a:prstGeom prst="line">
            <a:avLst/>
          </a:prstGeom>
          <a:ln w="10160">
            <a:solidFill>
              <a:srgbClr val="224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685800" y="5653776"/>
            <a:ext cx="368300" cy="200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3A5C7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16000" y="5637743"/>
            <a:ext cx="2235200" cy="2196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4E7096"/>
                </a:solidFill>
                <a:latin typeface="Segoe UI"/>
                <a:ea typeface="Segoe UI"/>
                <a:cs typeface="Segoe UI"/>
              </a:rPr>
              <a:t>Foundations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390900" y="5653776"/>
            <a:ext cx="368300" cy="200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3A5C7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721100" y="5637743"/>
            <a:ext cx="2235200" cy="2196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4E7096"/>
                </a:solidFill>
                <a:latin typeface="Segoe UI"/>
                <a:ea typeface="Segoe UI"/>
                <a:cs typeface="Segoe UI"/>
              </a:rPr>
              <a:t>Electrical sizing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096000" y="5653776"/>
            <a:ext cx="368300" cy="200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3A5C7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426200" y="5637743"/>
            <a:ext cx="2235200" cy="2196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4E7096"/>
                </a:solidFill>
                <a:latin typeface="Segoe UI"/>
                <a:ea typeface="Segoe UI"/>
                <a:cs typeface="Segoe UI"/>
              </a:rPr>
              <a:t>Structural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801100" y="5653776"/>
            <a:ext cx="368300" cy="2009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6FA8DC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131300" y="5637743"/>
            <a:ext cx="2235200" cy="2196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Safety &amp; QA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801100" y="5467350"/>
            <a:ext cx="2374900" cy="38100"/>
          </a:xfrm>
          <a:prstGeom prst="roundRect">
            <a:avLst>
              <a:gd name="adj" fmla="val 50000"/>
            </a:avLst>
          </a:prstGeom>
          <a:solidFill>
            <a:srgbClr val="C0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85800" y="6265875"/>
            <a:ext cx="5118100" cy="186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72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86AE"/>
                </a:solidFill>
                <a:latin typeface="Consolas"/>
                <a:ea typeface="Consolas"/>
                <a:cs typeface="Consolas"/>
              </a:rPr>
              <a:t>20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00" y="330200"/>
            <a:ext cx="1270000" cy="245533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685800" y="533400"/>
            <a:ext cx="203200" cy="38100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409509"/>
            <a:ext cx="7150100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SAFETY &amp; INTEGRITY · NEC 250.96 / 392.60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6432"/>
            <a:ext cx="9359900" cy="924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B2D"/>
                </a:solidFill>
                <a:latin typeface="Segoe UI Black"/>
                <a:ea typeface="Segoe UI Black"/>
                <a:cs typeface="Segoe UI Black"/>
              </a:rPr>
              <a:t>A metal tray is bonded metal first, and an EGC only if it is</a:t>
            </a:r>
          </a:p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B2D"/>
                </a:solidFill>
                <a:latin typeface="Segoe UI Black"/>
                <a:ea typeface="Segoe UI Black"/>
                <a:cs typeface="Segoe UI Black"/>
              </a:rPr>
              <a:t>qualified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0444"/>
            <a:ext cx="89281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Every metallic tray must be grounded regardless. Whether it can carry fault current as the EGC is a separate, conditional permission.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295900" cy="2126137"/>
          </a:xfrm>
          <a:prstGeom prst="roundRect">
            <a:avLst>
              <a:gd name="adj" fmla="val 4778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5295900" cy="304800"/>
          </a:xfrm>
          <a:prstGeom prst="roundRect">
            <a:avLst>
              <a:gd name="adj" fmla="val 33333"/>
            </a:avLst>
          </a:prstGeom>
          <a:solidFill>
            <a:srgbClr val="1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438400"/>
            <a:ext cx="5295900" cy="152400"/>
          </a:xfrm>
          <a:prstGeom prst="rect">
            <a:avLst/>
          </a:prstGeom>
          <a:solidFill>
            <a:srgbClr val="1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3600" y="2337410"/>
            <a:ext cx="4927600" cy="2103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ALWAYS</a:t>
            </a:r>
          </a:p>
        </p:txBody>
      </p:sp>
      <p:sp>
        <p:nvSpPr>
          <p:cNvPr id="11" name="Oval 10"/>
          <p:cNvSpPr/>
          <p:nvPr/>
        </p:nvSpPr>
        <p:spPr>
          <a:xfrm>
            <a:off x="897890" y="2784729"/>
            <a:ext cx="48260" cy="48260"/>
          </a:xfrm>
          <a:prstGeom prst="ellipse">
            <a:avLst/>
          </a:prstGeom>
          <a:solidFill>
            <a:srgbClr val="1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1400" y="2704043"/>
            <a:ext cx="4775200" cy="3796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Tray sections, fittings and raceways bonded per NEC 250.96 with listed connectors</a:t>
            </a:r>
          </a:p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or jumpers.</a:t>
            </a:r>
          </a:p>
        </p:txBody>
      </p:sp>
      <p:sp>
        <p:nvSpPr>
          <p:cNvPr id="13" name="Oval 12"/>
          <p:cNvSpPr/>
          <p:nvPr/>
        </p:nvSpPr>
        <p:spPr>
          <a:xfrm>
            <a:off x="897890" y="3206267"/>
            <a:ext cx="48260" cy="48260"/>
          </a:xfrm>
          <a:prstGeom prst="ellipse">
            <a:avLst/>
          </a:prstGeom>
          <a:solidFill>
            <a:srgbClr val="1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3125582"/>
            <a:ext cx="4775200" cy="3796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Bonding jumpers across expansion plates, adjustable plates and any mechanical</a:t>
            </a:r>
          </a:p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discontinuity.</a:t>
            </a:r>
          </a:p>
        </p:txBody>
      </p:sp>
      <p:sp>
        <p:nvSpPr>
          <p:cNvPr id="15" name="Oval 14"/>
          <p:cNvSpPr/>
          <p:nvPr/>
        </p:nvSpPr>
        <p:spPr>
          <a:xfrm>
            <a:off x="897890" y="3627806"/>
            <a:ext cx="48260" cy="48260"/>
          </a:xfrm>
          <a:prstGeom prst="ellipse">
            <a:avLst/>
          </a:prstGeom>
          <a:solidFill>
            <a:srgbClr val="1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1400" y="3547120"/>
            <a:ext cx="4775200" cy="3796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Remove paint, anodising or lacquer at bonding contact points before making the</a:t>
            </a:r>
          </a:p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connection.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0300" y="2286000"/>
            <a:ext cx="5295900" cy="2126137"/>
          </a:xfrm>
          <a:prstGeom prst="roundRect">
            <a:avLst>
              <a:gd name="adj" fmla="val 4778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0300" y="2286000"/>
            <a:ext cx="5295900" cy="304800"/>
          </a:xfrm>
          <a:prstGeom prst="roundRect">
            <a:avLst>
              <a:gd name="adj" fmla="val 33333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0300" y="2438400"/>
            <a:ext cx="5295900" cy="152400"/>
          </a:xfrm>
          <a:prstGeom prst="rect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8100" y="2337410"/>
            <a:ext cx="4927600" cy="2103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ONLY IF QUALIFIED</a:t>
            </a:r>
          </a:p>
        </p:txBody>
      </p:sp>
      <p:sp>
        <p:nvSpPr>
          <p:cNvPr id="21" name="Oval 20"/>
          <p:cNvSpPr/>
          <p:nvPr/>
        </p:nvSpPr>
        <p:spPr>
          <a:xfrm>
            <a:off x="6422390" y="2784729"/>
            <a:ext cx="48260" cy="48260"/>
          </a:xfrm>
          <a:prstGeom prst="ellipse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900" y="2704043"/>
            <a:ext cx="4775200" cy="53959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Tray may serve as the EGC where it is listed/identified for that purpose and meets</a:t>
            </a:r>
          </a:p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the cross-section rules of NEC Table 392.60(A) — e.g. side-rail area for a ladder</a:t>
            </a:r>
          </a:p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tray.</a:t>
            </a:r>
          </a:p>
        </p:txBody>
      </p:sp>
      <p:sp>
        <p:nvSpPr>
          <p:cNvPr id="23" name="Oval 22"/>
          <p:cNvSpPr/>
          <p:nvPr/>
        </p:nvSpPr>
        <p:spPr>
          <a:xfrm>
            <a:off x="6422390" y="3366237"/>
            <a:ext cx="48260" cy="48260"/>
          </a:xfrm>
          <a:prstGeom prst="ellipse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900" y="3285551"/>
            <a:ext cx="4775200" cy="2196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Otherwise, run a dedicated EGC in every circuit. It is the default, not the exception.</a:t>
            </a:r>
          </a:p>
        </p:txBody>
      </p:sp>
      <p:sp>
        <p:nvSpPr>
          <p:cNvPr id="25" name="Oval 24"/>
          <p:cNvSpPr/>
          <p:nvPr/>
        </p:nvSpPr>
        <p:spPr>
          <a:xfrm>
            <a:off x="6422390" y="3627806"/>
            <a:ext cx="48260" cy="48260"/>
          </a:xfrm>
          <a:prstGeom prst="ellipse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900" y="3547120"/>
            <a:ext cx="4775200" cy="3796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Jumper size per NEC 250.102 / 250.122 — sized from the overcurrent device, not a</a:t>
            </a:r>
          </a:p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fixed 70 mm².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661545"/>
            <a:ext cx="10858500" cy="168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C0172B"/>
                </a:solidFill>
                <a:latin typeface="Segoe UI"/>
                <a:ea typeface="Segoe UI"/>
                <a:cs typeface="Segoe UI"/>
              </a:rPr>
              <a:t>THREE TRAPS FROM THE ORIGINAL DRAFT — NOW FIXED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894737"/>
            <a:ext cx="3505200" cy="886460"/>
          </a:xfrm>
          <a:prstGeom prst="roundRect">
            <a:avLst>
              <a:gd name="adj" fmla="val 10028"/>
            </a:avLst>
          </a:prstGeom>
          <a:solidFill>
            <a:srgbClr val="FBEDEF"/>
          </a:solidFill>
          <a:ln w="10160">
            <a:solidFill>
              <a:srgbClr val="EBC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3600" y="5000280"/>
            <a:ext cx="3187700" cy="2108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C0172B"/>
                </a:solidFill>
                <a:latin typeface="Segoe UI"/>
                <a:ea typeface="Segoe UI"/>
                <a:cs typeface="Segoe UI"/>
              </a:rPr>
              <a:t>Bare copper in an aluminium tray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3600" y="5226218"/>
            <a:ext cx="31877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B3B42"/>
                </a:solidFill>
                <a:latin typeface="Segoe UI"/>
                <a:ea typeface="Segoe UI"/>
                <a:cs typeface="Segoe UI"/>
              </a:rPr>
              <a:t>Galvanic corrosion. Use tinned or insulated copper, or a plated</a:t>
            </a:r>
          </a:p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B3B42"/>
                </a:solidFill>
                <a:latin typeface="Segoe UI"/>
                <a:ea typeface="Segoe UI"/>
                <a:cs typeface="Segoe UI"/>
              </a:rPr>
              <a:t>barrier.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4894737"/>
            <a:ext cx="3505200" cy="886460"/>
          </a:xfrm>
          <a:prstGeom prst="roundRect">
            <a:avLst>
              <a:gd name="adj" fmla="val 10028"/>
            </a:avLst>
          </a:prstGeom>
          <a:solidFill>
            <a:srgbClr val="FBEDEF"/>
          </a:solidFill>
          <a:ln w="10160">
            <a:solidFill>
              <a:srgbClr val="EBC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1200" y="5000280"/>
            <a:ext cx="3187700" cy="2108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C0172B"/>
                </a:solidFill>
                <a:latin typeface="Segoe UI"/>
                <a:ea typeface="Segoe UI"/>
                <a:cs typeface="Segoe UI"/>
              </a:rPr>
              <a:t>“0.1 Ω” as a code limit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1200" y="5226218"/>
            <a:ext cx="31877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B3B42"/>
                </a:solidFill>
                <a:latin typeface="Segoe UI"/>
                <a:ea typeface="Segoe UI"/>
                <a:cs typeface="Segoe UI"/>
              </a:rPr>
              <a:t>That is a project acceptance criterion; IEEE 525 is an</a:t>
            </a:r>
          </a:p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B3B42"/>
                </a:solidFill>
                <a:latin typeface="Segoe UI"/>
                <a:ea typeface="Segoe UI"/>
                <a:cs typeface="Segoe UI"/>
              </a:rPr>
              <a:t>installation guide, not the source of 0.1 Ω.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4894737"/>
            <a:ext cx="3505200" cy="886460"/>
          </a:xfrm>
          <a:prstGeom prst="roundRect">
            <a:avLst>
              <a:gd name="adj" fmla="val 10028"/>
            </a:avLst>
          </a:prstGeom>
          <a:solidFill>
            <a:srgbClr val="FBEDEF"/>
          </a:solidFill>
          <a:ln w="10160">
            <a:solidFill>
              <a:srgbClr val="EBC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78800" y="5000280"/>
            <a:ext cx="3187700" cy="2108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C0172B"/>
                </a:solidFill>
                <a:latin typeface="Segoe UI"/>
                <a:ea typeface="Segoe UI"/>
                <a:cs typeface="Segoe UI"/>
              </a:rPr>
              <a:t>Tray as EGC on every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8800" y="5226218"/>
            <a:ext cx="31877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B3B42"/>
                </a:solidFill>
                <a:latin typeface="Segoe UI"/>
                <a:ea typeface="Segoe UI"/>
                <a:cs typeface="Segoe UI"/>
              </a:rPr>
              <a:t>Only where listed and qualified; the drawing must state which</a:t>
            </a:r>
          </a:p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B3B42"/>
                </a:solidFill>
                <a:latin typeface="Segoe UI"/>
                <a:ea typeface="Segoe UI"/>
                <a:cs typeface="Segoe UI"/>
              </a:rPr>
              <a:t>option is used.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5800" y="6324600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85800" y="6369975"/>
            <a:ext cx="664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Segoe UI Semibold"/>
                <a:ea typeface="Segoe UI Semibold"/>
                <a:cs typeface="Segoe UI Semibold"/>
              </a:rPr>
              <a:t>Cable Tray Routing &amp; Raceway Engineering · Industrial E&amp;I Design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82200" y="6369975"/>
            <a:ext cx="156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Consolas"/>
                <a:ea typeface="Consolas"/>
                <a:cs typeface="Consolas"/>
              </a:rPr>
              <a:t>21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00" y="330200"/>
            <a:ext cx="1270000" cy="245533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685800" y="533400"/>
            <a:ext cx="203200" cy="38100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409509"/>
            <a:ext cx="7150100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DIGITAL ENGINEERING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4680"/>
            <a:ext cx="93599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1B2D"/>
                </a:solidFill>
                <a:latin typeface="Segoe UI Black"/>
                <a:ea typeface="Segoe UI Black"/>
                <a:cs typeface="Segoe UI Black"/>
              </a:rPr>
              <a:t>Clash coordination is where the routing is actually</a:t>
            </a:r>
          </a:p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1B2D"/>
                </a:solidFill>
                <a:latin typeface="Segoe UI Black"/>
                <a:ea typeface="Segoe UI Black"/>
                <a:cs typeface="Segoe UI Black"/>
              </a:rPr>
              <a:t>decided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47144"/>
            <a:ext cx="8928100" cy="2501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The 3-D model is the only place you can check a pull envelope before steel is fabricated.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99690"/>
            <a:ext cx="5295900" cy="1145032"/>
          </a:xfrm>
          <a:prstGeom prst="roundRect">
            <a:avLst>
              <a:gd name="adj" fmla="val 8873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599690"/>
            <a:ext cx="38100" cy="1145032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9000" y="3045206"/>
            <a:ext cx="254000" cy="254000"/>
          </a:xfrm>
          <a:prstGeom prst="ellipse">
            <a:avLst/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3079506"/>
            <a:ext cx="292100" cy="149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857"/>
              </a:lnSpc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0000" y="2724597"/>
            <a:ext cx="4368800" cy="1542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4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PIPING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0000" y="2843469"/>
            <a:ext cx="4368800" cy="27106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Tray above the pipe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0000" y="3090088"/>
            <a:ext cx="4368800" cy="3905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Route trays above steam, hydrocarbon and slurry lines so a leak cannot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drip into the tray. Stay out of relief-valve discharge and pipe-break zones.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300" y="2599690"/>
            <a:ext cx="5295900" cy="1145032"/>
          </a:xfrm>
          <a:prstGeom prst="roundRect">
            <a:avLst>
              <a:gd name="adj" fmla="val 8873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0300" y="2599690"/>
            <a:ext cx="38100" cy="1145032"/>
          </a:xfrm>
          <a:prstGeom prst="roundRect">
            <a:avLst>
              <a:gd name="adj" fmla="val 50000"/>
            </a:avLst>
          </a:prstGeom>
          <a:solidFill>
            <a:srgbClr val="C0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3500" y="3045206"/>
            <a:ext cx="254000" cy="254000"/>
          </a:xfrm>
          <a:prstGeom prst="ellipse">
            <a:avLst/>
          </a:prstGeom>
          <a:solidFill>
            <a:srgbClr val="C0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3500" y="3079506"/>
            <a:ext cx="292100" cy="149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857"/>
              </a:lnSpc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4500" y="2724597"/>
            <a:ext cx="4368800" cy="1542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4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HVAC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4500" y="2843469"/>
            <a:ext cx="4368800" cy="27106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150 mm from chilled 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4500" y="3090088"/>
            <a:ext cx="4368800" cy="3905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Keep clear of chilled-air duct surfaces to avoid condensation on the tray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and on cable jackets.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922522"/>
            <a:ext cx="5295900" cy="1145032"/>
          </a:xfrm>
          <a:prstGeom prst="roundRect">
            <a:avLst>
              <a:gd name="adj" fmla="val 8873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922522"/>
            <a:ext cx="38100" cy="1145032"/>
          </a:xfrm>
          <a:prstGeom prst="roundRect">
            <a:avLst>
              <a:gd name="adj" fmla="val 50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9000" y="4368038"/>
            <a:ext cx="254000" cy="254000"/>
          </a:xfrm>
          <a:prstGeom prst="ellipse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9000" y="4402338"/>
            <a:ext cx="292100" cy="149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857"/>
              </a:lnSpc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0000" y="4047429"/>
            <a:ext cx="4368800" cy="1542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4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TOLERANCE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0000" y="4166301"/>
            <a:ext cx="4368800" cy="27106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0 mm steel, 25 mm insulated pipe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70000" y="4412920"/>
            <a:ext cx="4368800" cy="3905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Hard clash against structural steel at 0 mm; 25 mm clearance against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insulated piping (the insulation is the real envelope).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0300" y="3922522"/>
            <a:ext cx="5295900" cy="1145032"/>
          </a:xfrm>
          <a:prstGeom prst="roundRect">
            <a:avLst>
              <a:gd name="adj" fmla="val 8873"/>
            </a:avLst>
          </a:prstGeom>
          <a:solidFill>
            <a:srgbClr val="FFFFFF"/>
          </a:solidFill>
          <a:ln w="1016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0300" y="3922522"/>
            <a:ext cx="38100" cy="1145032"/>
          </a:xfrm>
          <a:prstGeom prst="roundRect">
            <a:avLst>
              <a:gd name="adj" fmla="val 50000"/>
            </a:avLst>
          </a:prstGeom>
          <a:solidFill>
            <a:srgbClr val="1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13500" y="4368038"/>
            <a:ext cx="254000" cy="254000"/>
          </a:xfrm>
          <a:prstGeom prst="ellipse">
            <a:avLst/>
          </a:prstGeom>
          <a:solidFill>
            <a:srgbClr val="1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3500" y="4402338"/>
            <a:ext cx="292100" cy="1495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857"/>
              </a:lnSpc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94500" y="4047429"/>
            <a:ext cx="4368800" cy="1542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4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93A2B4"/>
                </a:solidFill>
                <a:latin typeface="Consolas"/>
                <a:ea typeface="Consolas"/>
                <a:cs typeface="Consolas"/>
              </a:rPr>
              <a:t>ENVELOPE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4500" y="4166301"/>
            <a:ext cx="4368800" cy="27106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Model the pull, not just the cable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94500" y="4412920"/>
            <a:ext cx="4368800" cy="3905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Model cable-pull envelopes, roller access and the maintenance zone. A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route that is clash-free but unpullable is still a clash.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5800" y="6324600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85800" y="6369975"/>
            <a:ext cx="664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Segoe UI Semibold"/>
                <a:ea typeface="Segoe UI Semibold"/>
                <a:cs typeface="Segoe UI Semibold"/>
              </a:rPr>
              <a:t>Cable Tray Routing &amp; Raceway Engineering · Industrial E&amp;I Design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82200" y="6369975"/>
            <a:ext cx="156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Consolas"/>
                <a:ea typeface="Consolas"/>
                <a:cs typeface="Consolas"/>
              </a:rPr>
              <a:t>22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00" y="330200"/>
            <a:ext cx="1270000" cy="245533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685800" y="533400"/>
            <a:ext cx="203200" cy="38100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409509"/>
            <a:ext cx="7150100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4680"/>
            <a:ext cx="9359900" cy="5657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1B2D"/>
                </a:solidFill>
                <a:latin typeface="Segoe UI Black"/>
                <a:ea typeface="Segoe UI Black"/>
                <a:cs typeface="Segoe UI Black"/>
              </a:rPr>
              <a:t>Six gates before a drawing goes out as IFC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54064"/>
            <a:ext cx="8928100" cy="2470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If a gate fails, the drawing does not leave the office. Each gate maps to a number on the previous slides.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2945"/>
            <a:ext cx="5308600" cy="942442"/>
          </a:xfrm>
          <a:prstGeom prst="roundRect">
            <a:avLst>
              <a:gd name="adj" fmla="val 9432"/>
            </a:avLst>
          </a:prstGeom>
          <a:solidFill>
            <a:srgbClr val="F5F8FC"/>
          </a:solidFill>
          <a:ln w="889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3600" y="2151545"/>
            <a:ext cx="279400" cy="2794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375F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600" y="2223986"/>
            <a:ext cx="317500" cy="1635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0000" y="2004957"/>
            <a:ext cx="4584700" cy="2523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47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Fill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0000" y="2236767"/>
            <a:ext cx="4584700" cy="218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≤ 40% power, ≤ 50% control, 35% solid-bottom. Reserve margin shown.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7600" y="1922945"/>
            <a:ext cx="5308600" cy="942442"/>
          </a:xfrm>
          <a:prstGeom prst="roundRect">
            <a:avLst>
              <a:gd name="adj" fmla="val 9432"/>
            </a:avLst>
          </a:prstGeom>
          <a:solidFill>
            <a:srgbClr val="FFFFFF"/>
          </a:solidFill>
          <a:ln w="889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5400" y="2151545"/>
            <a:ext cx="279400" cy="2794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375F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5400" y="2223986"/>
            <a:ext cx="317500" cy="1635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800" y="2004957"/>
            <a:ext cx="4584700" cy="2523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47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Radius 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2236767"/>
            <a:ext cx="4584700" cy="218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Fitting radius ≥ MBR of the stiffest cable in the run.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92387"/>
            <a:ext cx="5308600" cy="942442"/>
          </a:xfrm>
          <a:prstGeom prst="roundRect">
            <a:avLst>
              <a:gd name="adj" fmla="val 9432"/>
            </a:avLst>
          </a:prstGeom>
          <a:solidFill>
            <a:srgbClr val="F5F8FC"/>
          </a:solidFill>
          <a:ln w="889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3600" y="3220987"/>
            <a:ext cx="279400" cy="2794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375F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3600" y="3293428"/>
            <a:ext cx="317500" cy="1635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0000" y="3074398"/>
            <a:ext cx="4584700" cy="2523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47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Segregation checked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0000" y="3306209"/>
            <a:ext cx="4584700" cy="218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Tier order and separations correct; barriers scheduled where tiers share steel.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7600" y="2992387"/>
            <a:ext cx="5308600" cy="942442"/>
          </a:xfrm>
          <a:prstGeom prst="roundRect">
            <a:avLst>
              <a:gd name="adj" fmla="val 9432"/>
            </a:avLst>
          </a:prstGeom>
          <a:solidFill>
            <a:srgbClr val="FFFFFF"/>
          </a:solidFill>
          <a:ln w="889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75400" y="3220987"/>
            <a:ext cx="279400" cy="2794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375F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5400" y="3293428"/>
            <a:ext cx="317500" cy="1635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1800" y="3074398"/>
            <a:ext cx="4584700" cy="2523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47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Supports calculated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1800" y="3306209"/>
            <a:ext cx="4584700" cy="3784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NEMA class and span justified; splices at quarter point; fittings supported within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600 mm.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061828"/>
            <a:ext cx="5308600" cy="942442"/>
          </a:xfrm>
          <a:prstGeom prst="roundRect">
            <a:avLst>
              <a:gd name="adj" fmla="val 9432"/>
            </a:avLst>
          </a:prstGeom>
          <a:solidFill>
            <a:srgbClr val="F5F8FC"/>
          </a:solidFill>
          <a:ln w="889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3600" y="4290428"/>
            <a:ext cx="279400" cy="2794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375F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3600" y="4362869"/>
            <a:ext cx="317500" cy="1635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0000" y="4143840"/>
            <a:ext cx="4584700" cy="2523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47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Covers &amp; trench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70000" y="4375650"/>
            <a:ext cx="4584700" cy="3784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Outdoor covers, derating applied to cable sizing, trench slope and drains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detailed.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7600" y="4061828"/>
            <a:ext cx="5308600" cy="942442"/>
          </a:xfrm>
          <a:prstGeom prst="roundRect">
            <a:avLst>
              <a:gd name="adj" fmla="val 9432"/>
            </a:avLst>
          </a:prstGeom>
          <a:solidFill>
            <a:srgbClr val="FFFFFF"/>
          </a:solidFill>
          <a:ln w="889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75400" y="4290428"/>
            <a:ext cx="279400" cy="2794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375F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5400" y="4362869"/>
            <a:ext cx="317500" cy="1635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375F9B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1800" y="4143840"/>
            <a:ext cx="4584700" cy="2523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47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F1B2D"/>
                </a:solidFill>
                <a:latin typeface="Segoe UI"/>
                <a:ea typeface="Segoe UI"/>
                <a:cs typeface="Segoe UI"/>
              </a:rPr>
              <a:t>Penetrations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1800" y="4375650"/>
            <a:ext cx="4584700" cy="218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Firestops and gas-tight transits listed on the MTO with the seal type.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232870"/>
            <a:ext cx="10820400" cy="508000"/>
          </a:xfrm>
          <a:prstGeom prst="roundRect">
            <a:avLst>
              <a:gd name="adj" fmla="val 17500"/>
            </a:avLst>
          </a:prstGeom>
          <a:solidFill>
            <a:srgbClr val="0A1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89000" y="5385270"/>
            <a:ext cx="38100" cy="203200"/>
          </a:xfrm>
          <a:prstGeom prst="roundRect">
            <a:avLst>
              <a:gd name="adj" fmla="val 50000"/>
            </a:avLst>
          </a:prstGeom>
          <a:solidFill>
            <a:srgbClr val="C0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2200" y="5357147"/>
            <a:ext cx="8953500" cy="2290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Released for construction only after the Lead Electrical Engineer signs the gate sheet.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60000" y="5394211"/>
            <a:ext cx="1181100" cy="1635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FA8DC"/>
                </a:solidFill>
                <a:latin typeface="Consolas"/>
                <a:ea typeface="Consolas"/>
                <a:cs typeface="Consolas"/>
              </a:rPr>
              <a:t>QA GATE · IFC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85800" y="6324600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85800" y="6369975"/>
            <a:ext cx="664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Segoe UI Semibold"/>
                <a:ea typeface="Segoe UI Semibold"/>
                <a:cs typeface="Segoe UI Semibold"/>
              </a:rPr>
              <a:t>Cable Tray Routing &amp; Raceway Engineering · Industrial E&amp;I Design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82200" y="6369975"/>
            <a:ext cx="156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Consolas"/>
                <a:ea typeface="Consolas"/>
                <a:cs typeface="Consolas"/>
              </a:rPr>
              <a:t>23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00" y="330200"/>
            <a:ext cx="1270000" cy="245533"/>
          </a:xfrm>
          <a:prstGeom prst="rect">
            <a:avLst/>
          </a:prstGeom>
          <a:effectLst/>
        </p:spPr>
      </p:pic>
      <p:sp>
        <p:nvSpPr>
          <p:cNvPr id="3" name="Rounded Rectangle 2"/>
          <p:cNvSpPr/>
          <p:nvPr/>
        </p:nvSpPr>
        <p:spPr>
          <a:xfrm>
            <a:off x="685800" y="533400"/>
            <a:ext cx="203200" cy="38100"/>
          </a:xfrm>
          <a:prstGeom prst="roundRect">
            <a:avLst>
              <a:gd name="adj" fmla="val 50000"/>
            </a:avLst>
          </a:prstGeom>
          <a:solidFill>
            <a:srgbClr val="375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409509"/>
            <a:ext cx="7150100" cy="1962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RECAP · THE PAGE TO PHOTOGRAPH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4680"/>
            <a:ext cx="9359900" cy="5657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F1B2D"/>
                </a:solidFill>
                <a:latin typeface="Segoe UI Black"/>
                <a:ea typeface="Segoe UI Black"/>
                <a:cs typeface="Segoe UI Black"/>
              </a:rPr>
              <a:t>Twelve numbers and ten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54064"/>
            <a:ext cx="8928100" cy="2470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If you remember nothing else from today, remember these.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15656"/>
            <a:ext cx="1708150" cy="685800"/>
          </a:xfrm>
          <a:prstGeom prst="roundRect">
            <a:avLst>
              <a:gd name="adj" fmla="val 11111"/>
            </a:avLst>
          </a:prstGeom>
          <a:solidFill>
            <a:srgbClr val="0A1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" y="1855605"/>
            <a:ext cx="1543050" cy="34584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3"/>
              </a:lnSpc>
              <a:spcBef>
                <a:spcPts val="0"/>
              </a:spcBef>
              <a:spcAft>
                <a:spcPts val="0"/>
              </a:spcAft>
            </a:pPr>
            <a:r>
              <a:rPr sz="14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153227"/>
            <a:ext cx="1543050" cy="1593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9AB2CC"/>
                </a:solidFill>
                <a:latin typeface="Segoe UI"/>
                <a:ea typeface="Segoe UI"/>
                <a:cs typeface="Segoe UI"/>
              </a:rPr>
              <a:t>power fill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8250" y="1815656"/>
            <a:ext cx="1708150" cy="685800"/>
          </a:xfrm>
          <a:prstGeom prst="roundRect">
            <a:avLst>
              <a:gd name="adj" fmla="val 11111"/>
            </a:avLst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2550" y="1855605"/>
            <a:ext cx="1543050" cy="34584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3"/>
              </a:lnSpc>
              <a:spcBef>
                <a:spcPts val="0"/>
              </a:spcBef>
              <a:spcAft>
                <a:spcPts val="0"/>
              </a:spcAft>
            </a:pPr>
            <a:r>
              <a:rPr sz="14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2550" y="2153227"/>
            <a:ext cx="1543050" cy="1593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9AB2CC"/>
                </a:solidFill>
                <a:latin typeface="Segoe UI"/>
                <a:ea typeface="Segoe UI"/>
                <a:cs typeface="Segoe UI"/>
              </a:rPr>
              <a:t>control fill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0700" y="1815656"/>
            <a:ext cx="1708150" cy="685800"/>
          </a:xfrm>
          <a:prstGeom prst="roundRect">
            <a:avLst>
              <a:gd name="adj" fmla="val 11111"/>
            </a:avLst>
          </a:prstGeom>
          <a:solidFill>
            <a:srgbClr val="0A1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5000" y="1855605"/>
            <a:ext cx="1543050" cy="34584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3"/>
              </a:lnSpc>
              <a:spcBef>
                <a:spcPts val="0"/>
              </a:spcBef>
              <a:spcAft>
                <a:spcPts val="0"/>
              </a:spcAft>
            </a:pPr>
            <a:r>
              <a:rPr sz="14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5000" y="2153227"/>
            <a:ext cx="1543050" cy="1593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9AB2CC"/>
                </a:solidFill>
                <a:latin typeface="Segoe UI"/>
                <a:ea typeface="Segoe UI"/>
                <a:cs typeface="Segoe UI"/>
              </a:rPr>
              <a:t>solid-bottom fill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3150" y="1815656"/>
            <a:ext cx="1708150" cy="685800"/>
          </a:xfrm>
          <a:prstGeom prst="roundRect">
            <a:avLst>
              <a:gd name="adj" fmla="val 11111"/>
            </a:avLst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7450" y="1855605"/>
            <a:ext cx="1543050" cy="34584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3"/>
              </a:lnSpc>
              <a:spcBef>
                <a:spcPts val="0"/>
              </a:spcBef>
              <a:spcAft>
                <a:spcPts val="0"/>
              </a:spcAft>
            </a:pPr>
            <a:r>
              <a:rPr sz="14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7450" y="2153227"/>
            <a:ext cx="1543050" cy="1593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9AB2CC"/>
                </a:solidFill>
                <a:latin typeface="Segoe UI"/>
                <a:ea typeface="Segoe UI"/>
                <a:cs typeface="Segoe UI"/>
              </a:rPr>
              <a:t>reserve (practice)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5600" y="1815656"/>
            <a:ext cx="1708150" cy="685800"/>
          </a:xfrm>
          <a:prstGeom prst="roundRect">
            <a:avLst>
              <a:gd name="adj" fmla="val 11111"/>
            </a:avLst>
          </a:prstGeom>
          <a:solidFill>
            <a:srgbClr val="0A1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89900" y="1855605"/>
            <a:ext cx="1543050" cy="34584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3"/>
              </a:lnSpc>
              <a:spcBef>
                <a:spcPts val="0"/>
              </a:spcBef>
              <a:spcAft>
                <a:spcPts val="0"/>
              </a:spcAft>
            </a:pPr>
            <a:r>
              <a:rPr sz="14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1.25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9900" y="2153227"/>
            <a:ext cx="1543050" cy="1593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9AB2CC"/>
                </a:solidFill>
                <a:latin typeface="Segoe UI"/>
                <a:ea typeface="Segoe UI"/>
                <a:cs typeface="Segoe UI"/>
              </a:rPr>
              <a:t>sizing reserve factor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98050" y="1815656"/>
            <a:ext cx="1708150" cy="685800"/>
          </a:xfrm>
          <a:prstGeom prst="roundRect">
            <a:avLst>
              <a:gd name="adj" fmla="val 11111"/>
            </a:avLst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2350" y="1855605"/>
            <a:ext cx="1543050" cy="34584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3"/>
              </a:lnSpc>
              <a:spcBef>
                <a:spcPts val="0"/>
              </a:spcBef>
              <a:spcAft>
                <a:spcPts val="0"/>
              </a:spcAft>
            </a:pPr>
            <a:r>
              <a:rPr sz="14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0.25 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12350" y="2153227"/>
            <a:ext cx="1543050" cy="1593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9AB2CC"/>
                </a:solidFill>
                <a:latin typeface="Segoe UI"/>
                <a:ea typeface="Segoe UI"/>
                <a:cs typeface="Segoe UI"/>
              </a:rPr>
              <a:t>splice location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2577656"/>
            <a:ext cx="1708150" cy="685800"/>
          </a:xfrm>
          <a:prstGeom prst="roundRect">
            <a:avLst>
              <a:gd name="adj" fmla="val 11111"/>
            </a:avLst>
          </a:prstGeom>
          <a:solidFill>
            <a:srgbClr val="0A1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" y="2617605"/>
            <a:ext cx="1543050" cy="34584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3"/>
              </a:lnSpc>
              <a:spcBef>
                <a:spcPts val="0"/>
              </a:spcBef>
              <a:spcAft>
                <a:spcPts val="0"/>
              </a:spcAft>
            </a:pPr>
            <a:r>
              <a:rPr sz="14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600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" y="2915227"/>
            <a:ext cx="1543050" cy="1593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9AB2CC"/>
                </a:solidFill>
                <a:latin typeface="Segoe UI"/>
                <a:ea typeface="Segoe UI"/>
                <a:cs typeface="Segoe UI"/>
              </a:rPr>
              <a:t>fitting support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08250" y="2577656"/>
            <a:ext cx="1708150" cy="685800"/>
          </a:xfrm>
          <a:prstGeom prst="roundRect">
            <a:avLst>
              <a:gd name="adj" fmla="val 11111"/>
            </a:avLst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22550" y="2617605"/>
            <a:ext cx="1543050" cy="34584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3"/>
              </a:lnSpc>
              <a:spcBef>
                <a:spcPts val="0"/>
              </a:spcBef>
              <a:spcAft>
                <a:spcPts val="0"/>
              </a:spcAft>
            </a:pPr>
            <a:r>
              <a:rPr sz="14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22550" y="2915227"/>
            <a:ext cx="1543050" cy="1593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9AB2CC"/>
                </a:solidFill>
                <a:latin typeface="Segoe UI"/>
                <a:ea typeface="Segoe UI"/>
                <a:cs typeface="Segoe UI"/>
              </a:rPr>
              <a:t>NEMA safety factor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30700" y="2577656"/>
            <a:ext cx="1708150" cy="685800"/>
          </a:xfrm>
          <a:prstGeom prst="roundRect">
            <a:avLst>
              <a:gd name="adj" fmla="val 11111"/>
            </a:avLst>
          </a:prstGeom>
          <a:solidFill>
            <a:srgbClr val="0A1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45000" y="2617605"/>
            <a:ext cx="1543050" cy="34584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3"/>
              </a:lnSpc>
              <a:spcBef>
                <a:spcPts val="0"/>
              </a:spcBef>
              <a:spcAft>
                <a:spcPts val="0"/>
              </a:spcAft>
            </a:pPr>
            <a:r>
              <a:rPr sz="14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300 mm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45000" y="2915227"/>
            <a:ext cx="1543050" cy="1593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9AB2CC"/>
                </a:solidFill>
                <a:latin typeface="Segoe UI"/>
                <a:ea typeface="Segoe UI"/>
                <a:cs typeface="Segoe UI"/>
              </a:rPr>
              <a:t>top headroom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53150" y="2577656"/>
            <a:ext cx="1708150" cy="685800"/>
          </a:xfrm>
          <a:prstGeom prst="roundRect">
            <a:avLst>
              <a:gd name="adj" fmla="val 11111"/>
            </a:avLst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7450" y="2617605"/>
            <a:ext cx="1543050" cy="34584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3"/>
              </a:lnSpc>
              <a:spcBef>
                <a:spcPts val="0"/>
              </a:spcBef>
              <a:spcAft>
                <a:spcPts val="0"/>
              </a:spcAft>
            </a:pPr>
            <a:r>
              <a:rPr sz="14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600 mm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7450" y="2915227"/>
            <a:ext cx="1543050" cy="1593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9AB2CC"/>
                </a:solidFill>
                <a:latin typeface="Segoe UI"/>
                <a:ea typeface="Segoe UI"/>
                <a:cs typeface="Segoe UI"/>
              </a:rPr>
              <a:t>side access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75600" y="2577656"/>
            <a:ext cx="1708150" cy="685800"/>
          </a:xfrm>
          <a:prstGeom prst="roundRect">
            <a:avLst>
              <a:gd name="adj" fmla="val 11111"/>
            </a:avLst>
          </a:prstGeom>
          <a:solidFill>
            <a:srgbClr val="0A1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89900" y="2617605"/>
            <a:ext cx="1543050" cy="34584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3"/>
              </a:lnSpc>
              <a:spcBef>
                <a:spcPts val="0"/>
              </a:spcBef>
              <a:spcAft>
                <a:spcPts val="0"/>
              </a:spcAft>
            </a:pPr>
            <a:r>
              <a:rPr sz="14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90°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89900" y="2915227"/>
            <a:ext cx="1543050" cy="1593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9AB2CC"/>
                </a:solidFill>
                <a:latin typeface="Segoe UI"/>
                <a:ea typeface="Segoe UI"/>
                <a:cs typeface="Segoe UI"/>
              </a:rPr>
              <a:t>power / signal crossing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98050" y="2577656"/>
            <a:ext cx="1708150" cy="685800"/>
          </a:xfrm>
          <a:prstGeom prst="roundRect">
            <a:avLst>
              <a:gd name="adj" fmla="val 11111"/>
            </a:avLst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12350" y="2617605"/>
            <a:ext cx="1543050" cy="34584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3"/>
              </a:lnSpc>
              <a:spcBef>
                <a:spcPts val="0"/>
              </a:spcBef>
              <a:spcAft>
                <a:spcPts val="0"/>
              </a:spcAft>
            </a:pPr>
            <a:r>
              <a:rPr sz="14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0.85–0.90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12350" y="2915227"/>
            <a:ext cx="1543050" cy="1593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9AB2CC"/>
                </a:solidFill>
                <a:latin typeface="Segoe UI"/>
                <a:ea typeface="Segoe UI"/>
                <a:cs typeface="Segoe UI"/>
              </a:rPr>
              <a:t>solid-cover derating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3538263"/>
            <a:ext cx="2578100" cy="168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93A2B4"/>
                </a:solidFill>
                <a:latin typeface="Segoe UI"/>
                <a:ea typeface="Segoe UI"/>
                <a:cs typeface="Segoe UI"/>
              </a:rPr>
              <a:t>THE TEN WORDS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3733965"/>
            <a:ext cx="977900" cy="2103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Fill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76400" y="3734798"/>
            <a:ext cx="4229100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cable area ÷ usable tray area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85800" y="4012756"/>
            <a:ext cx="5080000" cy="0"/>
          </a:xfrm>
          <a:prstGeom prst="line">
            <a:avLst/>
          </a:prstGeom>
          <a:ln w="7620">
            <a:solidFill>
              <a:srgbClr val="EEF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096000" y="3733965"/>
            <a:ext cx="977900" cy="2103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MBR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86600" y="3734798"/>
            <a:ext cx="4229100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minimum bending radius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096000" y="4012756"/>
            <a:ext cx="5080000" cy="0"/>
          </a:xfrm>
          <a:prstGeom prst="line">
            <a:avLst/>
          </a:prstGeom>
          <a:ln w="7620">
            <a:solidFill>
              <a:srgbClr val="EEF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85800" y="4038765"/>
            <a:ext cx="977900" cy="2103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EGC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76400" y="4039598"/>
            <a:ext cx="4229100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equipment grounding conductor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85800" y="4317556"/>
            <a:ext cx="5080000" cy="0"/>
          </a:xfrm>
          <a:prstGeom prst="line">
            <a:avLst/>
          </a:prstGeom>
          <a:ln w="7620">
            <a:solidFill>
              <a:srgbClr val="EEF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096000" y="4038765"/>
            <a:ext cx="977900" cy="2103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IFC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86600" y="4039598"/>
            <a:ext cx="4229100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issued for construction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096000" y="4317556"/>
            <a:ext cx="5080000" cy="0"/>
          </a:xfrm>
          <a:prstGeom prst="line">
            <a:avLst/>
          </a:prstGeom>
          <a:ln w="7620">
            <a:solidFill>
              <a:srgbClr val="EEF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85800" y="4343565"/>
            <a:ext cx="977900" cy="2103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MTO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76400" y="4344398"/>
            <a:ext cx="4229100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material take-off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85800" y="4622356"/>
            <a:ext cx="5080000" cy="0"/>
          </a:xfrm>
          <a:prstGeom prst="line">
            <a:avLst/>
          </a:prstGeom>
          <a:ln w="7620">
            <a:solidFill>
              <a:srgbClr val="EEF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096000" y="4343565"/>
            <a:ext cx="977900" cy="2103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HDG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86600" y="4344398"/>
            <a:ext cx="4229100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hot-dip galvanised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096000" y="4622356"/>
            <a:ext cx="5080000" cy="0"/>
          </a:xfrm>
          <a:prstGeom prst="line">
            <a:avLst/>
          </a:prstGeom>
          <a:ln w="7620">
            <a:solidFill>
              <a:srgbClr val="EEF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85800" y="4648365"/>
            <a:ext cx="977900" cy="2103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Trefoil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76400" y="4649198"/>
            <a:ext cx="4229100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three single cores in a triangle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85800" y="4927156"/>
            <a:ext cx="5080000" cy="0"/>
          </a:xfrm>
          <a:prstGeom prst="line">
            <a:avLst/>
          </a:prstGeom>
          <a:ln w="7620">
            <a:solidFill>
              <a:srgbClr val="EEF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096000" y="4648365"/>
            <a:ext cx="977900" cy="2103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UDL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86600" y="4649198"/>
            <a:ext cx="4229100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uniformly distributed load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096000" y="4927156"/>
            <a:ext cx="5080000" cy="0"/>
          </a:xfrm>
          <a:prstGeom prst="line">
            <a:avLst/>
          </a:prstGeom>
          <a:ln w="7620">
            <a:solidFill>
              <a:srgbClr val="EEF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85800" y="4953165"/>
            <a:ext cx="977900" cy="2103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Derating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76400" y="4953998"/>
            <a:ext cx="4229100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reducing ampacity for heat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85800" y="5231956"/>
            <a:ext cx="5080000" cy="0"/>
          </a:xfrm>
          <a:prstGeom prst="line">
            <a:avLst/>
          </a:prstGeom>
          <a:ln w="7620">
            <a:solidFill>
              <a:srgbClr val="EEF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096000" y="4953165"/>
            <a:ext cx="977900" cy="2103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5F9B"/>
                </a:solidFill>
                <a:latin typeface="Segoe UI"/>
                <a:ea typeface="Segoe UI"/>
                <a:cs typeface="Segoe UI"/>
              </a:rPr>
              <a:t>Tier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86600" y="4953998"/>
            <a:ext cx="4229100" cy="205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33465E"/>
                </a:solidFill>
                <a:latin typeface="Segoe UI"/>
                <a:ea typeface="Segoe UI"/>
                <a:cs typeface="Segoe UI"/>
              </a:rPr>
              <a:t>vertical level in a rack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096000" y="5231956"/>
            <a:ext cx="5080000" cy="0"/>
          </a:xfrm>
          <a:prstGeom prst="line">
            <a:avLst/>
          </a:prstGeom>
          <a:ln w="7620">
            <a:solidFill>
              <a:srgbClr val="EEF2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85800" y="6324600"/>
            <a:ext cx="10820400" cy="0"/>
          </a:xfrm>
          <a:prstGeom prst="line">
            <a:avLst/>
          </a:prstGeom>
          <a:ln w="889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85800" y="6369975"/>
            <a:ext cx="664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Segoe UI Semibold"/>
                <a:ea typeface="Segoe UI Semibold"/>
                <a:cs typeface="Segoe UI Semibold"/>
              </a:rPr>
              <a:t>Cable Tray Routing &amp; Raceway Engineering · Industrial E&amp;I Design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82200" y="6369975"/>
            <a:ext cx="1562100" cy="1729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C8FA8"/>
                </a:solidFill>
                <a:latin typeface="Consolas"/>
                <a:ea typeface="Consolas"/>
                <a:cs typeface="Consolas"/>
              </a:rPr>
              <a:t>24 / 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77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55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11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89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6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44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22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00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778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55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11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89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667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44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022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378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556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33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911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89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267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445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622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800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978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156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334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11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689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867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045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223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578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756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934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112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289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467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645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823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001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178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356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712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890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067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245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23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779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956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134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312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490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845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1023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1201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13792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15570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19126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2090400" y="0"/>
            <a:ext cx="0" cy="685800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0" y="177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0" y="355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0" y="533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0" y="711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0" y="889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0" y="1066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0" y="1244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0" y="1422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0" y="1600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0" y="1778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0" y="1955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0" y="2133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0" y="2311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0" y="2667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0" y="2844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0" y="3022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0" y="3200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0" y="3378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0" y="3556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0" y="3733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0" y="3911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0" y="4089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0" y="4445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0" y="4622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0" y="4800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0" y="4978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0" y="5156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0" y="5511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0" y="5689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0" y="5867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0" y="60452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0" y="62230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0" y="65786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0" y="6756400"/>
            <a:ext cx="12192000" cy="0"/>
          </a:xfrm>
          <a:prstGeom prst="line">
            <a:avLst/>
          </a:prstGeom>
          <a:ln w="6350">
            <a:solidFill>
              <a:srgbClr val="122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1" name="Picture 110" descr="al_watermark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3048000"/>
            <a:ext cx="3429000" cy="3429000"/>
          </a:xfrm>
          <a:prstGeom prst="rect">
            <a:avLst/>
          </a:prstGeom>
          <a:effectLst/>
        </p:spPr>
      </p:pic>
      <p:sp>
        <p:nvSpPr>
          <p:cNvPr id="112" name="Rounded Rectangle 111"/>
          <p:cNvSpPr/>
          <p:nvPr/>
        </p:nvSpPr>
        <p:spPr>
          <a:xfrm>
            <a:off x="7721600" y="3580892"/>
            <a:ext cx="3784600" cy="63500"/>
          </a:xfrm>
          <a:prstGeom prst="roundRect">
            <a:avLst>
              <a:gd name="adj" fmla="val 40000"/>
            </a:avLst>
          </a:prstGeom>
          <a:solidFill>
            <a:srgbClr val="0E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7708900" y="3289300"/>
            <a:ext cx="0" cy="202692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981043" y="3289300"/>
            <a:ext cx="0" cy="202692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253186" y="3289300"/>
            <a:ext cx="0" cy="202692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8525329" y="3289300"/>
            <a:ext cx="0" cy="202692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8797471" y="3289300"/>
            <a:ext cx="0" cy="202692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9069614" y="3289300"/>
            <a:ext cx="0" cy="202692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341757" y="3289300"/>
            <a:ext cx="0" cy="202692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613900" y="3289300"/>
            <a:ext cx="0" cy="202692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9886043" y="3289300"/>
            <a:ext cx="0" cy="202692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0158186" y="3289300"/>
            <a:ext cx="0" cy="202692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0430329" y="3289300"/>
            <a:ext cx="0" cy="202692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0702471" y="3289300"/>
            <a:ext cx="0" cy="202692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0974614" y="3289300"/>
            <a:ext cx="0" cy="202692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1246757" y="3289300"/>
            <a:ext cx="0" cy="202692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1518900" y="3289300"/>
            <a:ext cx="0" cy="202692"/>
          </a:xfrm>
          <a:prstGeom prst="line">
            <a:avLst/>
          </a:prstGeom>
          <a:ln w="19050">
            <a:solidFill>
              <a:srgbClr val="2F6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ounded Rectangle 127"/>
          <p:cNvSpPr/>
          <p:nvPr/>
        </p:nvSpPr>
        <p:spPr>
          <a:xfrm>
            <a:off x="7670800" y="3175000"/>
            <a:ext cx="3886200" cy="57150"/>
          </a:xfrm>
          <a:prstGeom prst="roundRect">
            <a:avLst>
              <a:gd name="adj" fmla="val 44444"/>
            </a:avLst>
          </a:prstGeom>
          <a:solidFill>
            <a:srgbClr val="2A5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7670800" y="3491992"/>
            <a:ext cx="3886200" cy="57150"/>
          </a:xfrm>
          <a:prstGeom prst="roundRect">
            <a:avLst>
              <a:gd name="adj" fmla="val 44444"/>
            </a:avLst>
          </a:prstGeom>
          <a:solidFill>
            <a:srgbClr val="2F6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7670800" y="3175000"/>
            <a:ext cx="50800" cy="374142"/>
          </a:xfrm>
          <a:prstGeom prst="roundRect">
            <a:avLst>
              <a:gd name="adj" fmla="val 25000"/>
            </a:avLst>
          </a:prstGeom>
          <a:solidFill>
            <a:srgbClr val="2A5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11506200" y="3175000"/>
            <a:ext cx="50800" cy="374142"/>
          </a:xfrm>
          <a:prstGeom prst="roundRect">
            <a:avLst>
              <a:gd name="adj" fmla="val 25000"/>
            </a:avLst>
          </a:prstGeom>
          <a:solidFill>
            <a:srgbClr val="2A5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7747000" y="3276600"/>
            <a:ext cx="3733800" cy="0"/>
          </a:xfrm>
          <a:prstGeom prst="line">
            <a:avLst/>
          </a:prstGeom>
          <a:ln w="33020">
            <a:solidFill>
              <a:srgbClr val="D01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747000" y="3331464"/>
            <a:ext cx="3733800" cy="0"/>
          </a:xfrm>
          <a:prstGeom prst="line">
            <a:avLst/>
          </a:prstGeom>
          <a:ln w="33020">
            <a:solidFill>
              <a:srgbClr val="E0A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747000" y="3386328"/>
            <a:ext cx="3733800" cy="0"/>
          </a:xfrm>
          <a:prstGeom prst="line">
            <a:avLst/>
          </a:prstGeom>
          <a:ln w="33020">
            <a:solidFill>
              <a:srgbClr val="3FA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747000" y="3441192"/>
            <a:ext cx="3733800" cy="0"/>
          </a:xfrm>
          <a:prstGeom prst="line">
            <a:avLst/>
          </a:prstGeom>
          <a:ln w="33020">
            <a:solidFill>
              <a:srgbClr val="6E97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747000" y="3542792"/>
            <a:ext cx="0" cy="508000"/>
          </a:xfrm>
          <a:prstGeom prst="line">
            <a:avLst/>
          </a:prstGeom>
          <a:ln w="27940">
            <a:solidFill>
              <a:srgbClr val="3E6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581900" y="4050792"/>
            <a:ext cx="330200" cy="0"/>
          </a:xfrm>
          <a:prstGeom prst="line">
            <a:avLst/>
          </a:prstGeom>
          <a:ln w="27940">
            <a:solidFill>
              <a:srgbClr val="3E6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658100" y="3987292"/>
            <a:ext cx="177800" cy="0"/>
          </a:xfrm>
          <a:prstGeom prst="line">
            <a:avLst/>
          </a:prstGeom>
          <a:ln w="15240">
            <a:solidFill>
              <a:srgbClr val="3E6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Oval 138"/>
          <p:cNvSpPr/>
          <p:nvPr/>
        </p:nvSpPr>
        <p:spPr>
          <a:xfrm>
            <a:off x="7722870" y="3493262"/>
            <a:ext cx="48260" cy="48260"/>
          </a:xfrm>
          <a:prstGeom prst="ellipse">
            <a:avLst/>
          </a:prstGeom>
          <a:solidFill>
            <a:srgbClr val="2F5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>
            <a:off x="9613900" y="3542792"/>
            <a:ext cx="0" cy="508000"/>
          </a:xfrm>
          <a:prstGeom prst="line">
            <a:avLst/>
          </a:prstGeom>
          <a:ln w="27940">
            <a:solidFill>
              <a:srgbClr val="3E6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9448800" y="4050792"/>
            <a:ext cx="330200" cy="0"/>
          </a:xfrm>
          <a:prstGeom prst="line">
            <a:avLst/>
          </a:prstGeom>
          <a:ln w="27940">
            <a:solidFill>
              <a:srgbClr val="3E6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9525000" y="3987292"/>
            <a:ext cx="177800" cy="0"/>
          </a:xfrm>
          <a:prstGeom prst="line">
            <a:avLst/>
          </a:prstGeom>
          <a:ln w="15240">
            <a:solidFill>
              <a:srgbClr val="3E6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Oval 142"/>
          <p:cNvSpPr/>
          <p:nvPr/>
        </p:nvSpPr>
        <p:spPr>
          <a:xfrm>
            <a:off x="9589770" y="3493262"/>
            <a:ext cx="48260" cy="48260"/>
          </a:xfrm>
          <a:prstGeom prst="ellipse">
            <a:avLst/>
          </a:prstGeom>
          <a:solidFill>
            <a:srgbClr val="2F5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144" name="Connector 143"/>
          <p:cNvCxnSpPr/>
          <p:nvPr/>
        </p:nvCxnSpPr>
        <p:spPr>
          <a:xfrm>
            <a:off x="11480800" y="3542792"/>
            <a:ext cx="0" cy="508000"/>
          </a:xfrm>
          <a:prstGeom prst="line">
            <a:avLst/>
          </a:prstGeom>
          <a:ln w="27940">
            <a:solidFill>
              <a:srgbClr val="3E6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1315700" y="4050792"/>
            <a:ext cx="330200" cy="0"/>
          </a:xfrm>
          <a:prstGeom prst="line">
            <a:avLst/>
          </a:prstGeom>
          <a:ln w="27940">
            <a:solidFill>
              <a:srgbClr val="3E6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1391900" y="3987292"/>
            <a:ext cx="177800" cy="0"/>
          </a:xfrm>
          <a:prstGeom prst="line">
            <a:avLst/>
          </a:prstGeom>
          <a:ln w="15240">
            <a:solidFill>
              <a:srgbClr val="3E6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Oval 146"/>
          <p:cNvSpPr/>
          <p:nvPr/>
        </p:nvSpPr>
        <p:spPr>
          <a:xfrm>
            <a:off x="11456670" y="3493262"/>
            <a:ext cx="48260" cy="48260"/>
          </a:xfrm>
          <a:prstGeom prst="ellipse">
            <a:avLst/>
          </a:prstGeom>
          <a:solidFill>
            <a:srgbClr val="2F5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148" name="Picture 147" descr="a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58800"/>
            <a:ext cx="1295400" cy="250444"/>
          </a:xfrm>
          <a:prstGeom prst="rect">
            <a:avLst/>
          </a:prstGeom>
          <a:effectLst/>
        </p:spPr>
      </p:pic>
      <p:sp>
        <p:nvSpPr>
          <p:cNvPr id="149" name="TextBox 148"/>
          <p:cNvSpPr txBox="1"/>
          <p:nvPr/>
        </p:nvSpPr>
        <p:spPr>
          <a:xfrm>
            <a:off x="685800" y="1769242"/>
            <a:ext cx="8928100" cy="1916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FA8DC"/>
                </a:solidFill>
                <a:latin typeface="Segoe UI"/>
                <a:ea typeface="Segoe UI"/>
                <a:cs typeface="Segoe UI"/>
              </a:rPr>
              <a:t>ENGINEERING TRAINING COMPLETE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85800" y="2024329"/>
            <a:ext cx="7150100" cy="1174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Segoe UI Black"/>
                <a:ea typeface="Segoe UI Black"/>
                <a:cs typeface="Segoe UI Black"/>
              </a:rPr>
              <a:t>Thanks — questions and site</a:t>
            </a:r>
          </a:p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Segoe UI Black"/>
                <a:ea typeface="Segoe UI Black"/>
                <a:cs typeface="Segoe UI Black"/>
              </a:rPr>
              <a:t>cases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685800" y="3200400"/>
            <a:ext cx="584200" cy="38100"/>
          </a:xfrm>
          <a:prstGeom prst="roundRect">
            <a:avLst>
              <a:gd name="adj" fmla="val 50000"/>
            </a:avLst>
          </a:prstGeom>
          <a:solidFill>
            <a:srgbClr val="C0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85800" y="3341746"/>
            <a:ext cx="6388100" cy="469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9CADD"/>
                </a:solidFill>
                <a:latin typeface="Segoe UI"/>
                <a:ea typeface="Segoe UI"/>
                <a:cs typeface="Segoe UI"/>
              </a:rPr>
              <a:t>Safe raceway design balances electrical segregation, structural loading, thermal derating and</a:t>
            </a:r>
          </a:p>
          <a:p>
            <a:pPr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9CADD"/>
                </a:solidFill>
                <a:latin typeface="Segoe UI"/>
                <a:ea typeface="Segoe UI"/>
                <a:cs typeface="Segoe UI"/>
              </a:rPr>
              <a:t>constructability in field execution.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85800" y="4079728"/>
            <a:ext cx="4102100" cy="168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5E86AE"/>
                </a:solidFill>
                <a:latin typeface="Segoe UI"/>
                <a:ea typeface="Segoe UI"/>
                <a:cs typeface="Segoe UI"/>
              </a:rPr>
              <a:t>FOUR QUESTIONS TO ASK YOUR OWN DRAWING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85800" y="4351020"/>
            <a:ext cx="139700" cy="139700"/>
          </a:xfrm>
          <a:prstGeom prst="roundRect">
            <a:avLst>
              <a:gd name="adj" fmla="val 22727"/>
            </a:avLst>
          </a:prstGeom>
          <a:noFill/>
          <a:ln w="12700">
            <a:solidFill>
              <a:srgbClr val="6FA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65200" y="4298330"/>
            <a:ext cx="6007100" cy="2243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86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Name the tray family and the reason.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85800" y="4617720"/>
            <a:ext cx="139700" cy="139700"/>
          </a:xfrm>
          <a:prstGeom prst="roundRect">
            <a:avLst>
              <a:gd name="adj" fmla="val 22727"/>
            </a:avLst>
          </a:prstGeom>
          <a:noFill/>
          <a:ln w="12700">
            <a:solidFill>
              <a:srgbClr val="6FA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965200" y="4565030"/>
            <a:ext cx="6007100" cy="2243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86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Prove the fill with a number.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85800" y="4884420"/>
            <a:ext cx="139700" cy="139700"/>
          </a:xfrm>
          <a:prstGeom prst="roundRect">
            <a:avLst>
              <a:gd name="adj" fmla="val 22727"/>
            </a:avLst>
          </a:prstGeom>
          <a:noFill/>
          <a:ln w="12700">
            <a:solidFill>
              <a:srgbClr val="6FA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65200" y="4831730"/>
            <a:ext cx="6007100" cy="2243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86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Show the support class and the splice location.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85800" y="5151120"/>
            <a:ext cx="139700" cy="139700"/>
          </a:xfrm>
          <a:prstGeom prst="roundRect">
            <a:avLst>
              <a:gd name="adj" fmla="val 22727"/>
            </a:avLst>
          </a:prstGeom>
          <a:noFill/>
          <a:ln w="12700">
            <a:solidFill>
              <a:srgbClr val="6FA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65200" y="5098430"/>
            <a:ext cx="6007100" cy="2243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86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D5E1EE"/>
                </a:solidFill>
                <a:latin typeface="Segoe UI"/>
                <a:ea typeface="Segoe UI"/>
                <a:cs typeface="Segoe UI"/>
              </a:rPr>
              <a:t>State which EGC option the drawing uses.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685800" y="5918200"/>
            <a:ext cx="10820400" cy="0"/>
          </a:xfrm>
          <a:prstGeom prst="line">
            <a:avLst/>
          </a:prstGeom>
          <a:ln w="10160">
            <a:solidFill>
              <a:srgbClr val="224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685800" y="6033110"/>
            <a:ext cx="5880100" cy="2103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6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9D8EA"/>
                </a:solidFill>
                <a:latin typeface="Segoe UI Semibold"/>
                <a:ea typeface="Segoe UI Semibold"/>
                <a:cs typeface="Segoe UI Semibold"/>
              </a:rPr>
              <a:t>Hans Raj · Industrial E&amp;I Design · Air Liquide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6243808"/>
            <a:ext cx="8928100" cy="168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6E86A6"/>
                </a:solidFill>
                <a:latin typeface="Consolas"/>
                <a:ea typeface="Consolas"/>
                <a:cs typeface="Consolas"/>
              </a:rPr>
              <a:t>REFERENCE STANDARDS · NEC Article 392 · NEMA VE 1 · NEMA VE 2 · IEEE 525 · IEC 61537 · OSHA 1910.28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Cable Tray Routing &amp; Raceway Engineering</dc:title>
  <dc:subject>Industrial E&amp;I Design — field engineering training</dc:subject>
  <dc:creator>Hans Raj · Air Liquide Industrial E&amp;I Design</dc:creator>
  <cp:keywords>cable tray, NEC 392, NEMA VE-1, NEMA VE-2, segregation, earthing</cp:keywords>
  <dc:description>Design basis NEC 392, NEMA VE-1/VE-2, IEEE 525, IEC 61537. All text is native and editable; speaker notes on every slide.</dc:description>
  <cp:lastModifiedBy>Air Liquide Industrial E&amp;I Design</cp:lastModifiedBy>
  <cp:revision>1</cp:revision>
  <dcterms:created xsi:type="dcterms:W3CDTF">2013-01-27T09:14:16Z</dcterms:created>
  <dcterms:modified xsi:type="dcterms:W3CDTF">2013-01-27T09:15:58Z</dcterms:modified>
  <cp:category>Training</cp:category>
</cp:coreProperties>
</file>